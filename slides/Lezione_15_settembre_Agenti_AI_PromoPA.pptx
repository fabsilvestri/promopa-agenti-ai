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9"/>
    <p:sldId id="257" r:id="rId8"/>
    <p:sldId id="258" r:id="rId7"/>
    <p:sldId id="259" r:id="rId6"/>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 id="317" r:id="rId75"/>
    <p:sldId id="318" r:id="rId76"/>
    <p:sldId id="319" r:id="rId77"/>
    <p:sldId id="320" r:id="rId78"/>
    <p:sldId id="321" r:id="rId79"/>
    <p:sldId id="322" r:id="rId80"/>
    <p:sldId id="323" r:id="rId81"/>
    <p:sldId id="324" r:id="rId82"/>
    <p:sldId id="325" r:id="rId83"/>
    <p:sldId id="326" r:id="rId84"/>
    <p:sldId id="327" r:id="rId85"/>
    <p:sldId id="328" r:id="rId86"/>
    <p:sldId id="329" r:id="rId87"/>
    <p:sldId id="330" r:id="rId88"/>
    <p:sldId id="331" r:id="rId89"/>
    <p:sldId id="332" r:id="rId90"/>
    <p:sldId id="333" r:id="rId91"/>
    <p:sldId id="334" r:id="rId92"/>
    <p:sldId id="335" r:id="rId93"/>
    <p:sldId id="336" r:id="rId94"/>
    <p:sldId id="337" r:id="rId95"/>
    <p:sldId id="338" r:id="rId96"/>
    <p:sldId id="339" r:id="rId97"/>
    <p:sldId id="340" r:id="rId98"/>
    <p:sldId id="341" r:id="rId99"/>
    <p:sldId id="342" r:id="rId100"/>
    <p:sldId id="343" r:id="rId101"/>
    <p:sldId id="344" r:id="rId102"/>
    <p:sldId id="345" r:id="rId103"/>
    <p:sldId id="346" r:id="rId104"/>
    <p:sldId id="347" r:id="rId105"/>
    <p:sldId id="348" r:id="rId106"/>
    <p:sldId id="349" r:id="rId107"/>
    <p:sldId id="350" r:id="rId108"/>
    <p:sldId id="351" r:id="rId109"/>
    <p:sldId id="352" r:id="rId110"/>
  </p:sldIdLst>
  <p:sldSz cy="5143500" cx="9144000"/>
  <p:notesSz cx="6858000" cy="9144000"/>
  <p:embeddedFontLst>
    <p:embeddedFont>
      <p:font typeface="Lato"/>
      <p:regular r:id="rId10"/>
      <p:bold r:id="rId11"/>
      <p:italic r:id="rId12"/>
      <p:boldItalic r:id="rId13"/>
    </p:embeddedFont>
    <p:embeddedFont>
      <p:font typeface="Nunito Medium"/>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slide" Target="slides/slide2.xml"/><Relationship Id="rId9" Type="http://schemas.openxmlformats.org/officeDocument/2006/relationships/slide" Target="slides/slide1.xml"/><Relationship Id="rId10" Type="http://schemas.openxmlformats.org/officeDocument/2006/relationships/font" Target="fonts/Lato-regular.fntdata"/><Relationship Id="rId11" Type="http://schemas.openxmlformats.org/officeDocument/2006/relationships/font" Target="fonts/Lato-bold.fntdata"/><Relationship Id="rId12" Type="http://schemas.openxmlformats.org/officeDocument/2006/relationships/font" Target="fonts/Lato-italic.fntdata"/><Relationship Id="rId13" Type="http://schemas.openxmlformats.org/officeDocument/2006/relationships/font" Target="fonts/Lato-boldItalic.fntdata"/><Relationship Id="rId14" Type="http://schemas.openxmlformats.org/officeDocument/2006/relationships/font" Target="fonts/NunitoMedium-regular.fntdata"/><Relationship Id="rId15" Type="http://schemas.openxmlformats.org/officeDocument/2006/relationships/font" Target="fonts/NunitoMedium-bold.fntdata"/><Relationship Id="rId16" Type="http://schemas.openxmlformats.org/officeDocument/2006/relationships/font" Target="fonts/NunitoMedium-italic.fntdata"/><Relationship Id="rId17" Type="http://schemas.openxmlformats.org/officeDocument/2006/relationships/font" Target="fonts/NunitoMedium-boldItalic.fntdata"/><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 fotografie di questo deck sono generate con AI: dirlo qui, in dieci secondi. Non e' un adempimento, e' buona educazione, ed e' l'esempio piu' corto che avete di cosa vuol dire dichiararlo. Seconda lezione dopo quella del 22 giugno su ChatGPT.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Chiedere: chi ha usato Progetti o GPT personalizzati da giugno? Due minuti di giro di tavolo, non di piu'.</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Richiamare che ChatGPT Business è già in uso in Fondazione: tutto ciò che vedremo si può provare lì, senza acquistare niente.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Serve a dire: non ripartiamo da zero. Queste tre cose bastano per la demo di oggi. Se qualcuno non le ha provate, si metta in coppia con chi le ha provate.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Dichiarare il patto: si può interrompere. Le slide sono tante ma molte durano dieci secondi.</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Tesi provocatoria ma vera: la maggior parte dei 'processi ripetitivi' vuole un workflow con AI dentro, non un agente autonomo. L'autonomia si compra con la prevedibilità.</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per ridere, e per fissare un concetto: quando un fornitore dice 'agente autonomo', chiedete cosa sa fare da solo davvero. Spesso la risposta è: poco, e sotto sorveglianza.</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secondo è quello che costruiremo. Vale la pena dirlo tre volte nella giornata.</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Queste tre righe tornano alla fine come 'tre errori da evitare', rovesciate.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Vocabolario minimo per parlare con fornitori e consulenti senza farsi vendere un agente quando serve una regola.</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modello è la parte più famosa e la meno importante dal punto di vista del processo: cambia ogni sei mesi. Tassonomia e strumenti restano.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punto di controllo è progettato, non aggiunto dopo. Se il fornitore non sa dirvi dove sta, la risposta è 'da nessuna parte'.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concreto: il modello non sa che 'Bilancio enti locali' è un vostro corso. Lo impara dal file della tassonomia, ogni volta, non una volta per sempre.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Domanda utile in aula: quali permessi dareste, e quali no? Di solito la risposta è: leggere sì, scrivere forse, inviare mai.</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Questo è il punto che rende il sistema vostro e non del fornitore. Chi possiede il file possiede il comportamento.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Nel nostro caso la verifica è doppia: la soglia di confidenza automatica, e l'operatore che rilegge la bozza prima di inviare.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Anticipare qui il colpo di scena del blocco 4: nella nostra esecuzione reale la soglia non è mai scattata, e sedici richieste su quaranta avevano un campo sbagliato.</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Anthropic e OpenAI usano nomi diversi per gli stessi pattern; l'idea è la stessa: dare al modello un compito piccolo e un formato di uscita rigido.</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entrare nei dettagli di orchestrazione: basta che riconoscano i nomi quando li leggono in un'offerta.</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un'offerta propone fine tuning per smistare 300 richieste al mese, è un campanello. Con quei volumi non c'è nulla da riaddestrare.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 in the loop' senza il nome del passo è una formula vuota. Fatevi indicare la schermata che la persona vede.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Sull'ultimo punto: nessuno sa stimare i token a occhio. Il costo per mille richieste è una domanda a cui un fornitore serio risponde subito.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'assegna all'amministrazione tutto ciò che è fatturazione' è una regola. 'Capisci se questa e-mail parla di fatturazione' è AI.</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tre domande che si fanno in due minuti e che separano un fornitore serio da un venditore. Suggerire di scriverle sul quaderno.</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Dati forniti dalla Fondazione l'8 settembre: circa 300 richieste al mese, 5 caselle, nessuno strumento di tracciamento. I dodici esempi reali sono arrivati con il documento anonimizzato.</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300 al mese sono 15 al giorno lavorativo. Non è volume da sistema complesso: è volume da 'una tabella e una regola di smistamento'.</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Serve a sgonfiare l'ansia: nessuno qui ha un problema di scala. Il problema è di ordine, non di volume.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Chiedere in aula: qualcuno rilegge le chat Zoom dopo il corso? Di solito la risposta è no, e questo apre il discorso sull'estrazione.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per ridere e per fissare il punto: il problema non è che le caselle siano cinque, è che nessuna sa cosa succede nelle altre quattro.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 dire con leggerezza, senza colpevolizzare nessuno: e' cosi' in quasi tutte le organizzazioni sotto una certa dimensione.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è un compito a costo zero: un foglio accanto al telefono per quattro settimane. Spesso cambia le priorità del pilota.</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L'ordine è controintuitivo: la 2 (Zoom e Moodle) è la più affascinante e la meno urgente. Senza il contenitore unico, le richieste estratte non hanno dove andare.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Menzionare strumenti a basso codice: Make, Zapier, n8n, o le automazioni di Microsoft 365 e Google Workspace che già pagate.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 la ragione per cui l'esigenza 1 viene prima della 2. Se estraete richieste dalle chat Zoom e non avete dove metterle, avete solo creato lavoro.</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è il più difficile e non costa niente in tecnologia. È lì che i progetti falliscono.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Nella pipeline che vedrete, tre passi su sette usano un modello. Gli altri quattro sono tubi.</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Righe da evidenziare a voce: 10:11, 10:48, 11:41, 12:20 sono richieste. 10:25 no: l'utente dice 'risolto'. 12:29 è un ringraziamento, non un feedback azionabile.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bullet nasce da un errore vero: alla prima esecuzione il modello metteva nell'id tutta la riga, mittente compreso, e la valutazione non trovava piu' le richieste. Ora l'orario lo estraiamo con un'espressione regolare.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file è nel repository. In demo cambieremo una voce e rifaremo la classificazione senza toccare il prompt.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R007. Il reclamo prevale sull'oggetto (attestato): regola scritta nel prompt di sistema, non dedotta dal modello.</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'altro' supera il dieci per cento, manca una categoria. Nel nostro caso reale manca una voce commerciale, e si vede.</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 anche una scelta di privacy: nel file non finiscono nomi di dipendenti.</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bozza con segnaposto è una scelta di progetto: preferiamo un buco visibile a una data inventata.</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Questa è la parte che si fa in mezza giornata con un foglio condiviso, ed è quella che dà il sollievo maggiore alla segreteria.</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Contare i passi con AI: tre su sette. Il resto è idraulica. È il messaggio centrale della lezione.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Sequenza in demo/README.md. Piano B senza rete: demo/output_esempio, che ora contiene l'esecuzione vera del 10 settembre. Tempo: 10 min GPT, 10 min codice, 10 min discussione.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Fermarsi su RE01, una richiesta vera: il partecipante ha finito il corso ma la piattaforma non gli fa scaricare l'attestato. E' un problema di attestato o di piattaforma? Il modello dice attestato, noi avevamo etichettato accesso-piattaforma. Non e' ovvio chi abbia ragione: e' esattamente il caso da portare a un umano.</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resta tempo, aprire il file e cercare insieme una riga a caso. La forza della demo è che i dati sono i loro.</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 segnaposto: la data e il contatto. Il modello non li conosce e non li inventa. L'operatore li riempie in dieci secondi.</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Aneddoto da raccontare: la risposta piu' pericolosa non e' quella sbagliata, e' quella verosimile. I segnaposto rendono l'ignoranza visibile.</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Qui si cambia registro: fino a ora i dati erano sintetici. Da qui in poi sono i loro. Vale la pena dirlo esplicitamente, cambia l'attenzione della sala.</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Questo e' il risultato piu' utile della giornata e non era previsto. La tassonomia sintetica era plausibile e sbagliata.</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Domanda per la sala: chi risponde oggi a una richiesta di sconto? Se la risposta e' 'dipende', avete trovato la prossima voce della tassonomia.</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RE12. E' l'argomento migliore a favore della voce 'altro' e della coda umana: qualcuno deve poter dire 'questa non e' una richiesta'.</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Senza giri di parole. Questa parte serve a evitare che qualcuno compri qualcosa a ottobre sull'onda dell'entusiasmo.</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 quaranta sono: 19 sintetiche, 12 reali della Fondazione, 9 estratte da chat Zoom e questionari. Poche, ma vere e verificabili.</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corso al 100 per cento e' meno bello di quel che sembra: dieci richieste su dodici erano 'nessuno', ed e' facile indovinare. L'urgenza al 72,5 e' il dato onesto.</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Questa e' la slide piu' importante della giornata. Fermarsi. La soglia di confidenza a 0,7 non e' scattata nemmeno una volta: la confidenza minima dichiarata e' stata 0,75. Il punto di controllo automatico, da solo, non ha protetto niente.</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Come si tara davvero: si prende il campione etichettato, si ordina per confidenza e si guarda dove gli errori si diradano. Se non si diradano mai, la confidenza non serve e il controllo deve essere un altro.</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L'urgenza e' il campo piu' soggettivo e il piu' sbagliato. Non e' un caso: e' quello dove anche due persone della segreteria non sarebbero d'accordo.</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RE10 dice 'avrei urgentemente bisogno': noi l'abbiamo etichettata alta, il modello media. Nessuno dei due ha torto. Manca la regola.</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 la diagnosi differenziale piu' utile che si portano a casa oggi. Scriverla alla lavagna.</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secondo punto e' quello che nessuno sfrutta: la coda umana e' una macchina che produce dati etichettati mentre lavora. Vale la pena progettarla per quello.</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e' il fallimento piu' comune e il meno raccontato: la coda da verificare che diventa il posto dove le richieste vanno a morire.</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Trenta secondi, detti guardando la sala. Serve a voi e serve a me. Da qui in avanti il registro cambia: non 'ecco cosa vale', ma 'ecco cosa chiedere a chi di dovere'. Se in aula arriva una domanda del tipo 'quindi possiamo farlo?', la risposta e' sempre la stessa: e' esattamente la domanda da mettere per iscritto a chi vi segue sul legale.</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Questa slide parla di progettazione, non di conformita'. Il terzo punto e' una scelta tecnica che avete gia' fatta bene nel documento dei dodici esempi: nomi e codici sostituiti da X. Vale la pena dirlo.</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Detto senza drammi e senza diagnosi: non sto dicendo che siete inadempienti, sto dicendo che serve un nome accanto a una decisione. Se poi quel nome debba essere un responsabile della protezione dei dati e' una domanda per un legale.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leggere numeri di articolo dalla slide. Se qualcuno li chiede, stanno in docs/domande_legali.md con i link alle fonti e la data di consultazione, e con scritto che il consolidato non e' stato letto direttamente. Il messaggio della slide e' uno solo: il perimetro esiste, non lo traccio io.</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domande, non risposte. Suggerire di mandarle via e-mail a chi le deve firmare: una domanda scritta produce una risposta scritta, e una risposta scritta protegge chi la riceve.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L'ultimo punto e' il ponte con il resto della lezione: l'invio umano non e' solo una scelta di qualita', e' anche quello che tiene corta la lista delle domande. Non dire perche', dire solo che la lista si allunga.</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mettere cifre: dipendono dal modello e cambiano ogni pochi mesi. [NEEDS SOURCE] per un costo per mille richieste da citare in aula, se lo si vuole.</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pianta secca accanto alla scrivania ordinata: e' esattamente cosa succede a una tassonomia che nessuno possiede.</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docs/pilota_4_passi.md ha le stesse informazioni con qualche dettaglio in più. Da qui in poi si parla di cose da fare lunedì.</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Una o due settimane. Il lavoro e' della segreteria, non di un consulente. Senza questi numeri, dopo non saprete dire se e' migliorato.</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 settimane. E' il passo che tutti vogliono saltare ed e' quello che decide se il resto funziona. Oggi ne abbiamo etichettate 40 e gia' si vede dove la tassonomia scricchiola.</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Due-quattro settimane. Chi lo fa: qualcuno in Fondazione che sappia gia' usare lo strumento scelto. Se non c'e', il pilota va rimandato o va comprata la competenza.</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 mese. La cosa piu' importante e' aver deciso le soglie prima, altrimenti si guarda il risultato e si decide che va bene comunque.</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la Fondazione non ha nessuno per il passo 3, e' un'informazione preziosa: si compra quel pezzo, non tutto il progetto.</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 mesi e' realistico se nessuno lavora a tempo pieno. Comprimere il passo 2 e' l'errore classico.</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nasce dall'errore visto prima: una coda che nessuno guarda non e' un controllo.</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punti di partenza, non standard: vanno fissati dalla Fondazione prima di vedere i risultati. Oggi, su 40 richieste, tipologia e operatore stanno all'85 per cento e i quattro campi insieme al 60.</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fare pubblicità a un fornitore. Il criterio: prendete lo strumento che qualcuno in Fondazione sa già usare.</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 usare per chiudere il discorso metriche: per ogni numero che decidete di misurare, dite in anticipo quale decisione cambierebbe. Se non ce n'e' una, non misuratelo.</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tre righe, non un documento. Ma senza queste tre righe il pilota dipende dalla buona volonta' di una persona, e finisce quando quella persona cambia ufficio.</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Nessun piano di tre mesi regge senza margine. Meglio dichiararlo adesso che spiegarlo a dicembre.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 dire con convinzione: dare il permesso di fermarsi e' la cosa che rende un pilota davvero un pilota.</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Gruppi da 3-4. Griglia stampata in esercitazione/griglia_scomposizione.md. Passare fra i tavoli, non restare davanti.</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Insistere: un passo per riga anche se sembra banale. La banalità è dove si nascondono le integrazioni.</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Distribuire la griglia stampata. Dare venti minuti veri e avvisare a cinque minuti dalla fine.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da usare come modello. Chiedere ai gruppi di arrivare a una tabella così, non più bella.</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Dettagli in esercitazione/processi_candidati.md. Un processo loro e' sempre meglio di uno dei tre.</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da lasciare proiettata durante l'esercitazione. Serve a togliere pressione e a segnare il tempo.</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 minuti a gruppo. Scrivere le risposte alla lavagna: di solito il passo che vale di più e quello che rischia di più sono vicini.</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Chiusura. Sono le tre righe della tesi iniziale, al contrario.</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e' il vero compito. Dieci minuti a settimana per un mese e il passo 2 e' fatto.</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ATTENZIONE: il repository non è ancora pubblicato. Sostituire &lt;da completare&gt; con l'account GitHub prima della lezione, poi rigenerare il deck. Il comando di push è in HANDOFF.md.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2"/>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
        <p:nvSpPr>
          <p:cNvPr id="15" name="Google Shape;15;p2"/>
          <p:cNvSpPr/>
          <p:nvPr/>
        </p:nvSpPr>
        <p:spPr>
          <a:xfrm>
            <a:off x="0" y="564050"/>
            <a:ext cx="9144000" cy="3066000"/>
          </a:xfrm>
          <a:prstGeom prst="rect">
            <a:avLst/>
          </a:prstGeom>
          <a:solidFill>
            <a:srgbClr val="E7EDF3"/>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6" name="Google Shape;16;p2"/>
          <p:cNvPicPr preferRelativeResize="0"/>
          <p:nvPr/>
        </p:nvPicPr>
        <p:blipFill>
          <a:blip r:embed="rId2">
            <a:alphaModFix/>
          </a:blip>
          <a:stretch>
            <a:fillRect/>
          </a:stretch>
        </p:blipFill>
        <p:spPr>
          <a:xfrm>
            <a:off x="0" y="3651475"/>
            <a:ext cx="2568950" cy="1000450"/>
          </a:xfrm>
          <a:prstGeom prst="rect">
            <a:avLst/>
          </a:prstGeom>
          <a:noFill/>
          <a:ln>
            <a:noFill/>
          </a:ln>
        </p:spPr>
      </p:pic>
      <p:cxnSp>
        <p:nvCxnSpPr>
          <p:cNvPr id="17" name="Google Shape;17;p2"/>
          <p:cNvCxnSpPr/>
          <p:nvPr/>
        </p:nvCxnSpPr>
        <p:spPr>
          <a:xfrm>
            <a:off x="0" y="155475"/>
            <a:ext cx="7218000" cy="0"/>
          </a:xfrm>
          <a:prstGeom prst="straightConnector1">
            <a:avLst/>
          </a:prstGeom>
          <a:noFill/>
          <a:ln cap="flat" cmpd="sng" w="19050">
            <a:solidFill>
              <a:srgbClr val="822433"/>
            </a:solidFill>
            <a:prstDash val="solid"/>
            <a:round/>
            <a:headEnd len="med" w="med" type="none"/>
            <a:tailEnd len="med" w="med" type="none"/>
          </a:ln>
        </p:spPr>
      </p:cxnSp>
      <p:sp>
        <p:nvSpPr>
          <p:cNvPr id="18" name="Google Shape;18;p2"/>
          <p:cNvSpPr txBox="1"/>
          <p:nvPr>
            <p:ph type="title"/>
          </p:nvPr>
        </p:nvSpPr>
        <p:spPr>
          <a:xfrm>
            <a:off x="0" y="564050"/>
            <a:ext cx="9144000" cy="1806000"/>
          </a:xfrm>
          <a:prstGeom prst="rect">
            <a:avLst/>
          </a:prstGeom>
        </p:spPr>
        <p:txBody>
          <a:bodyPr anchorCtr="0" anchor="b" bIns="180000" lIns="180000" spcFirstLastPara="1" rIns="180000" wrap="square" tIns="91425">
            <a:normAutofit/>
          </a:bodyPr>
          <a:lstStyle>
            <a:lvl1pPr indent="0" lvl="0" marL="0" marR="0" rtl="0" algn="ctr">
              <a:lnSpc>
                <a:spcPct val="100000"/>
              </a:lnSpc>
              <a:spcBef>
                <a:spcPts val="0"/>
              </a:spcBef>
              <a:spcAft>
                <a:spcPts val="0"/>
              </a:spcAft>
              <a:buNone/>
              <a:defRPr sz="4800">
                <a:solidFill>
                  <a:srgbClr val="822433"/>
                </a:solidFill>
                <a:latin typeface="Nunito Medium"/>
                <a:ea typeface="Nunito Medium"/>
                <a:cs typeface="Nunito Medium"/>
                <a:sym typeface="Nunito Medium"/>
              </a:defRPr>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9" name="Google Shape;19;p2"/>
          <p:cNvSpPr txBox="1"/>
          <p:nvPr>
            <p:ph idx="1" type="subTitle"/>
          </p:nvPr>
        </p:nvSpPr>
        <p:spPr>
          <a:xfrm>
            <a:off x="0" y="2370050"/>
            <a:ext cx="9144000" cy="1260000"/>
          </a:xfrm>
          <a:prstGeom prst="rect">
            <a:avLst/>
          </a:prstGeom>
        </p:spPr>
        <p:txBody>
          <a:bodyPr anchorCtr="0" anchor="t" bIns="180000" lIns="180000" spcFirstLastPara="1" rIns="180000" wrap="square" tIns="180000">
            <a:normAutofit/>
          </a:bodyPr>
          <a:lstStyle>
            <a:lvl1pPr indent="0" lvl="0" marL="0" marR="0" rtl="0" algn="ctr">
              <a:lnSpc>
                <a:spcPct val="150000"/>
              </a:lnSpc>
              <a:spcBef>
                <a:spcPts val="0"/>
              </a:spcBef>
              <a:spcAft>
                <a:spcPts val="0"/>
              </a:spcAft>
              <a:buNone/>
              <a:defRPr sz="3000">
                <a:solidFill>
                  <a:srgbClr val="822433"/>
                </a:solidFill>
                <a:latin typeface="Lato"/>
                <a:ea typeface="Lato"/>
                <a:cs typeface="Lato"/>
                <a:sym typeface="Lato"/>
              </a:defRPr>
            </a:lvl1pPr>
            <a:lvl2pPr lvl="1" algn="ctr">
              <a:spcBef>
                <a:spcPts val="0"/>
              </a:spcBef>
              <a:spcAft>
                <a:spcPts val="0"/>
              </a:spcAft>
              <a:buSzPts val="3000"/>
              <a:buNone/>
              <a:defRPr sz="3000"/>
            </a:lvl2pPr>
            <a:lvl3pPr lvl="2" algn="ctr">
              <a:spcBef>
                <a:spcPts val="1000"/>
              </a:spcBef>
              <a:spcAft>
                <a:spcPts val="0"/>
              </a:spcAft>
              <a:buSzPts val="3000"/>
              <a:buNone/>
              <a:defRPr sz="3000"/>
            </a:lvl3pPr>
            <a:lvl4pPr lvl="3" algn="ctr">
              <a:spcBef>
                <a:spcPts val="1000"/>
              </a:spcBef>
              <a:spcAft>
                <a:spcPts val="0"/>
              </a:spcAft>
              <a:buSzPts val="3000"/>
              <a:buNone/>
              <a:defRPr sz="3000"/>
            </a:lvl4pPr>
            <a:lvl5pPr lvl="4" algn="ctr">
              <a:spcBef>
                <a:spcPts val="1000"/>
              </a:spcBef>
              <a:spcAft>
                <a:spcPts val="0"/>
              </a:spcAft>
              <a:buSzPts val="3000"/>
              <a:buNone/>
              <a:defRPr sz="3000"/>
            </a:lvl5pPr>
            <a:lvl6pPr lvl="5" algn="ctr">
              <a:spcBef>
                <a:spcPts val="1000"/>
              </a:spcBef>
              <a:spcAft>
                <a:spcPts val="0"/>
              </a:spcAft>
              <a:buSzPts val="3000"/>
              <a:buNone/>
              <a:defRPr sz="3000"/>
            </a:lvl6pPr>
            <a:lvl7pPr lvl="6" algn="ctr">
              <a:spcBef>
                <a:spcPts val="1000"/>
              </a:spcBef>
              <a:spcAft>
                <a:spcPts val="0"/>
              </a:spcAft>
              <a:buSzPts val="3000"/>
              <a:buNone/>
              <a:defRPr sz="3000"/>
            </a:lvl7pPr>
            <a:lvl8pPr lvl="7" algn="ctr">
              <a:spcBef>
                <a:spcPts val="1000"/>
              </a:spcBef>
              <a:spcAft>
                <a:spcPts val="0"/>
              </a:spcAft>
              <a:buSzPts val="3000"/>
              <a:buNone/>
              <a:defRPr sz="3000"/>
            </a:lvl8pPr>
            <a:lvl9pPr lvl="8" algn="ctr">
              <a:spcBef>
                <a:spcPts val="1000"/>
              </a:spcBef>
              <a:spcAft>
                <a:spcPts val="1000"/>
              </a:spcAft>
              <a:buSzPts val="3000"/>
              <a:buNone/>
              <a:defRPr sz="3000"/>
            </a:lvl9pPr>
          </a:lstStyle>
          <a:p/>
        </p:txBody>
      </p:sp>
      <p:sp>
        <p:nvSpPr>
          <p:cNvPr id="20" name="Google Shape;20;p2"/>
          <p:cNvSpPr/>
          <p:nvPr>
            <p:ph idx="2" type="pic"/>
          </p:nvPr>
        </p:nvSpPr>
        <p:spPr>
          <a:xfrm>
            <a:off x="2809375" y="3888000"/>
            <a:ext cx="544800" cy="527400"/>
          </a:xfrm>
          <a:prstGeom prst="ellipse">
            <a:avLst/>
          </a:prstGeom>
          <a:noFill/>
          <a:ln>
            <a:noFill/>
          </a:ln>
        </p:spPr>
      </p:sp>
      <p:sp>
        <p:nvSpPr>
          <p:cNvPr id="21" name="Google Shape;21;p2"/>
          <p:cNvSpPr/>
          <p:nvPr>
            <p:ph idx="3" type="pic"/>
          </p:nvPr>
        </p:nvSpPr>
        <p:spPr>
          <a:xfrm>
            <a:off x="6046625" y="3888000"/>
            <a:ext cx="544800" cy="527400"/>
          </a:xfrm>
          <a:prstGeom prst="ellipse">
            <a:avLst/>
          </a:prstGeom>
          <a:noFill/>
          <a:ln>
            <a:noFill/>
          </a:ln>
        </p:spPr>
      </p:sp>
      <p:sp>
        <p:nvSpPr>
          <p:cNvPr id="22" name="Google Shape;22;p2"/>
          <p:cNvSpPr txBox="1"/>
          <p:nvPr>
            <p:ph idx="4" type="body"/>
          </p:nvPr>
        </p:nvSpPr>
        <p:spPr>
          <a:xfrm>
            <a:off x="3546550" y="3903225"/>
            <a:ext cx="2227800" cy="527400"/>
          </a:xfrm>
          <a:prstGeom prst="rect">
            <a:avLst/>
          </a:prstGeom>
        </p:spPr>
        <p:txBody>
          <a:bodyPr anchorCtr="0" anchor="t" bIns="91425" lIns="91425" spcFirstLastPara="1" rIns="91425" wrap="square" tIns="91425">
            <a:normAutofit/>
          </a:bodyPr>
          <a:lstStyle>
            <a:lvl1pPr indent="-381000" lvl="0" marL="457200">
              <a:spcBef>
                <a:spcPts val="0"/>
              </a:spcBef>
              <a:spcAft>
                <a:spcPts val="0"/>
              </a:spcAft>
              <a:buSzPts val="2400"/>
              <a:buChar char="●"/>
              <a:defRPr/>
            </a:lvl1pPr>
            <a:lvl2pPr indent="-381000" lvl="1" marL="914400">
              <a:spcBef>
                <a:spcPts val="1000"/>
              </a:spcBef>
              <a:spcAft>
                <a:spcPts val="0"/>
              </a:spcAft>
              <a:buSzPts val="2400"/>
              <a:buChar char="○"/>
              <a:defRPr/>
            </a:lvl2pPr>
            <a:lvl3pPr indent="-381000" lvl="2" marL="1371600">
              <a:spcBef>
                <a:spcPts val="1000"/>
              </a:spcBef>
              <a:spcAft>
                <a:spcPts val="0"/>
              </a:spcAft>
              <a:buSzPts val="2400"/>
              <a:buChar char="■"/>
              <a:defRPr/>
            </a:lvl3pPr>
            <a:lvl4pPr indent="-381000" lvl="3" marL="1828800">
              <a:spcBef>
                <a:spcPts val="1000"/>
              </a:spcBef>
              <a:spcAft>
                <a:spcPts val="0"/>
              </a:spcAft>
              <a:buSzPts val="2400"/>
              <a:buChar char="●"/>
              <a:defRPr/>
            </a:lvl4pPr>
            <a:lvl5pPr indent="-381000" lvl="4" marL="2286000">
              <a:spcBef>
                <a:spcPts val="1000"/>
              </a:spcBef>
              <a:spcAft>
                <a:spcPts val="0"/>
              </a:spcAft>
              <a:buSzPts val="2400"/>
              <a:buChar char="○"/>
              <a:defRPr/>
            </a:lvl5pPr>
            <a:lvl6pPr indent="-381000" lvl="5" marL="2743200">
              <a:spcBef>
                <a:spcPts val="1000"/>
              </a:spcBef>
              <a:spcAft>
                <a:spcPts val="0"/>
              </a:spcAft>
              <a:buSzPts val="2400"/>
              <a:buChar char="■"/>
              <a:defRPr/>
            </a:lvl6pPr>
            <a:lvl7pPr indent="-381000" lvl="6" marL="3200400">
              <a:spcBef>
                <a:spcPts val="1000"/>
              </a:spcBef>
              <a:spcAft>
                <a:spcPts val="0"/>
              </a:spcAft>
              <a:buSzPts val="2400"/>
              <a:buChar char="●"/>
              <a:defRPr/>
            </a:lvl7pPr>
            <a:lvl8pPr indent="-381000" lvl="7" marL="3657600">
              <a:spcBef>
                <a:spcPts val="1000"/>
              </a:spcBef>
              <a:spcAft>
                <a:spcPts val="0"/>
              </a:spcAft>
              <a:buSzPts val="2400"/>
              <a:buChar char="○"/>
              <a:defRPr/>
            </a:lvl8pPr>
            <a:lvl9pPr indent="-381000" lvl="8" marL="4114800">
              <a:spcBef>
                <a:spcPts val="1000"/>
              </a:spcBef>
              <a:spcAft>
                <a:spcPts val="1000"/>
              </a:spcAft>
              <a:buSzPts val="2400"/>
              <a:buChar char="■"/>
              <a:defRPr/>
            </a:lvl9pPr>
          </a:lstStyle>
          <a:p/>
        </p:txBody>
      </p:sp>
      <p:sp>
        <p:nvSpPr>
          <p:cNvPr id="23" name="Google Shape;23;p2"/>
          <p:cNvSpPr txBox="1"/>
          <p:nvPr>
            <p:ph idx="5" type="body"/>
          </p:nvPr>
        </p:nvSpPr>
        <p:spPr>
          <a:xfrm>
            <a:off x="6591425" y="3891325"/>
            <a:ext cx="2227800" cy="527400"/>
          </a:xfrm>
          <a:prstGeom prst="rect">
            <a:avLst/>
          </a:prstGeom>
        </p:spPr>
        <p:txBody>
          <a:bodyPr anchorCtr="0" anchor="t" bIns="91425" lIns="91425" spcFirstLastPara="1" rIns="91425" wrap="square" tIns="91425">
            <a:normAutofit/>
          </a:bodyPr>
          <a:lstStyle>
            <a:lvl1pPr indent="-381000" lvl="0" marL="457200">
              <a:spcBef>
                <a:spcPts val="0"/>
              </a:spcBef>
              <a:spcAft>
                <a:spcPts val="0"/>
              </a:spcAft>
              <a:buSzPts val="2400"/>
              <a:buChar char="●"/>
              <a:defRPr/>
            </a:lvl1pPr>
            <a:lvl2pPr indent="-381000" lvl="1" marL="914400">
              <a:spcBef>
                <a:spcPts val="1000"/>
              </a:spcBef>
              <a:spcAft>
                <a:spcPts val="0"/>
              </a:spcAft>
              <a:buSzPts val="2400"/>
              <a:buChar char="○"/>
              <a:defRPr/>
            </a:lvl2pPr>
            <a:lvl3pPr indent="-381000" lvl="2" marL="1371600">
              <a:spcBef>
                <a:spcPts val="1000"/>
              </a:spcBef>
              <a:spcAft>
                <a:spcPts val="0"/>
              </a:spcAft>
              <a:buSzPts val="2400"/>
              <a:buChar char="■"/>
              <a:defRPr/>
            </a:lvl3pPr>
            <a:lvl4pPr indent="-381000" lvl="3" marL="1828800">
              <a:spcBef>
                <a:spcPts val="1000"/>
              </a:spcBef>
              <a:spcAft>
                <a:spcPts val="0"/>
              </a:spcAft>
              <a:buSzPts val="2400"/>
              <a:buChar char="●"/>
              <a:defRPr/>
            </a:lvl4pPr>
            <a:lvl5pPr indent="-381000" lvl="4" marL="2286000">
              <a:spcBef>
                <a:spcPts val="1000"/>
              </a:spcBef>
              <a:spcAft>
                <a:spcPts val="0"/>
              </a:spcAft>
              <a:buSzPts val="2400"/>
              <a:buChar char="○"/>
              <a:defRPr/>
            </a:lvl5pPr>
            <a:lvl6pPr indent="-381000" lvl="5" marL="2743200">
              <a:spcBef>
                <a:spcPts val="1000"/>
              </a:spcBef>
              <a:spcAft>
                <a:spcPts val="0"/>
              </a:spcAft>
              <a:buSzPts val="2400"/>
              <a:buChar char="■"/>
              <a:defRPr/>
            </a:lvl6pPr>
            <a:lvl7pPr indent="-381000" lvl="6" marL="3200400">
              <a:spcBef>
                <a:spcPts val="1000"/>
              </a:spcBef>
              <a:spcAft>
                <a:spcPts val="0"/>
              </a:spcAft>
              <a:buSzPts val="2400"/>
              <a:buChar char="●"/>
              <a:defRPr/>
            </a:lvl7pPr>
            <a:lvl8pPr indent="-381000" lvl="7" marL="3657600">
              <a:spcBef>
                <a:spcPts val="1000"/>
              </a:spcBef>
              <a:spcAft>
                <a:spcPts val="0"/>
              </a:spcAft>
              <a:buSzPts val="2400"/>
              <a:buChar char="○"/>
              <a:defRPr/>
            </a:lvl8pPr>
            <a:lvl9pPr indent="-381000" lvl="8" marL="4114800">
              <a:spcBef>
                <a:spcPts val="1000"/>
              </a:spcBef>
              <a:spcAft>
                <a:spcPts val="1000"/>
              </a:spcAft>
              <a:buSzPts val="24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4" name="Shape 24"/>
        <p:cNvGrpSpPr/>
        <p:nvPr/>
      </p:nvGrpSpPr>
      <p:grpSpPr>
        <a:xfrm>
          <a:off x="0" y="0"/>
          <a:ext cx="0" cy="0"/>
          <a:chOff x="0" y="0"/>
          <a:chExt cx="0" cy="0"/>
        </a:xfrm>
      </p:grpSpPr>
      <p:sp>
        <p:nvSpPr>
          <p:cNvPr id="25" name="Google Shape;25;p3"/>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
        <p:nvSpPr>
          <p:cNvPr id="26" name="Google Shape;26;p3"/>
          <p:cNvSpPr/>
          <p:nvPr/>
        </p:nvSpPr>
        <p:spPr>
          <a:xfrm>
            <a:off x="0" y="698075"/>
            <a:ext cx="9144000" cy="1759200"/>
          </a:xfrm>
          <a:prstGeom prst="rect">
            <a:avLst/>
          </a:prstGeom>
          <a:solidFill>
            <a:srgbClr val="E7EDF3">
              <a:alpha val="79870"/>
            </a:srgbClr>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 name="Google Shape;27;p3"/>
          <p:cNvSpPr txBox="1"/>
          <p:nvPr>
            <p:ph idx="1" type="body"/>
          </p:nvPr>
        </p:nvSpPr>
        <p:spPr>
          <a:xfrm>
            <a:off x="0" y="2469775"/>
            <a:ext cx="9144000" cy="2210100"/>
          </a:xfrm>
          <a:prstGeom prst="rect">
            <a:avLst/>
          </a:prstGeom>
        </p:spPr>
        <p:txBody>
          <a:bodyPr anchorCtr="0" anchor="t" bIns="90000" lIns="180000" spcFirstLastPara="1" rIns="180000" wrap="square" tIns="180000">
            <a:normAutofit/>
          </a:bodyPr>
          <a:lstStyle>
            <a:lvl1pPr indent="-381000" lvl="0" marL="457200">
              <a:spcBef>
                <a:spcPts val="0"/>
              </a:spcBef>
              <a:spcAft>
                <a:spcPts val="0"/>
              </a:spcAft>
              <a:buSzPts val="2400"/>
              <a:buChar char="●"/>
              <a:defRPr/>
            </a:lvl1pPr>
            <a:lvl2pPr indent="-381000" lvl="1" marL="914400">
              <a:spcBef>
                <a:spcPts val="1000"/>
              </a:spcBef>
              <a:spcAft>
                <a:spcPts val="0"/>
              </a:spcAft>
              <a:buSzPts val="2400"/>
              <a:buChar char="○"/>
              <a:defRPr/>
            </a:lvl2pPr>
            <a:lvl3pPr indent="-381000" lvl="2" marL="1371600">
              <a:spcBef>
                <a:spcPts val="1000"/>
              </a:spcBef>
              <a:spcAft>
                <a:spcPts val="0"/>
              </a:spcAft>
              <a:buSzPts val="2400"/>
              <a:buChar char="■"/>
              <a:defRPr/>
            </a:lvl3pPr>
            <a:lvl4pPr indent="-381000" lvl="3" marL="1828800">
              <a:spcBef>
                <a:spcPts val="1000"/>
              </a:spcBef>
              <a:spcAft>
                <a:spcPts val="0"/>
              </a:spcAft>
              <a:buSzPts val="2400"/>
              <a:buChar char="●"/>
              <a:defRPr/>
            </a:lvl4pPr>
            <a:lvl5pPr indent="-381000" lvl="4" marL="2286000">
              <a:spcBef>
                <a:spcPts val="1000"/>
              </a:spcBef>
              <a:spcAft>
                <a:spcPts val="0"/>
              </a:spcAft>
              <a:buSzPts val="2400"/>
              <a:buChar char="○"/>
              <a:defRPr/>
            </a:lvl5pPr>
            <a:lvl6pPr indent="-381000" lvl="5" marL="2743200">
              <a:spcBef>
                <a:spcPts val="1000"/>
              </a:spcBef>
              <a:spcAft>
                <a:spcPts val="0"/>
              </a:spcAft>
              <a:buSzPts val="2400"/>
              <a:buChar char="■"/>
              <a:defRPr/>
            </a:lvl6pPr>
            <a:lvl7pPr indent="-381000" lvl="6" marL="3200400">
              <a:spcBef>
                <a:spcPts val="1000"/>
              </a:spcBef>
              <a:spcAft>
                <a:spcPts val="0"/>
              </a:spcAft>
              <a:buSzPts val="2400"/>
              <a:buChar char="●"/>
              <a:defRPr/>
            </a:lvl7pPr>
            <a:lvl8pPr indent="-381000" lvl="7" marL="3657600">
              <a:spcBef>
                <a:spcPts val="1000"/>
              </a:spcBef>
              <a:spcAft>
                <a:spcPts val="0"/>
              </a:spcAft>
              <a:buSzPts val="2400"/>
              <a:buChar char="○"/>
              <a:defRPr/>
            </a:lvl8pPr>
            <a:lvl9pPr indent="-381000" lvl="8" marL="4114800">
              <a:spcBef>
                <a:spcPts val="1000"/>
              </a:spcBef>
              <a:spcAft>
                <a:spcPts val="1000"/>
              </a:spcAft>
              <a:buSzPts val="2400"/>
              <a:buChar char="■"/>
              <a:defRPr/>
            </a:lvl9pPr>
          </a:lstStyle>
          <a:p/>
        </p:txBody>
      </p:sp>
      <p:sp>
        <p:nvSpPr>
          <p:cNvPr id="28" name="Google Shape;28;p3"/>
          <p:cNvSpPr txBox="1"/>
          <p:nvPr>
            <p:ph type="title"/>
          </p:nvPr>
        </p:nvSpPr>
        <p:spPr>
          <a:xfrm>
            <a:off x="0" y="698075"/>
            <a:ext cx="9144000" cy="1759200"/>
          </a:xfrm>
          <a:prstGeom prst="rect">
            <a:avLst/>
          </a:prstGeom>
        </p:spPr>
        <p:txBody>
          <a:bodyPr anchorCtr="0" anchor="ctr" bIns="180000" lIns="180000" spcFirstLastPara="1" rIns="180000" wrap="square" tIns="91425">
            <a:normAutofit/>
          </a:bodyPr>
          <a:lstStyle>
            <a:lvl1pPr indent="0" lvl="0" marL="0" marR="0" algn="ctr">
              <a:lnSpc>
                <a:spcPct val="100000"/>
              </a:lnSpc>
              <a:spcBef>
                <a:spcPts val="0"/>
              </a:spcBef>
              <a:spcAft>
                <a:spcPts val="0"/>
              </a:spcAft>
              <a:buNone/>
              <a:defRPr sz="4800">
                <a:solidFill>
                  <a:srgbClr val="822433"/>
                </a:solidFill>
                <a:latin typeface="Nunito Medium"/>
                <a:ea typeface="Nunito Medium"/>
                <a:cs typeface="Nunito Medium"/>
                <a:sym typeface="Nunito Medium"/>
              </a:defRPr>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9" name="Shape 29"/>
        <p:cNvGrpSpPr/>
        <p:nvPr/>
      </p:nvGrpSpPr>
      <p:grpSpPr>
        <a:xfrm>
          <a:off x="0" y="0"/>
          <a:ext cx="0" cy="0"/>
          <a:chOff x="0" y="0"/>
          <a:chExt cx="0" cy="0"/>
        </a:xfrm>
      </p:grpSpPr>
      <p:sp>
        <p:nvSpPr>
          <p:cNvPr id="30" name="Google Shape;30;p4"/>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cxnSp>
        <p:nvCxnSpPr>
          <p:cNvPr id="31" name="Google Shape;31;p4"/>
          <p:cNvCxnSpPr/>
          <p:nvPr/>
        </p:nvCxnSpPr>
        <p:spPr>
          <a:xfrm flipH="1" rot="10800000">
            <a:off x="180000" y="234300"/>
            <a:ext cx="1800000" cy="720000"/>
          </a:xfrm>
          <a:prstGeom prst="bentConnector3">
            <a:avLst>
              <a:gd fmla="val 0" name="adj1"/>
            </a:avLst>
          </a:prstGeom>
          <a:noFill/>
          <a:ln cap="flat" cmpd="sng" w="38100">
            <a:solidFill>
              <a:srgbClr val="E9F1F8"/>
            </a:solidFill>
            <a:prstDash val="solid"/>
            <a:round/>
            <a:headEnd len="med" w="med" type="none"/>
            <a:tailEnd len="med" w="med" type="none"/>
          </a:ln>
        </p:spPr>
      </p:cxnSp>
      <p:cxnSp>
        <p:nvCxnSpPr>
          <p:cNvPr id="32" name="Google Shape;32;p4"/>
          <p:cNvCxnSpPr/>
          <p:nvPr/>
        </p:nvCxnSpPr>
        <p:spPr>
          <a:xfrm flipH="1" rot="10800000">
            <a:off x="7164000" y="414300"/>
            <a:ext cx="1800000" cy="720000"/>
          </a:xfrm>
          <a:prstGeom prst="bentConnector3">
            <a:avLst>
              <a:gd fmla="val 99897" name="adj1"/>
            </a:avLst>
          </a:prstGeom>
          <a:noFill/>
          <a:ln cap="flat" cmpd="sng" w="38100">
            <a:solidFill>
              <a:srgbClr val="E9F1F8"/>
            </a:solidFill>
            <a:prstDash val="solid"/>
            <a:round/>
            <a:headEnd len="med" w="med" type="none"/>
            <a:tailEnd len="med" w="med" type="none"/>
          </a:ln>
        </p:spPr>
      </p:cxnSp>
      <p:sp>
        <p:nvSpPr>
          <p:cNvPr id="33" name="Google Shape;33;p4"/>
          <p:cNvSpPr txBox="1"/>
          <p:nvPr>
            <p:ph idx="1" type="body"/>
          </p:nvPr>
        </p:nvSpPr>
        <p:spPr>
          <a:xfrm>
            <a:off x="180000" y="1134300"/>
            <a:ext cx="8784000" cy="3545700"/>
          </a:xfrm>
          <a:prstGeom prst="rect">
            <a:avLst/>
          </a:prstGeom>
        </p:spPr>
        <p:txBody>
          <a:bodyPr anchorCtr="0" anchor="ctr" bIns="180000" lIns="91425" spcFirstLastPara="1" rIns="91425" wrap="square" tIns="180000">
            <a:noAutofit/>
          </a:bodyPr>
          <a:lstStyle>
            <a:lvl1pPr indent="-342900" lvl="0" marL="457200">
              <a:spcBef>
                <a:spcPts val="0"/>
              </a:spcBef>
              <a:spcAft>
                <a:spcPts val="0"/>
              </a:spcAft>
              <a:buSzPts val="1800"/>
              <a:buChar char="●"/>
              <a:defRPr sz="1800"/>
            </a:lvl1pPr>
            <a:lvl2pPr indent="-342900" lvl="1" marL="914400">
              <a:spcBef>
                <a:spcPts val="1000"/>
              </a:spcBef>
              <a:spcAft>
                <a:spcPts val="0"/>
              </a:spcAft>
              <a:buSzPts val="1800"/>
              <a:buChar char="○"/>
              <a:defRPr sz="1800"/>
            </a:lvl2pPr>
            <a:lvl3pPr indent="-342900" lvl="2" marL="1371600">
              <a:spcBef>
                <a:spcPts val="1000"/>
              </a:spcBef>
              <a:spcAft>
                <a:spcPts val="0"/>
              </a:spcAft>
              <a:buSzPts val="1800"/>
              <a:buChar char="■"/>
              <a:defRPr sz="1800"/>
            </a:lvl3pPr>
            <a:lvl4pPr indent="-342900" lvl="3" marL="1828800">
              <a:spcBef>
                <a:spcPts val="1000"/>
              </a:spcBef>
              <a:spcAft>
                <a:spcPts val="0"/>
              </a:spcAft>
              <a:buSzPts val="1800"/>
              <a:buChar char="●"/>
              <a:defRPr sz="1800"/>
            </a:lvl4pPr>
            <a:lvl5pPr indent="-342900" lvl="4" marL="2286000">
              <a:spcBef>
                <a:spcPts val="1000"/>
              </a:spcBef>
              <a:spcAft>
                <a:spcPts val="0"/>
              </a:spcAft>
              <a:buSzPts val="1800"/>
              <a:buChar char="○"/>
              <a:defRPr sz="1800"/>
            </a:lvl5pPr>
            <a:lvl6pPr indent="-342900" lvl="5" marL="2743200">
              <a:spcBef>
                <a:spcPts val="1000"/>
              </a:spcBef>
              <a:spcAft>
                <a:spcPts val="0"/>
              </a:spcAft>
              <a:buSzPts val="1800"/>
              <a:buChar char="■"/>
              <a:defRPr sz="1800"/>
            </a:lvl6pPr>
            <a:lvl7pPr indent="-342900" lvl="6" marL="3200400">
              <a:spcBef>
                <a:spcPts val="1000"/>
              </a:spcBef>
              <a:spcAft>
                <a:spcPts val="0"/>
              </a:spcAft>
              <a:buSzPts val="1800"/>
              <a:buChar char="●"/>
              <a:defRPr sz="1800"/>
            </a:lvl7pPr>
            <a:lvl8pPr indent="-342900" lvl="7" marL="3657600">
              <a:spcBef>
                <a:spcPts val="1000"/>
              </a:spcBef>
              <a:spcAft>
                <a:spcPts val="0"/>
              </a:spcAft>
              <a:buSzPts val="1800"/>
              <a:buChar char="○"/>
              <a:defRPr sz="1800"/>
            </a:lvl8pPr>
            <a:lvl9pPr indent="-342900" lvl="8" marL="4114800">
              <a:spcBef>
                <a:spcPts val="1000"/>
              </a:spcBef>
              <a:spcAft>
                <a:spcPts val="1000"/>
              </a:spcAft>
              <a:buSzPts val="1800"/>
              <a:buChar char="■"/>
              <a:defRPr sz="1800"/>
            </a:lvl9pPr>
          </a:lstStyle>
          <a:p/>
        </p:txBody>
      </p:sp>
      <p:sp>
        <p:nvSpPr>
          <p:cNvPr id="34" name="Google Shape;34;p4"/>
          <p:cNvSpPr txBox="1"/>
          <p:nvPr>
            <p:ph type="title"/>
          </p:nvPr>
        </p:nvSpPr>
        <p:spPr>
          <a:xfrm>
            <a:off x="180000" y="234300"/>
            <a:ext cx="8784000" cy="900000"/>
          </a:xfrm>
          <a:prstGeom prst="rect">
            <a:avLst/>
          </a:prstGeom>
        </p:spPr>
        <p:txBody>
          <a:bodyPr anchorCtr="0" anchor="ctr" bIns="91425" lIns="91425" spcFirstLastPara="1" rIns="91425" wrap="square" tIns="91425">
            <a:normAutofit/>
          </a:bodyPr>
          <a:lstStyle>
            <a:lvl1pPr indent="0" lvl="0" marL="0" marR="0" algn="l">
              <a:lnSpc>
                <a:spcPct val="100000"/>
              </a:lnSpc>
              <a:spcBef>
                <a:spcPts val="0"/>
              </a:spcBef>
              <a:spcAft>
                <a:spcPts val="0"/>
              </a:spcAft>
              <a:buNone/>
              <a:defRPr sz="4000">
                <a:solidFill>
                  <a:srgbClr val="822433"/>
                </a:solidFill>
                <a:latin typeface="Nunito Medium"/>
                <a:ea typeface="Nunito Medium"/>
                <a:cs typeface="Nunito Medium"/>
                <a:sym typeface="Nunito Medium"/>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due colonne">
  <p:cSld name="TITLE_AND_BODY_1">
    <p:spTree>
      <p:nvGrpSpPr>
        <p:cNvPr id="35" name="Shape 35"/>
        <p:cNvGrpSpPr/>
        <p:nvPr/>
      </p:nvGrpSpPr>
      <p:grpSpPr>
        <a:xfrm>
          <a:off x="0" y="0"/>
          <a:ext cx="0" cy="0"/>
          <a:chOff x="0" y="0"/>
          <a:chExt cx="0" cy="0"/>
        </a:xfrm>
      </p:grpSpPr>
      <p:sp>
        <p:nvSpPr>
          <p:cNvPr id="36" name="Google Shape;36;p5"/>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cxnSp>
        <p:nvCxnSpPr>
          <p:cNvPr id="37" name="Google Shape;37;p5"/>
          <p:cNvCxnSpPr/>
          <p:nvPr/>
        </p:nvCxnSpPr>
        <p:spPr>
          <a:xfrm flipH="1" rot="10800000">
            <a:off x="180000" y="234300"/>
            <a:ext cx="1800000" cy="720000"/>
          </a:xfrm>
          <a:prstGeom prst="bentConnector3">
            <a:avLst>
              <a:gd fmla="val 0" name="adj1"/>
            </a:avLst>
          </a:prstGeom>
          <a:noFill/>
          <a:ln cap="flat" cmpd="sng" w="38100">
            <a:solidFill>
              <a:srgbClr val="E9F1F8"/>
            </a:solidFill>
            <a:prstDash val="solid"/>
            <a:round/>
            <a:headEnd len="med" w="med" type="none"/>
            <a:tailEnd len="med" w="med" type="none"/>
          </a:ln>
        </p:spPr>
      </p:cxnSp>
      <p:cxnSp>
        <p:nvCxnSpPr>
          <p:cNvPr id="38" name="Google Shape;38;p5"/>
          <p:cNvCxnSpPr/>
          <p:nvPr/>
        </p:nvCxnSpPr>
        <p:spPr>
          <a:xfrm flipH="1" rot="10800000">
            <a:off x="7164000" y="414300"/>
            <a:ext cx="1800000" cy="720000"/>
          </a:xfrm>
          <a:prstGeom prst="bentConnector3">
            <a:avLst>
              <a:gd fmla="val 99897" name="adj1"/>
            </a:avLst>
          </a:prstGeom>
          <a:noFill/>
          <a:ln cap="flat" cmpd="sng" w="38100">
            <a:solidFill>
              <a:srgbClr val="E9F1F8"/>
            </a:solidFill>
            <a:prstDash val="solid"/>
            <a:round/>
            <a:headEnd len="med" w="med" type="none"/>
            <a:tailEnd len="med" w="med" type="none"/>
          </a:ln>
        </p:spPr>
      </p:cxnSp>
      <p:sp>
        <p:nvSpPr>
          <p:cNvPr id="39" name="Google Shape;39;p5"/>
          <p:cNvSpPr txBox="1"/>
          <p:nvPr>
            <p:ph idx="1" type="body"/>
          </p:nvPr>
        </p:nvSpPr>
        <p:spPr>
          <a:xfrm>
            <a:off x="180000" y="1134300"/>
            <a:ext cx="4392000" cy="3545700"/>
          </a:xfrm>
          <a:prstGeom prst="rect">
            <a:avLst/>
          </a:prstGeom>
        </p:spPr>
        <p:txBody>
          <a:bodyPr anchorCtr="0" anchor="ctr" bIns="180000" lIns="91425" spcFirstLastPara="1" rIns="91425" wrap="square" tIns="180000">
            <a:noAutofit/>
          </a:bodyPr>
          <a:lstStyle>
            <a:lvl1pPr indent="-342900" lvl="0" marL="457200">
              <a:spcBef>
                <a:spcPts val="0"/>
              </a:spcBef>
              <a:spcAft>
                <a:spcPts val="0"/>
              </a:spcAft>
              <a:buSzPts val="1800"/>
              <a:buChar char="●"/>
              <a:defRPr sz="1800"/>
            </a:lvl1pPr>
            <a:lvl2pPr indent="-342900" lvl="1" marL="914400">
              <a:spcBef>
                <a:spcPts val="1000"/>
              </a:spcBef>
              <a:spcAft>
                <a:spcPts val="0"/>
              </a:spcAft>
              <a:buSzPts val="1800"/>
              <a:buChar char="○"/>
              <a:defRPr sz="1800"/>
            </a:lvl2pPr>
            <a:lvl3pPr indent="-342900" lvl="2" marL="1371600">
              <a:spcBef>
                <a:spcPts val="1000"/>
              </a:spcBef>
              <a:spcAft>
                <a:spcPts val="0"/>
              </a:spcAft>
              <a:buSzPts val="1800"/>
              <a:buChar char="■"/>
              <a:defRPr sz="1800"/>
            </a:lvl3pPr>
            <a:lvl4pPr indent="-342900" lvl="3" marL="1828800">
              <a:spcBef>
                <a:spcPts val="1000"/>
              </a:spcBef>
              <a:spcAft>
                <a:spcPts val="0"/>
              </a:spcAft>
              <a:buSzPts val="1800"/>
              <a:buChar char="●"/>
              <a:defRPr sz="1800"/>
            </a:lvl4pPr>
            <a:lvl5pPr indent="-342900" lvl="4" marL="2286000">
              <a:spcBef>
                <a:spcPts val="1000"/>
              </a:spcBef>
              <a:spcAft>
                <a:spcPts val="0"/>
              </a:spcAft>
              <a:buSzPts val="1800"/>
              <a:buChar char="○"/>
              <a:defRPr sz="1800"/>
            </a:lvl5pPr>
            <a:lvl6pPr indent="-342900" lvl="5" marL="2743200">
              <a:spcBef>
                <a:spcPts val="1000"/>
              </a:spcBef>
              <a:spcAft>
                <a:spcPts val="0"/>
              </a:spcAft>
              <a:buSzPts val="1800"/>
              <a:buChar char="■"/>
              <a:defRPr sz="1800"/>
            </a:lvl6pPr>
            <a:lvl7pPr indent="-342900" lvl="6" marL="3200400">
              <a:spcBef>
                <a:spcPts val="1000"/>
              </a:spcBef>
              <a:spcAft>
                <a:spcPts val="0"/>
              </a:spcAft>
              <a:buSzPts val="1800"/>
              <a:buChar char="●"/>
              <a:defRPr sz="1800"/>
            </a:lvl7pPr>
            <a:lvl8pPr indent="-342900" lvl="7" marL="3657600">
              <a:spcBef>
                <a:spcPts val="1000"/>
              </a:spcBef>
              <a:spcAft>
                <a:spcPts val="0"/>
              </a:spcAft>
              <a:buSzPts val="1800"/>
              <a:buChar char="○"/>
              <a:defRPr sz="1800"/>
            </a:lvl8pPr>
            <a:lvl9pPr indent="-342900" lvl="8" marL="4114800">
              <a:spcBef>
                <a:spcPts val="1000"/>
              </a:spcBef>
              <a:spcAft>
                <a:spcPts val="1000"/>
              </a:spcAft>
              <a:buSzPts val="1800"/>
              <a:buChar char="■"/>
              <a:defRPr sz="1800"/>
            </a:lvl9pPr>
          </a:lstStyle>
          <a:p/>
        </p:txBody>
      </p:sp>
      <p:sp>
        <p:nvSpPr>
          <p:cNvPr id="40" name="Google Shape;40;p5"/>
          <p:cNvSpPr txBox="1"/>
          <p:nvPr>
            <p:ph type="title"/>
          </p:nvPr>
        </p:nvSpPr>
        <p:spPr>
          <a:xfrm>
            <a:off x="180000" y="234300"/>
            <a:ext cx="8784000" cy="900000"/>
          </a:xfrm>
          <a:prstGeom prst="rect">
            <a:avLst/>
          </a:prstGeom>
        </p:spPr>
        <p:txBody>
          <a:bodyPr anchorCtr="0" anchor="ctr" bIns="91425" lIns="91425" spcFirstLastPara="1" rIns="91425" wrap="square" tIns="91425">
            <a:normAutofit/>
          </a:bodyPr>
          <a:lstStyle>
            <a:lvl1pPr indent="0" lvl="0" marL="0" marR="0" algn="l">
              <a:lnSpc>
                <a:spcPct val="100000"/>
              </a:lnSpc>
              <a:spcBef>
                <a:spcPts val="0"/>
              </a:spcBef>
              <a:spcAft>
                <a:spcPts val="0"/>
              </a:spcAft>
              <a:buNone/>
              <a:defRPr sz="4000">
                <a:solidFill>
                  <a:srgbClr val="822433"/>
                </a:solidFill>
                <a:latin typeface="Nunito Medium"/>
                <a:ea typeface="Nunito Medium"/>
                <a:cs typeface="Nunito Medium"/>
                <a:sym typeface="Nunito Medium"/>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1" name="Google Shape;41;p5"/>
          <p:cNvSpPr txBox="1"/>
          <p:nvPr>
            <p:ph idx="2" type="body"/>
          </p:nvPr>
        </p:nvSpPr>
        <p:spPr>
          <a:xfrm>
            <a:off x="4572000" y="1134300"/>
            <a:ext cx="4392000" cy="3545700"/>
          </a:xfrm>
          <a:prstGeom prst="rect">
            <a:avLst/>
          </a:prstGeom>
        </p:spPr>
        <p:txBody>
          <a:bodyPr anchorCtr="0" anchor="ctr" bIns="180000" lIns="91425" spcFirstLastPara="1" rIns="91425" wrap="square" tIns="180000">
            <a:noAutofit/>
          </a:bodyPr>
          <a:lstStyle>
            <a:lvl1pPr indent="-342900" lvl="0" marL="457200">
              <a:spcBef>
                <a:spcPts val="0"/>
              </a:spcBef>
              <a:spcAft>
                <a:spcPts val="0"/>
              </a:spcAft>
              <a:buSzPts val="1800"/>
              <a:buChar char="●"/>
              <a:defRPr sz="1800"/>
            </a:lvl1pPr>
            <a:lvl2pPr indent="-342900" lvl="1" marL="914400">
              <a:spcBef>
                <a:spcPts val="1000"/>
              </a:spcBef>
              <a:spcAft>
                <a:spcPts val="0"/>
              </a:spcAft>
              <a:buSzPts val="1800"/>
              <a:buChar char="○"/>
              <a:defRPr sz="1800"/>
            </a:lvl2pPr>
            <a:lvl3pPr indent="-342900" lvl="2" marL="1371600">
              <a:spcBef>
                <a:spcPts val="1000"/>
              </a:spcBef>
              <a:spcAft>
                <a:spcPts val="0"/>
              </a:spcAft>
              <a:buSzPts val="1800"/>
              <a:buChar char="■"/>
              <a:defRPr sz="1800"/>
            </a:lvl3pPr>
            <a:lvl4pPr indent="-342900" lvl="3" marL="1828800">
              <a:spcBef>
                <a:spcPts val="1000"/>
              </a:spcBef>
              <a:spcAft>
                <a:spcPts val="0"/>
              </a:spcAft>
              <a:buSzPts val="1800"/>
              <a:buChar char="●"/>
              <a:defRPr sz="1800"/>
            </a:lvl4pPr>
            <a:lvl5pPr indent="-342900" lvl="4" marL="2286000">
              <a:spcBef>
                <a:spcPts val="1000"/>
              </a:spcBef>
              <a:spcAft>
                <a:spcPts val="0"/>
              </a:spcAft>
              <a:buSzPts val="1800"/>
              <a:buChar char="○"/>
              <a:defRPr sz="1800"/>
            </a:lvl5pPr>
            <a:lvl6pPr indent="-342900" lvl="5" marL="2743200">
              <a:spcBef>
                <a:spcPts val="1000"/>
              </a:spcBef>
              <a:spcAft>
                <a:spcPts val="0"/>
              </a:spcAft>
              <a:buSzPts val="1800"/>
              <a:buChar char="■"/>
              <a:defRPr sz="1800"/>
            </a:lvl6pPr>
            <a:lvl7pPr indent="-342900" lvl="6" marL="3200400">
              <a:spcBef>
                <a:spcPts val="1000"/>
              </a:spcBef>
              <a:spcAft>
                <a:spcPts val="0"/>
              </a:spcAft>
              <a:buSzPts val="1800"/>
              <a:buChar char="●"/>
              <a:defRPr sz="1800"/>
            </a:lvl7pPr>
            <a:lvl8pPr indent="-342900" lvl="7" marL="3657600">
              <a:spcBef>
                <a:spcPts val="1000"/>
              </a:spcBef>
              <a:spcAft>
                <a:spcPts val="0"/>
              </a:spcAft>
              <a:buSzPts val="1800"/>
              <a:buChar char="○"/>
              <a:defRPr sz="1800"/>
            </a:lvl8pPr>
            <a:lvl9pPr indent="-342900" lvl="8" marL="4114800">
              <a:spcBef>
                <a:spcPts val="1000"/>
              </a:spcBef>
              <a:spcAft>
                <a:spcPts val="1000"/>
              </a:spcAft>
              <a:buSzPts val="1800"/>
              <a:buChar char="■"/>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Titolo">
  <p:cSld name="TITLE_AND_BODY_1_1">
    <p:spTree>
      <p:nvGrpSpPr>
        <p:cNvPr id="42" name="Shape 42"/>
        <p:cNvGrpSpPr/>
        <p:nvPr/>
      </p:nvGrpSpPr>
      <p:grpSpPr>
        <a:xfrm>
          <a:off x="0" y="0"/>
          <a:ext cx="0" cy="0"/>
          <a:chOff x="0" y="0"/>
          <a:chExt cx="0" cy="0"/>
        </a:xfrm>
      </p:grpSpPr>
      <p:sp>
        <p:nvSpPr>
          <p:cNvPr id="43" name="Google Shape;43;p6"/>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cxnSp>
        <p:nvCxnSpPr>
          <p:cNvPr id="44" name="Google Shape;44;p6"/>
          <p:cNvCxnSpPr/>
          <p:nvPr/>
        </p:nvCxnSpPr>
        <p:spPr>
          <a:xfrm flipH="1" rot="10800000">
            <a:off x="180000" y="234300"/>
            <a:ext cx="1800000" cy="720000"/>
          </a:xfrm>
          <a:prstGeom prst="bentConnector3">
            <a:avLst>
              <a:gd fmla="val 0" name="adj1"/>
            </a:avLst>
          </a:prstGeom>
          <a:noFill/>
          <a:ln cap="flat" cmpd="sng" w="38100">
            <a:solidFill>
              <a:srgbClr val="E9F1F8"/>
            </a:solidFill>
            <a:prstDash val="solid"/>
            <a:round/>
            <a:headEnd len="med" w="med" type="none"/>
            <a:tailEnd len="med" w="med" type="none"/>
          </a:ln>
        </p:spPr>
      </p:cxnSp>
      <p:cxnSp>
        <p:nvCxnSpPr>
          <p:cNvPr id="45" name="Google Shape;45;p6"/>
          <p:cNvCxnSpPr/>
          <p:nvPr/>
        </p:nvCxnSpPr>
        <p:spPr>
          <a:xfrm flipH="1" rot="10800000">
            <a:off x="7164000" y="414300"/>
            <a:ext cx="1800000" cy="720000"/>
          </a:xfrm>
          <a:prstGeom prst="bentConnector3">
            <a:avLst>
              <a:gd fmla="val 99897" name="adj1"/>
            </a:avLst>
          </a:prstGeom>
          <a:noFill/>
          <a:ln cap="flat" cmpd="sng" w="38100">
            <a:solidFill>
              <a:srgbClr val="E9F1F8"/>
            </a:solidFill>
            <a:prstDash val="solid"/>
            <a:round/>
            <a:headEnd len="med" w="med" type="none"/>
            <a:tailEnd len="med" w="med" type="none"/>
          </a:ln>
        </p:spPr>
      </p:cxnSp>
      <p:sp>
        <p:nvSpPr>
          <p:cNvPr id="46" name="Google Shape;46;p6"/>
          <p:cNvSpPr txBox="1"/>
          <p:nvPr>
            <p:ph type="title"/>
          </p:nvPr>
        </p:nvSpPr>
        <p:spPr>
          <a:xfrm>
            <a:off x="180000" y="234300"/>
            <a:ext cx="8784000" cy="900000"/>
          </a:xfrm>
          <a:prstGeom prst="rect">
            <a:avLst/>
          </a:prstGeom>
        </p:spPr>
        <p:txBody>
          <a:bodyPr anchorCtr="0" anchor="ctr" bIns="91425" lIns="91425" spcFirstLastPara="1" rIns="91425" wrap="square" tIns="91425">
            <a:normAutofit/>
          </a:bodyPr>
          <a:lstStyle>
            <a:lvl1pPr indent="0" lvl="0" marL="0" marR="0" algn="l">
              <a:lnSpc>
                <a:spcPct val="100000"/>
              </a:lnSpc>
              <a:spcBef>
                <a:spcPts val="0"/>
              </a:spcBef>
              <a:spcAft>
                <a:spcPts val="0"/>
              </a:spcAft>
              <a:buNone/>
              <a:defRPr sz="4000">
                <a:solidFill>
                  <a:srgbClr val="822433"/>
                </a:solidFill>
                <a:latin typeface="Nunito Medium"/>
                <a:ea typeface="Nunito Medium"/>
                <a:cs typeface="Nunito Medium"/>
                <a:sym typeface="Nunito Medium"/>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7" name="Shape 47"/>
        <p:cNvGrpSpPr/>
        <p:nvPr/>
      </p:nvGrpSpPr>
      <p:grpSpPr>
        <a:xfrm>
          <a:off x="0" y="0"/>
          <a:ext cx="0" cy="0"/>
          <a:chOff x="0" y="0"/>
          <a:chExt cx="0" cy="0"/>
        </a:xfrm>
      </p:grpSpPr>
      <p:sp>
        <p:nvSpPr>
          <p:cNvPr id="48" name="Google Shape;48;p7"/>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81000" lvl="1" marL="914400">
              <a:lnSpc>
                <a:spcPct val="115000"/>
              </a:lnSpc>
              <a:spcBef>
                <a:spcPts val="1000"/>
              </a:spcBef>
              <a:spcAft>
                <a:spcPts val="0"/>
              </a:spcAft>
              <a:buClr>
                <a:schemeClr val="dk2"/>
              </a:buClr>
              <a:buSzPts val="2400"/>
              <a:buChar char="○"/>
              <a:defRPr sz="2400">
                <a:solidFill>
                  <a:schemeClr val="dk2"/>
                </a:solidFill>
              </a:defRPr>
            </a:lvl2pPr>
            <a:lvl3pPr indent="-381000" lvl="2" marL="1371600">
              <a:lnSpc>
                <a:spcPct val="115000"/>
              </a:lnSpc>
              <a:spcBef>
                <a:spcPts val="1000"/>
              </a:spcBef>
              <a:spcAft>
                <a:spcPts val="0"/>
              </a:spcAft>
              <a:buClr>
                <a:schemeClr val="dk2"/>
              </a:buClr>
              <a:buSzPts val="2400"/>
              <a:buChar char="■"/>
              <a:defRPr sz="2400">
                <a:solidFill>
                  <a:schemeClr val="dk2"/>
                </a:solidFill>
              </a:defRPr>
            </a:lvl3pPr>
            <a:lvl4pPr indent="-381000" lvl="3" marL="1828800">
              <a:lnSpc>
                <a:spcPct val="115000"/>
              </a:lnSpc>
              <a:spcBef>
                <a:spcPts val="1000"/>
              </a:spcBef>
              <a:spcAft>
                <a:spcPts val="0"/>
              </a:spcAft>
              <a:buClr>
                <a:schemeClr val="dk2"/>
              </a:buClr>
              <a:buSzPts val="2400"/>
              <a:buChar char="●"/>
              <a:defRPr sz="2400">
                <a:solidFill>
                  <a:schemeClr val="dk2"/>
                </a:solidFill>
              </a:defRPr>
            </a:lvl4pPr>
            <a:lvl5pPr indent="-381000" lvl="4" marL="2286000">
              <a:lnSpc>
                <a:spcPct val="115000"/>
              </a:lnSpc>
              <a:spcBef>
                <a:spcPts val="1000"/>
              </a:spcBef>
              <a:spcAft>
                <a:spcPts val="0"/>
              </a:spcAft>
              <a:buClr>
                <a:schemeClr val="dk2"/>
              </a:buClr>
              <a:buSzPts val="2400"/>
              <a:buChar char="○"/>
              <a:defRPr sz="2400">
                <a:solidFill>
                  <a:schemeClr val="dk2"/>
                </a:solidFill>
              </a:defRPr>
            </a:lvl5pPr>
            <a:lvl6pPr indent="-381000" lvl="5" marL="2743200">
              <a:lnSpc>
                <a:spcPct val="115000"/>
              </a:lnSpc>
              <a:spcBef>
                <a:spcPts val="1000"/>
              </a:spcBef>
              <a:spcAft>
                <a:spcPts val="0"/>
              </a:spcAft>
              <a:buClr>
                <a:schemeClr val="dk2"/>
              </a:buClr>
              <a:buSzPts val="2400"/>
              <a:buChar char="■"/>
              <a:defRPr sz="2400">
                <a:solidFill>
                  <a:schemeClr val="dk2"/>
                </a:solidFill>
              </a:defRPr>
            </a:lvl6pPr>
            <a:lvl7pPr indent="-381000" lvl="6" marL="3200400">
              <a:lnSpc>
                <a:spcPct val="115000"/>
              </a:lnSpc>
              <a:spcBef>
                <a:spcPts val="1000"/>
              </a:spcBef>
              <a:spcAft>
                <a:spcPts val="0"/>
              </a:spcAft>
              <a:buClr>
                <a:schemeClr val="dk2"/>
              </a:buClr>
              <a:buSzPts val="2400"/>
              <a:buChar char="●"/>
              <a:defRPr sz="2400">
                <a:solidFill>
                  <a:schemeClr val="dk2"/>
                </a:solidFill>
              </a:defRPr>
            </a:lvl7pPr>
            <a:lvl8pPr indent="-381000" lvl="7" marL="3657600">
              <a:lnSpc>
                <a:spcPct val="115000"/>
              </a:lnSpc>
              <a:spcBef>
                <a:spcPts val="1000"/>
              </a:spcBef>
              <a:spcAft>
                <a:spcPts val="0"/>
              </a:spcAft>
              <a:buClr>
                <a:schemeClr val="dk2"/>
              </a:buClr>
              <a:buSzPts val="2400"/>
              <a:buChar char="○"/>
              <a:defRPr sz="2400">
                <a:solidFill>
                  <a:schemeClr val="dk2"/>
                </a:solidFill>
              </a:defRPr>
            </a:lvl8pPr>
            <a:lvl9pPr indent="-381000" lvl="8" marL="4114800">
              <a:lnSpc>
                <a:spcPct val="115000"/>
              </a:lnSpc>
              <a:spcBef>
                <a:spcPts val="1000"/>
              </a:spcBef>
              <a:spcAft>
                <a:spcPts val="1000"/>
              </a:spcAft>
              <a:buClr>
                <a:schemeClr val="dk2"/>
              </a:buClr>
              <a:buSzPts val="2400"/>
              <a:buChar char="■"/>
              <a:defRPr sz="2400">
                <a:solidFill>
                  <a:schemeClr val="dk2"/>
                </a:solidFill>
              </a:defRPr>
            </a:lvl9pPr>
          </a:lstStyle>
          <a:p/>
        </p:txBody>
      </p:sp>
      <p:sp>
        <p:nvSpPr>
          <p:cNvPr id="8" name="Google Shape;8;p1"/>
          <p:cNvSpPr txBox="1"/>
          <p:nvPr>
            <p:ph idx="12" type="sldNum"/>
          </p:nvPr>
        </p:nvSpPr>
        <p:spPr>
          <a:xfrm>
            <a:off x="8599175" y="4680000"/>
            <a:ext cx="544800" cy="4635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it"/>
              <a:t>‹#›</a:t>
            </a:fld>
            <a:endParaRPr/>
          </a:p>
        </p:txBody>
      </p:sp>
      <p:sp>
        <p:nvSpPr>
          <p:cNvPr id="9" name="Google Shape;9;p1"/>
          <p:cNvSpPr/>
          <p:nvPr/>
        </p:nvSpPr>
        <p:spPr>
          <a:xfrm>
            <a:off x="0" y="4513500"/>
            <a:ext cx="630000" cy="630000"/>
          </a:xfrm>
          <a:prstGeom prst="rtTriangle">
            <a:avLst/>
          </a:prstGeom>
          <a:solidFill>
            <a:srgbClr val="E7EDF3"/>
          </a:solidFill>
          <a:ln cap="flat" cmpd="sng" w="9525">
            <a:solidFill>
              <a:srgbClr val="E7EDF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0" name="Google Shape;10;p1"/>
          <p:cNvPicPr preferRelativeResize="0"/>
          <p:nvPr/>
        </p:nvPicPr>
        <p:blipFill rotWithShape="1">
          <a:blip r:embed="rId1">
            <a:alphaModFix/>
          </a:blip>
          <a:srcRect b="15139" l="5887" r="69915" t="18230"/>
          <a:stretch/>
        </p:blipFill>
        <p:spPr>
          <a:xfrm>
            <a:off x="-12" y="4783500"/>
            <a:ext cx="316288" cy="360001"/>
          </a:xfrm>
          <a:prstGeom prst="rect">
            <a:avLst/>
          </a:prstGeom>
          <a:noFill/>
          <a:ln>
            <a:noFill/>
          </a:ln>
        </p:spPr>
      </p:pic>
      <p:sp>
        <p:nvSpPr>
          <p:cNvPr id="11" name="Google Shape;11;p1"/>
          <p:cNvSpPr txBox="1"/>
          <p:nvPr/>
        </p:nvSpPr>
        <p:spPr>
          <a:xfrm>
            <a:off x="2664000" y="4680000"/>
            <a:ext cx="5935200" cy="463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it">
                <a:solidFill>
                  <a:schemeClr val="dk2"/>
                </a:solidFill>
                <a:latin typeface="Lato"/>
                <a:ea typeface="Lato"/>
                <a:cs typeface="Lato"/>
                <a:sym typeface="Lato"/>
              </a:rPr>
              <a:t>Promo PA Fondazione  |  Agenti AI per i processi interni  |  15.09.2026</a:t>
            </a:r>
            <a:endParaRPr>
              <a:solidFill>
                <a:schemeClr val="dk2"/>
              </a:solidFill>
              <a:latin typeface="Lato"/>
              <a:ea typeface="Lato"/>
              <a:cs typeface="Lato"/>
              <a:sym typeface="Lato"/>
            </a:endParaRPr>
          </a:p>
        </p:txBody>
      </p:sp>
      <p:cxnSp>
        <p:nvCxnSpPr>
          <p:cNvPr id="12" name="Google Shape;12;p1"/>
          <p:cNvCxnSpPr/>
          <p:nvPr/>
        </p:nvCxnSpPr>
        <p:spPr>
          <a:xfrm flipH="1" rot="10800000">
            <a:off x="2664000" y="4680000"/>
            <a:ext cx="6480000" cy="4500"/>
          </a:xfrm>
          <a:prstGeom prst="straightConnector1">
            <a:avLst/>
          </a:prstGeom>
          <a:noFill/>
          <a:ln cap="flat" cmpd="sng" w="19050">
            <a:solidFill>
              <a:srgbClr val="822433"/>
            </a:solidFill>
            <a:prstDash val="solid"/>
            <a:round/>
            <a:headEnd len="med" w="med" type="none"/>
            <a:tailEnd len="med" w="med" type="none"/>
          </a:ln>
        </p:spPr>
      </p:cxn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4.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5.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8.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9.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3.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9.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1.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4.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5.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8.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9.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0.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1.jp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2.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4.jp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6.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8.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9.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0.jp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jp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2.jp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 name="Picture 7" descr="copertina.jpg"/>
          <p:cNvPicPr>
            <a:picLocks noChangeAspect="1"/>
          </p:cNvPicPr>
          <p:nvPr/>
        </p:nvPicPr>
        <p:blipFill>
          <a:blip r:embed="rId2"/>
          <a:srcRect t="24852" b="24852"/>
          <a:stretch>
            <a:fillRect/>
          </a:stretch>
        </p:blipFill>
        <p:spPr>
          <a:xfrm>
            <a:off x="0" y="564050"/>
            <a:ext cx="9144000" cy="3066000"/>
          </a:xfrm>
          <a:prstGeom prst="rect">
            <a:avLst/>
          </a:prstGeom>
        </p:spPr>
      </p:pic>
      <p:sp>
        <p:nvSpPr>
          <p:cNvPr id="9" name="Rectangle 8"/>
          <p:cNvSpPr/>
          <p:nvPr/>
        </p:nvSpPr>
        <p:spPr>
          <a:xfrm>
            <a:off x="0" y="564050"/>
            <a:ext cx="9144000" cy="3066000"/>
          </a:xfrm>
          <a:prstGeom prst="rect">
            <a:avLst/>
          </a:prstGeom>
          <a:solidFill>
            <a:srgbClr val="1A0A0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3400" b="1">
                <a:solidFill>
                  <a:srgbClr val="FFFFFF"/>
                </a:solidFill>
                <a:latin typeface="Arial"/>
              </a:rPr>
              <a:t>Agenti AI per i processi interni</a:t>
            </a:r>
          </a:p>
        </p:txBody>
      </p:sp>
      <p:sp>
        <p:nvSpPr>
          <p:cNvPr id="3" name="Subtitle 2"/>
          <p:cNvSpPr>
            <a:spLocks noGrp="1"/>
          </p:cNvSpPr>
          <p:nvPr>
            <p:ph type="subTitle" idx="1"/>
          </p:nvPr>
        </p:nvSpPr>
        <p:spPr/>
        <p:txBody>
          <a:bodyPr/>
          <a:lstStyle/>
          <a:p>
            <a:r>
              <a:rPr sz="1600">
                <a:solidFill>
                  <a:srgbClr val="ECECEC"/>
                </a:solidFill>
                <a:latin typeface="Arial"/>
              </a:rPr>
              <a:t>Dal caso helpdesk formazione a un pilota misurabile</a:t>
            </a:r>
          </a:p>
          <a:p>
            <a:r>
              <a:rPr sz="1600">
                <a:solidFill>
                  <a:srgbClr val="ECECEC"/>
                </a:solidFill>
                <a:latin typeface="Arial"/>
              </a:rPr>
              <a:t>Promo PA Fondazione, 15 settembre 2026</a:t>
            </a:r>
          </a:p>
        </p:txBody>
      </p:sp>
      <p:sp>
        <p:nvSpPr>
          <p:cNvPr id="10" name="TextBox 9"/>
          <p:cNvSpPr txBox="1"/>
          <p:nvPr/>
        </p:nvSpPr>
        <p:spPr>
          <a:xfrm>
            <a:off x="2700000" y="3835000"/>
            <a:ext cx="6200000" cy="420000"/>
          </a:xfrm>
          <a:prstGeom prst="rect">
            <a:avLst/>
          </a:prstGeom>
          <a:noFill/>
        </p:spPr>
        <p:txBody>
          <a:bodyPr wrap="square" anchor="ctr" lIns="90000" rIns="90000" tIns="60000" bIns="60000">
            <a:spAutoFit/>
          </a:bodyPr>
          <a:lstStyle/>
          <a:p>
            <a:pPr algn="l"/>
            <a:r>
              <a:rPr sz="1400" b="0" i="0">
                <a:solidFill>
                  <a:srgbClr val="595959"/>
                </a:solidFill>
                <a:latin typeface="Arial"/>
              </a:rPr>
              <a:t>Fabrizio Silvestri  |  Sapienza Università di Roma, DIAG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1_riaggancio.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10 minuti</a:t>
            </a:r>
          </a:p>
        </p:txBody>
      </p:sp>
      <p:sp>
        <p:nvSpPr>
          <p:cNvPr id="3" name="Title 2"/>
          <p:cNvSpPr>
            <a:spLocks noGrp="1"/>
          </p:cNvSpPr>
          <p:nvPr>
            <p:ph type="title"/>
          </p:nvPr>
        </p:nvSpPr>
        <p:spPr/>
        <p:txBody>
          <a:bodyPr/>
          <a:lstStyle/>
          <a:p>
            <a:r>
              <a:rPr sz="3200" b="1">
                <a:solidFill>
                  <a:srgbClr val="FFFFFF"/>
                </a:solidFill>
                <a:latin typeface="Arial"/>
              </a:rPr>
              <a:t>1. Riaggancio e tesi della giornata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Da giugno a oggi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A giugno: ChatGPT come collega. Prompt, Progetti, documenti, RAG</a:t>
            </a:r>
          </a:p>
          <a:p>
            <a:pPr marL="285750" indent="-228600" lvl="0">
              <a:spcAft>
                <a:spcPts val="1200"/>
              </a:spcAft>
              <a:buClr>
                <a:srgbClr val="1B3A5F"/>
              </a:buClr>
              <a:buFont typeface="Arial"/>
              <a:buChar char="•"/>
            </a:pPr>
            <a:r>
              <a:rPr sz="1900">
                <a:solidFill>
                  <a:srgbClr val="212121"/>
                </a:solidFill>
                <a:latin typeface="Arial"/>
              </a:rPr>
              <a:t>Oggi: dal collega al processo. Cosa succede quando l'AI entra in un flusso di lavoro</a:t>
            </a:r>
          </a:p>
          <a:p>
            <a:pPr marL="285750" indent="-228600" lvl="0">
              <a:spcAft>
                <a:spcPts val="1200"/>
              </a:spcAft>
              <a:buClr>
                <a:srgbClr val="1B3A5F"/>
              </a:buClr>
              <a:buFont typeface="Arial"/>
              <a:buChar char="•"/>
            </a:pPr>
            <a:r>
              <a:rPr sz="1900">
                <a:solidFill>
                  <a:srgbClr val="212121"/>
                </a:solidFill>
                <a:latin typeface="Arial"/>
              </a:rPr>
              <a:t>Caso di studio: helpdesk formazione</a:t>
            </a:r>
          </a:p>
        </p:txBody>
      </p:sp>
      <p:pic>
        <p:nvPicPr>
          <p:cNvPr id="4" name="Picture 3" descr="c03_da_giugn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Che cosa sapete già fare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Scrivere un prompt che dice il compito, il formato e a chi è destinato</a:t>
            </a:r>
          </a:p>
          <a:p>
            <a:pPr marL="285750" indent="-228600" lvl="0">
              <a:spcAft>
                <a:spcPts val="1200"/>
              </a:spcAft>
              <a:buClr>
                <a:srgbClr val="1B3A5F"/>
              </a:buClr>
              <a:buFont typeface="Arial"/>
              <a:buChar char="•"/>
            </a:pPr>
            <a:r>
              <a:rPr sz="1900">
                <a:solidFill>
                  <a:srgbClr val="212121"/>
                </a:solidFill>
                <a:latin typeface="Arial"/>
              </a:rPr>
              <a:t>Tenere i documenti in un Progetto, così il contesto non si riscrive ogni volta</a:t>
            </a:r>
          </a:p>
          <a:p>
            <a:pPr marL="285750" indent="-228600" lvl="0">
              <a:spcAft>
                <a:spcPts val="1200"/>
              </a:spcAft>
              <a:buClr>
                <a:srgbClr val="1B3A5F"/>
              </a:buClr>
              <a:buFont typeface="Arial"/>
              <a:buChar char="•"/>
            </a:pPr>
            <a:r>
              <a:rPr sz="1900">
                <a:solidFill>
                  <a:srgbClr val="212121"/>
                </a:solidFill>
                <a:latin typeface="Arial"/>
              </a:rPr>
              <a:t>Accorgervi quando il modello inventa, e chiedergli su cosa si basa</a:t>
            </a:r>
          </a:p>
        </p:txBody>
      </p:sp>
      <p:pic>
        <p:nvPicPr>
          <p:cNvPr id="4" name="Picture 3" descr="ap_portat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scaletta di oggi</a:t>
            </a:r>
          </a:p>
        </p:txBody>
      </p:sp>
      <p:pic>
        <p:nvPicPr>
          <p:cNvPr id="3" name="Picture 2" descr="scaletta.png"/>
          <p:cNvPicPr>
            <a:picLocks noChangeAspect="1"/>
          </p:cNvPicPr>
          <p:nvPr/>
        </p:nvPicPr>
        <p:blipFill>
          <a:blip r:embed="rId2"/>
          <a:stretch>
            <a:fillRect/>
          </a:stretch>
        </p:blipFill>
        <p:spPr>
          <a:xfrm>
            <a:off x="1627480" y="1120000"/>
            <a:ext cx="5889039"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Prima il vocabolario, poi il vostro caso, poi i limiti</a:t>
            </a:r>
          </a:p>
          <a:p>
            <a:pPr marL="285750" indent="-228600" lvl="0">
              <a:spcAft>
                <a:spcPts val="800"/>
              </a:spcAft>
              <a:buClr>
                <a:srgbClr val="1B3A5F"/>
              </a:buClr>
              <a:buFont typeface="Arial"/>
              <a:buChar char="•"/>
            </a:pPr>
            <a:r>
              <a:rPr sz="1900">
                <a:solidFill>
                  <a:srgbClr val="212121"/>
                </a:solidFill>
                <a:latin typeface="Arial"/>
              </a:rPr>
              <a:t>L'ultima mezz'ora è vostra: si lavora in gruppi su un processo della Fondazione</a:t>
            </a:r>
          </a:p>
          <a:p>
            <a:pPr marL="285750" indent="-228600" lvl="0">
              <a:spcAft>
                <a:spcPts val="800"/>
              </a:spcAft>
              <a:buClr>
                <a:srgbClr val="1B3A5F"/>
              </a:buClr>
              <a:buFont typeface="Arial"/>
              <a:buChar char="•"/>
            </a:pPr>
            <a:r>
              <a:rPr sz="1900">
                <a:solidFill>
                  <a:srgbClr val="212121"/>
                </a:solidFill>
                <a:latin typeface="Arial"/>
              </a:rPr>
              <a:t>Molte slide sono immagini: interrompete quando volete, le domande valgono di più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Chatbot, workflow, agente</a:t>
            </a:r>
          </a:p>
        </p:txBody>
      </p:sp>
      <p:pic>
        <p:nvPicPr>
          <p:cNvPr id="3" name="Picture 2" descr="chatbot_workflow_agente.png"/>
          <p:cNvPicPr>
            <a:picLocks noChangeAspect="1"/>
          </p:cNvPicPr>
          <p:nvPr/>
        </p:nvPicPr>
        <p:blipFill>
          <a:blip r:embed="rId2"/>
          <a:stretch>
            <a:fillRect/>
          </a:stretch>
        </p:blipFill>
        <p:spPr>
          <a:xfrm>
            <a:off x="2687207" y="1120000"/>
            <a:ext cx="3769585"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Un chatbot risponde. Non agisce</a:t>
            </a:r>
          </a:p>
          <a:p>
            <a:pPr marL="285750" indent="-228600" lvl="0">
              <a:spcAft>
                <a:spcPts val="800"/>
              </a:spcAft>
              <a:buClr>
                <a:srgbClr val="1B3A5F"/>
              </a:buClr>
              <a:buFont typeface="Arial"/>
              <a:buChar char="•"/>
            </a:pPr>
            <a:r>
              <a:rPr sz="1900">
                <a:solidFill>
                  <a:srgbClr val="212121"/>
                </a:solidFill>
                <a:latin typeface="Arial"/>
              </a:rPr>
              <a:t>Un workflow segue passi decisi da noi; l'AI sta dentro alcuni passi</a:t>
            </a:r>
          </a:p>
          <a:p>
            <a:pPr marL="285750" indent="-228600" lvl="0">
              <a:spcAft>
                <a:spcPts val="800"/>
              </a:spcAft>
              <a:buClr>
                <a:srgbClr val="1B3A5F"/>
              </a:buClr>
              <a:buFont typeface="Arial"/>
              <a:buChar char="•"/>
            </a:pPr>
            <a:r>
              <a:rPr sz="1900">
                <a:solidFill>
                  <a:srgbClr val="212121"/>
                </a:solidFill>
                <a:latin typeface="Arial"/>
              </a:rPr>
              <a:t>Un agente decide da solo i passi. Serve raramente, costa controllo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L'agente autonomo che vi immaginate</a:t>
            </a:r>
          </a:p>
        </p:txBody>
      </p:sp>
      <p:pic>
        <p:nvPicPr>
          <p:cNvPr id="3" name="Picture 2" descr="gag_robot.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Autonomo davvero: decide da solo, e non arriva alla tastiera.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Chatbot: chiedete a ChatGPT come si scrive una convocazione. Risponde, e finisce lì</a:t>
            </a:r>
          </a:p>
          <a:p>
            <a:pPr marL="285750" indent="-228600" lvl="0">
              <a:spcAft>
                <a:spcPts val="1400"/>
              </a:spcAft>
              <a:buClr>
                <a:srgbClr val="1B3A5F"/>
              </a:buClr>
              <a:buFont typeface="Arial"/>
              <a:buChar char="•"/>
            </a:pPr>
            <a:r>
              <a:rPr sz="2200">
                <a:solidFill>
                  <a:srgbClr val="212121"/>
                </a:solidFill>
                <a:latin typeface="Arial"/>
              </a:rPr>
              <a:t>Workflow: la richiesta arriva, il modello la classifica, una regola la smista, un umano invia</a:t>
            </a:r>
          </a:p>
          <a:p>
            <a:pPr marL="285750" indent="-228600" lvl="0">
              <a:spcAft>
                <a:spcPts val="1400"/>
              </a:spcAft>
              <a:buClr>
                <a:srgbClr val="1B3A5F"/>
              </a:buClr>
              <a:buFont typeface="Arial"/>
              <a:buChar char="•"/>
            </a:pPr>
            <a:r>
              <a:rPr sz="2200">
                <a:solidFill>
                  <a:srgbClr val="212121"/>
                </a:solidFill>
                <a:latin typeface="Arial"/>
              </a:rPr>
              <a:t>Agente: gli dite 'sistema l'helpdesk' e decide lui i passi. Oggi non lo vogliamo</a:t>
            </a:r>
          </a:p>
        </p:txBody>
      </p:sp>
      <p:sp>
        <p:nvSpPr>
          <p:cNvPr id="3" name="Title 2"/>
          <p:cNvSpPr>
            <a:spLocks noGrp="1"/>
          </p:cNvSpPr>
          <p:nvPr>
            <p:ph type="title"/>
          </p:nvPr>
        </p:nvSpPr>
        <p:spPr/>
        <p:txBody>
          <a:bodyPr/>
          <a:lstStyle/>
          <a:p>
            <a:pPr algn="l"/>
            <a:r>
              <a:rPr sz="2700" b="1">
                <a:solidFill>
                  <a:srgbClr val="1B3A5F"/>
                </a:solidFill>
                <a:latin typeface="Arial"/>
              </a:rPr>
              <a:t>I tre tipi, con un esempio ciascuno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tesi in tre righe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Prima si scompone il processo, poi si decide cosa automatizzare</a:t>
            </a:r>
          </a:p>
          <a:p>
            <a:pPr marL="285750" indent="-228600" lvl="0">
              <a:spcAft>
                <a:spcPts val="1200"/>
              </a:spcAft>
              <a:buClr>
                <a:srgbClr val="1B3A5F"/>
              </a:buClr>
              <a:buFont typeface="Arial"/>
              <a:buChar char="•"/>
            </a:pPr>
            <a:r>
              <a:rPr sz="1900">
                <a:solidFill>
                  <a:srgbClr val="212121"/>
                </a:solidFill>
                <a:latin typeface="Arial"/>
              </a:rPr>
              <a:t>Dove serve giudizio o responsabilità, resta un punto di controllo umano</a:t>
            </a:r>
          </a:p>
          <a:p>
            <a:pPr marL="285750" indent="-228600" lvl="0">
              <a:spcAft>
                <a:spcPts val="1200"/>
              </a:spcAft>
              <a:buClr>
                <a:srgbClr val="1B3A5F"/>
              </a:buClr>
              <a:buFont typeface="Arial"/>
              <a:buChar char="•"/>
            </a:pPr>
            <a:r>
              <a:rPr sz="1900">
                <a:solidFill>
                  <a:srgbClr val="212121"/>
                </a:solidFill>
                <a:latin typeface="Arial"/>
              </a:rPr>
              <a:t>Si misura prima di automatizzare, e si rimisura dopo</a:t>
            </a:r>
          </a:p>
        </p:txBody>
      </p:sp>
      <p:pic>
        <p:nvPicPr>
          <p:cNvPr id="4" name="Picture 3" descr="c05_tes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2_anatomia.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20 minuti</a:t>
            </a:r>
          </a:p>
        </p:txBody>
      </p:sp>
      <p:sp>
        <p:nvSpPr>
          <p:cNvPr id="3" name="Title 2"/>
          <p:cNvSpPr>
            <a:spLocks noGrp="1"/>
          </p:cNvSpPr>
          <p:nvPr>
            <p:ph type="title"/>
          </p:nvPr>
        </p:nvSpPr>
        <p:spPr/>
        <p:txBody>
          <a:bodyPr/>
          <a:lstStyle/>
          <a:p>
            <a:r>
              <a:rPr sz="3200" b="1">
                <a:solidFill>
                  <a:srgbClr val="FFFFFF"/>
                </a:solidFill>
                <a:latin typeface="Arial"/>
              </a:rPr>
              <a:t>2. Anatomia di un sistema agentico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 cinque pezzi 1/2</a:t>
            </a:r>
          </a:p>
        </p:txBody>
      </p:sp>
      <p:sp>
        <p:nvSpPr>
          <p:cNvPr id="3" name="TextBox 2"/>
          <p:cNvSpPr txBox="1"/>
          <p:nvPr/>
        </p:nvSpPr>
        <p:spPr>
          <a:xfrm>
            <a:off x="180000" y="1134300"/>
            <a:ext cx="430200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900">
                <a:solidFill>
                  <a:srgbClr val="212121"/>
                </a:solidFill>
                <a:latin typeface="Arial"/>
              </a:rPr>
              <a:t>Modello: legge testo, produce testo o dati strutturati. Non sa nulla di voi</a:t>
            </a:r>
          </a:p>
          <a:p>
            <a:pPr marL="285750" indent="-228600" lvl="0">
              <a:spcAft>
                <a:spcPts val="1000"/>
              </a:spcAft>
              <a:buClr>
                <a:srgbClr val="1B3A5F"/>
              </a:buClr>
              <a:buFont typeface="Arial"/>
              <a:buChar char="•"/>
            </a:pPr>
            <a:r>
              <a:rPr sz="1900">
                <a:solidFill>
                  <a:srgbClr val="212121"/>
                </a:solidFill>
                <a:latin typeface="Arial"/>
              </a:rPr>
              <a:t>Strumenti: e-mail, Zoom, Moodle, sito. Il modello li usa, non li possiede</a:t>
            </a:r>
          </a:p>
          <a:p>
            <a:pPr marL="285750" indent="-228600" lvl="0">
              <a:spcAft>
                <a:spcPts val="1000"/>
              </a:spcAft>
              <a:buClr>
                <a:srgbClr val="1B3A5F"/>
              </a:buClr>
              <a:buFont typeface="Arial"/>
              <a:buChar char="•"/>
            </a:pPr>
            <a:r>
              <a:rPr sz="1900">
                <a:solidFill>
                  <a:srgbClr val="212121"/>
                </a:solidFill>
                <a:latin typeface="Arial"/>
              </a:rPr>
              <a:t>Memoria: tassonomia, storico, regole scritte da voi</a:t>
            </a:r>
          </a:p>
        </p:txBody>
      </p:sp>
      <p:pic>
        <p:nvPicPr>
          <p:cNvPr id="4" name="Picture 3" descr="anatomia_agente.png"/>
          <p:cNvPicPr>
            <a:picLocks noChangeAspect="1"/>
          </p:cNvPicPr>
          <p:nvPr/>
        </p:nvPicPr>
        <p:blipFill>
          <a:blip r:embed="rId2"/>
          <a:stretch>
            <a:fillRect/>
          </a:stretch>
        </p:blipFill>
        <p:spPr>
          <a:xfrm>
            <a:off x="4662000" y="1180000"/>
            <a:ext cx="4302000" cy="279971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 cinque pezzi 2/2</a:t>
            </a:r>
          </a:p>
        </p:txBody>
      </p:sp>
      <p:sp>
        <p:nvSpPr>
          <p:cNvPr id="3" name="TextBox 2"/>
          <p:cNvSpPr txBox="1"/>
          <p:nvPr/>
        </p:nvSpPr>
        <p:spPr>
          <a:xfrm>
            <a:off x="180000" y="1134300"/>
            <a:ext cx="430200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900">
                <a:solidFill>
                  <a:srgbClr val="212121"/>
                </a:solidFill>
                <a:latin typeface="Arial"/>
              </a:rPr>
              <a:t>Ciclo di azione: leggi, decidi, agisci, verifica. Poi ricomincia</a:t>
            </a:r>
          </a:p>
          <a:p>
            <a:pPr marL="285750" indent="-228600" lvl="0">
              <a:spcAft>
                <a:spcPts val="1000"/>
              </a:spcAft>
              <a:buClr>
                <a:srgbClr val="1B3A5F"/>
              </a:buClr>
              <a:buFont typeface="Arial"/>
              <a:buChar char="•"/>
            </a:pPr>
            <a:r>
              <a:rPr sz="1900">
                <a:solidFill>
                  <a:srgbClr val="212121"/>
                </a:solidFill>
                <a:latin typeface="Arial"/>
              </a:rPr>
              <a:t>Punto di controllo umano: soglia di confidenza, coda da verificare, invio manuale</a:t>
            </a:r>
          </a:p>
          <a:p>
            <a:pPr marL="285750" indent="-228600" lvl="0">
              <a:spcAft>
                <a:spcPts val="1000"/>
              </a:spcAft>
              <a:buClr>
                <a:srgbClr val="1B3A5F"/>
              </a:buClr>
              <a:buFont typeface="Arial"/>
              <a:buChar char="•"/>
            </a:pPr>
            <a:r>
              <a:rPr sz="1900">
                <a:solidFill>
                  <a:srgbClr val="212121"/>
                </a:solidFill>
                <a:latin typeface="Arial"/>
              </a:rPr>
              <a:t>Un sistema senza punto di controllo non è coraggioso, è incompleto</a:t>
            </a:r>
          </a:p>
        </p:txBody>
      </p:sp>
      <p:pic>
        <p:nvPicPr>
          <p:cNvPr id="4" name="Picture 3" descr="anatomia_agente.png"/>
          <p:cNvPicPr>
            <a:picLocks noChangeAspect="1"/>
          </p:cNvPicPr>
          <p:nvPr/>
        </p:nvPicPr>
        <p:blipFill>
          <a:blip r:embed="rId2"/>
          <a:stretch>
            <a:fillRect/>
          </a:stretch>
        </p:blipFill>
        <p:spPr>
          <a:xfrm>
            <a:off x="4662000" y="1180000"/>
            <a:ext cx="4302000" cy="279971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modello: cosa sa e cosa non sa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Sa la lingua, il mondo generico, la forma dei documenti amministrativi</a:t>
            </a:r>
          </a:p>
          <a:p>
            <a:pPr marL="285750" indent="-228600" lvl="0">
              <a:spcAft>
                <a:spcPts val="1200"/>
              </a:spcAft>
              <a:buClr>
                <a:srgbClr val="1B3A5F"/>
              </a:buClr>
              <a:buFont typeface="Arial"/>
              <a:buChar char="•"/>
            </a:pPr>
            <a:r>
              <a:rPr sz="1900">
                <a:solidFill>
                  <a:srgbClr val="212121"/>
                </a:solidFill>
                <a:latin typeface="Arial"/>
              </a:rPr>
              <a:t>Non sa i vostri corsi, i vostri operatori, le vostre scadenze, i vostri clienti</a:t>
            </a:r>
          </a:p>
          <a:p>
            <a:pPr marL="285750" indent="-228600" lvl="0">
              <a:spcAft>
                <a:spcPts val="1200"/>
              </a:spcAft>
              <a:buClr>
                <a:srgbClr val="1B3A5F"/>
              </a:buClr>
              <a:buFont typeface="Arial"/>
              <a:buChar char="•"/>
            </a:pPr>
            <a:r>
              <a:rPr sz="1900">
                <a:solidFill>
                  <a:srgbClr val="212121"/>
                </a:solidFill>
                <a:latin typeface="Arial"/>
              </a:rPr>
              <a:t>Tutto quello che non sa glielo dovete passare a ogni chiamata: non se lo ricorda</a:t>
            </a:r>
          </a:p>
        </p:txBody>
      </p:sp>
      <p:pic>
        <p:nvPicPr>
          <p:cNvPr id="4" name="Picture 3" descr="an_modell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Gli strumenti: il modello non possiede niente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Legge la casella se qualcuno gliela collega. Non ha una casella</a:t>
            </a:r>
          </a:p>
          <a:p>
            <a:pPr marL="285750" indent="-228600" lvl="0">
              <a:spcAft>
                <a:spcPts val="1200"/>
              </a:spcAft>
              <a:buClr>
                <a:srgbClr val="1B3A5F"/>
              </a:buClr>
              <a:buFont typeface="Arial"/>
              <a:buChar char="•"/>
            </a:pPr>
            <a:r>
              <a:rPr sz="1900">
                <a:solidFill>
                  <a:srgbClr val="212121"/>
                </a:solidFill>
                <a:latin typeface="Arial"/>
              </a:rPr>
              <a:t>Ogni strumento è un permesso che concedete, e che potete togliere in un minuto</a:t>
            </a:r>
          </a:p>
          <a:p>
            <a:pPr marL="285750" indent="-228600" lvl="0">
              <a:spcAft>
                <a:spcPts val="1200"/>
              </a:spcAft>
              <a:buClr>
                <a:srgbClr val="1B3A5F"/>
              </a:buClr>
              <a:buFont typeface="Arial"/>
              <a:buChar char="•"/>
            </a:pPr>
            <a:r>
              <a:rPr sz="1900">
                <a:solidFill>
                  <a:srgbClr val="212121"/>
                </a:solidFill>
                <a:latin typeface="Arial"/>
              </a:rPr>
              <a:t>Nel nostro disegno il modello legge e scrive bozze. Non invia, non cancella</a:t>
            </a:r>
          </a:p>
        </p:txBody>
      </p:sp>
      <p:pic>
        <p:nvPicPr>
          <p:cNvPr id="4" name="Picture 3" descr="an_strument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memoria: la tassonomia siete voi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La memoria che conta non è il ricordo della conversazione: è un file che scrivete voi</a:t>
            </a:r>
          </a:p>
          <a:p>
            <a:pPr marL="285750" indent="-228600" lvl="0">
              <a:spcAft>
                <a:spcPts val="1200"/>
              </a:spcAft>
              <a:buClr>
                <a:srgbClr val="1B3A5F"/>
              </a:buClr>
              <a:buFont typeface="Arial"/>
              <a:buChar char="•"/>
            </a:pPr>
            <a:r>
              <a:rPr sz="1900">
                <a:solidFill>
                  <a:srgbClr val="212121"/>
                </a:solidFill>
                <a:latin typeface="Arial"/>
              </a:rPr>
              <a:t>Tassonomia, regole, esempi difficili: stanno in un file, non dentro il prompt</a:t>
            </a:r>
          </a:p>
          <a:p>
            <a:pPr marL="285750" indent="-228600" lvl="0">
              <a:spcAft>
                <a:spcPts val="1200"/>
              </a:spcAft>
              <a:buClr>
                <a:srgbClr val="1B3A5F"/>
              </a:buClr>
              <a:buFont typeface="Arial"/>
              <a:buChar char="•"/>
            </a:pPr>
            <a:r>
              <a:rPr sz="1900">
                <a:solidFill>
                  <a:srgbClr val="212121"/>
                </a:solidFill>
                <a:latin typeface="Arial"/>
              </a:rPr>
              <a:t>Cambiare un corso è cambiare una riga, non riscrivere il sistema</a:t>
            </a:r>
          </a:p>
        </p:txBody>
      </p:sp>
      <p:pic>
        <p:nvPicPr>
          <p:cNvPr id="4" name="Picture 3" descr="an_memori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ciclo di azione</a:t>
            </a:r>
          </a:p>
        </p:txBody>
      </p:sp>
      <p:pic>
        <p:nvPicPr>
          <p:cNvPr id="3" name="Picture 2" descr="ciclo_azione.png"/>
          <p:cNvPicPr>
            <a:picLocks noChangeAspect="1"/>
          </p:cNvPicPr>
          <p:nvPr/>
        </p:nvPicPr>
        <p:blipFill>
          <a:blip r:embed="rId2"/>
          <a:stretch>
            <a:fillRect/>
          </a:stretch>
        </p:blipFill>
        <p:spPr>
          <a:xfrm>
            <a:off x="2918548" y="1120000"/>
            <a:ext cx="3306904"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Quattro passi, e poi da capo. È tutto qui</a:t>
            </a:r>
          </a:p>
          <a:p>
            <a:pPr marL="285750" indent="-228600" lvl="0">
              <a:spcAft>
                <a:spcPts val="800"/>
              </a:spcAft>
              <a:buClr>
                <a:srgbClr val="1B3A5F"/>
              </a:buClr>
              <a:buFont typeface="Arial"/>
              <a:buChar char="•"/>
            </a:pPr>
            <a:r>
              <a:rPr sz="1900">
                <a:solidFill>
                  <a:srgbClr val="212121"/>
                </a:solidFill>
                <a:latin typeface="Arial"/>
              </a:rPr>
              <a:t>Il passo che sparisce sempre nelle offerte è il quarto: verifica</a:t>
            </a:r>
          </a:p>
          <a:p>
            <a:pPr marL="285750" indent="-228600" lvl="0">
              <a:spcAft>
                <a:spcPts val="800"/>
              </a:spcAft>
              <a:buClr>
                <a:srgbClr val="1B3A5F"/>
              </a:buClr>
              <a:buFont typeface="Arial"/>
              <a:buChar char="•"/>
            </a:pPr>
            <a:r>
              <a:rPr sz="1900">
                <a:solidFill>
                  <a:srgbClr val="212121"/>
                </a:solidFill>
                <a:latin typeface="Arial"/>
              </a:rPr>
              <a:t>Senza verifica non è un ciclo, è una freccia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punto di controllo umano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Si progetta prima, non si aggiunge dopo che qualcosa è andato storto</a:t>
            </a:r>
          </a:p>
          <a:p>
            <a:pPr marL="285750" indent="-228600" lvl="0">
              <a:spcAft>
                <a:spcPts val="1200"/>
              </a:spcAft>
              <a:buClr>
                <a:srgbClr val="1B3A5F"/>
              </a:buClr>
              <a:buFont typeface="Arial"/>
              <a:buChar char="•"/>
            </a:pPr>
            <a:r>
              <a:rPr sz="1900">
                <a:solidFill>
                  <a:srgbClr val="212121"/>
                </a:solidFill>
                <a:latin typeface="Arial"/>
              </a:rPr>
              <a:t>Tre forme: soglia di confidenza, coda da verificare, invio manuale</a:t>
            </a:r>
          </a:p>
          <a:p>
            <a:pPr marL="285750" indent="-228600" lvl="0">
              <a:spcAft>
                <a:spcPts val="1200"/>
              </a:spcAft>
              <a:buClr>
                <a:srgbClr val="1B3A5F"/>
              </a:buClr>
              <a:buFont typeface="Arial"/>
              <a:buChar char="•"/>
            </a:pPr>
            <a:r>
              <a:rPr sz="1900">
                <a:solidFill>
                  <a:srgbClr val="212121"/>
                </a:solidFill>
                <a:latin typeface="Arial"/>
              </a:rPr>
              <a:t>Nel blocco 4 vedremo che la soglia, da sola, non basta</a:t>
            </a:r>
          </a:p>
        </p:txBody>
      </p:sp>
      <p:pic>
        <p:nvPicPr>
          <p:cNvPr id="4" name="Picture 3" descr="an_controll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Pattern utili 1/2</a:t>
            </a:r>
          </a:p>
        </p:txBody>
      </p:sp>
      <p:sp>
        <p:nvSpPr>
          <p:cNvPr id="3" name="TextBox 2"/>
          <p:cNvSpPr txBox="1"/>
          <p:nvPr/>
        </p:nvSpPr>
        <p:spPr>
          <a:xfrm>
            <a:off x="180000" y="1134300"/>
            <a:ext cx="359928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900">
                <a:solidFill>
                  <a:srgbClr val="212121"/>
                </a:solidFill>
                <a:latin typeface="Arial"/>
              </a:rPr>
              <a:t>Routing: una richiesta entra, un destinatario esce. Sotto soglia, coda umana</a:t>
            </a:r>
          </a:p>
          <a:p>
            <a:pPr marL="285750" indent="-228600" lvl="0">
              <a:spcAft>
                <a:spcPts val="1000"/>
              </a:spcAft>
              <a:buClr>
                <a:srgbClr val="1B3A5F"/>
              </a:buClr>
              <a:buFont typeface="Arial"/>
              <a:buChar char="•"/>
            </a:pPr>
            <a:r>
              <a:rPr sz="1900">
                <a:solidFill>
                  <a:srgbClr val="212121"/>
                </a:solidFill>
                <a:latin typeface="Arial"/>
              </a:rPr>
              <a:t>Estrazione strutturata: da testo libero a campi fissi (chi, cosa, quando)</a:t>
            </a:r>
          </a:p>
          <a:p>
            <a:pPr marL="285750" indent="-228600" lvl="0">
              <a:spcAft>
                <a:spcPts val="1000"/>
              </a:spcAft>
              <a:buClr>
                <a:srgbClr val="1B3A5F"/>
              </a:buClr>
              <a:buFont typeface="Arial"/>
              <a:buChar char="•"/>
            </a:pPr>
            <a:r>
              <a:rPr sz="1900">
                <a:solidFill>
                  <a:srgbClr val="212121"/>
                </a:solidFill>
                <a:latin typeface="Arial"/>
              </a:rPr>
              <a:t>Sono i due pattern che coprono il vostro caso quasi per intero</a:t>
            </a:r>
          </a:p>
        </p:txBody>
      </p:sp>
      <p:pic>
        <p:nvPicPr>
          <p:cNvPr id="4" name="Picture 3" descr="pattern.png"/>
          <p:cNvPicPr>
            <a:picLocks noChangeAspect="1"/>
          </p:cNvPicPr>
          <p:nvPr/>
        </p:nvPicPr>
        <p:blipFill>
          <a:blip r:embed="rId2"/>
          <a:stretch>
            <a:fillRect/>
          </a:stretch>
        </p:blipFill>
        <p:spPr>
          <a:xfrm>
            <a:off x="3959280" y="1180000"/>
            <a:ext cx="5004720" cy="23206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Orchestratore e worker: un modello spezza il compito, altri lo eseguono. Utile per rendicontazioni lunghe</a:t>
            </a:r>
          </a:p>
          <a:p>
            <a:pPr marL="285750" indent="-228600" lvl="0">
              <a:spcAft>
                <a:spcPts val="1400"/>
              </a:spcAft>
              <a:buClr>
                <a:srgbClr val="1B3A5F"/>
              </a:buClr>
              <a:buFont typeface="Arial"/>
              <a:buChar char="•"/>
            </a:pPr>
            <a:r>
              <a:rPr sz="2200">
                <a:solidFill>
                  <a:srgbClr val="212121"/>
                </a:solidFill>
                <a:latin typeface="Arial"/>
              </a:rPr>
              <a:t>Valutatore: un secondo passaggio controlla il primo. Utile prima dell'invio</a:t>
            </a:r>
          </a:p>
          <a:p>
            <a:pPr marL="285750" indent="-228600" lvl="0">
              <a:spcAft>
                <a:spcPts val="1400"/>
              </a:spcAft>
              <a:buClr>
                <a:srgbClr val="1B3A5F"/>
              </a:buClr>
              <a:buFont typeface="Arial"/>
              <a:buChar char="•"/>
            </a:pPr>
            <a:r>
              <a:rPr sz="2200">
                <a:solidFill>
                  <a:srgbClr val="212121"/>
                </a:solidFill>
                <a:latin typeface="Arial"/>
              </a:rPr>
              <a:t>Regola d'oro: compito piccolo, formato di uscita rigido, un umano dove costa sbagliare</a:t>
            </a:r>
          </a:p>
        </p:txBody>
      </p:sp>
      <p:sp>
        <p:nvSpPr>
          <p:cNvPr id="3" name="Title 2"/>
          <p:cNvSpPr>
            <a:spLocks noGrp="1"/>
          </p:cNvSpPr>
          <p:nvPr>
            <p:ph type="title"/>
          </p:nvPr>
        </p:nvSpPr>
        <p:spPr/>
        <p:txBody>
          <a:bodyPr/>
          <a:lstStyle/>
          <a:p>
            <a:pPr algn="l"/>
            <a:r>
              <a:rPr sz="2700" b="1">
                <a:solidFill>
                  <a:srgbClr val="1B3A5F"/>
                </a:solidFill>
                <a:latin typeface="Arial"/>
              </a:rPr>
              <a:t>Pattern utili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RAG: il modello cerca nei vostri documenti prima di rispondere. Utile, non magico</a:t>
            </a:r>
          </a:p>
          <a:p>
            <a:pPr marL="285750" indent="-228600" lvl="0">
              <a:spcAft>
                <a:spcPts val="1400"/>
              </a:spcAft>
              <a:buClr>
                <a:srgbClr val="1B3A5F"/>
              </a:buClr>
              <a:buFont typeface="Arial"/>
              <a:buChar char="•"/>
            </a:pPr>
            <a:r>
              <a:rPr sz="2200">
                <a:solidFill>
                  <a:srgbClr val="212121"/>
                </a:solidFill>
                <a:latin typeface="Arial"/>
              </a:rPr>
              <a:t>Fine tuning: si riaddestra il modello sui vostri dati. Caro, lento, quasi mai necessario</a:t>
            </a:r>
          </a:p>
          <a:p>
            <a:pPr marL="285750" indent="-228600" lvl="0">
              <a:spcAft>
                <a:spcPts val="1400"/>
              </a:spcAft>
              <a:buClr>
                <a:srgbClr val="1B3A5F"/>
              </a:buClr>
              <a:buFont typeface="Arial"/>
              <a:buChar char="•"/>
            </a:pPr>
            <a:r>
              <a:rPr sz="2200">
                <a:solidFill>
                  <a:srgbClr val="212121"/>
                </a:solidFill>
                <a:latin typeface="Arial"/>
              </a:rPr>
              <a:t>Prompt di sistema: le istruzioni fisse. È lì che vive il comportamento, chiedete di vederlo</a:t>
            </a:r>
          </a:p>
        </p:txBody>
      </p:sp>
      <p:sp>
        <p:nvSpPr>
          <p:cNvPr id="3" name="Title 2"/>
          <p:cNvSpPr>
            <a:spLocks noGrp="1"/>
          </p:cNvSpPr>
          <p:nvPr>
            <p:ph type="title"/>
          </p:nvPr>
        </p:nvSpPr>
        <p:spPr/>
        <p:txBody>
          <a:bodyPr/>
          <a:lstStyle/>
          <a:p>
            <a:pPr algn="l"/>
            <a:r>
              <a:rPr sz="2700" b="1">
                <a:solidFill>
                  <a:srgbClr val="1B3A5F"/>
                </a:solidFill>
                <a:latin typeface="Arial"/>
              </a:rPr>
              <a:t>Parole da riconoscere in un'offerta 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Output strutturato: il modello restituisce campi fissi, non prosa. Chiedetelo sempre</a:t>
            </a:r>
          </a:p>
          <a:p>
            <a:pPr marL="285750" indent="-228600" lvl="0">
              <a:spcAft>
                <a:spcPts val="1400"/>
              </a:spcAft>
              <a:buClr>
                <a:srgbClr val="1B3A5F"/>
              </a:buClr>
              <a:buFont typeface="Arial"/>
              <a:buChar char="•"/>
            </a:pPr>
            <a:r>
              <a:rPr sz="2200">
                <a:solidFill>
                  <a:srgbClr val="212121"/>
                </a:solidFill>
                <a:latin typeface="Arial"/>
              </a:rPr>
              <a:t>Guardrail: controlli che bloccano le uscite fuori regola. Vanno mostrati, non promessi</a:t>
            </a:r>
          </a:p>
          <a:p>
            <a:pPr marL="285750" indent="-228600" lvl="0">
              <a:spcAft>
                <a:spcPts val="1400"/>
              </a:spcAft>
              <a:buClr>
                <a:srgbClr val="1B3A5F"/>
              </a:buClr>
              <a:buFont typeface="Arial"/>
              <a:buChar char="•"/>
            </a:pPr>
            <a:r>
              <a:rPr sz="2200">
                <a:solidFill>
                  <a:srgbClr val="212121"/>
                </a:solidFill>
                <a:latin typeface="Arial"/>
              </a:rPr>
              <a:t>Human in the loop: la persona dentro il ciclo. Chiedete in quale passo, esattamente</a:t>
            </a:r>
          </a:p>
        </p:txBody>
      </p:sp>
      <p:sp>
        <p:nvSpPr>
          <p:cNvPr id="3" name="Title 2"/>
          <p:cNvSpPr>
            <a:spLocks noGrp="1"/>
          </p:cNvSpPr>
          <p:nvPr>
            <p:ph type="title"/>
          </p:nvPr>
        </p:nvSpPr>
        <p:spPr/>
        <p:txBody>
          <a:bodyPr/>
          <a:lstStyle/>
          <a:p>
            <a:pPr algn="l"/>
            <a:r>
              <a:rPr sz="2700" b="1">
                <a:solidFill>
                  <a:srgbClr val="1B3A5F"/>
                </a:solidFill>
                <a:latin typeface="Arial"/>
              </a:rPr>
              <a:t>Parole da riconoscere in un'offerta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Orchestrazione: un modello che ne coordina altri. Serve per compiti lunghi, non per lo smistamento</a:t>
            </a:r>
          </a:p>
          <a:p>
            <a:pPr marL="285750" indent="-228600" lvl="0">
              <a:spcAft>
                <a:spcPts val="1400"/>
              </a:spcAft>
              <a:buClr>
                <a:srgbClr val="1B3A5F"/>
              </a:buClr>
              <a:buFont typeface="Arial"/>
              <a:buChar char="•"/>
            </a:pPr>
            <a:r>
              <a:rPr sz="2200">
                <a:solidFill>
                  <a:srgbClr val="212121"/>
                </a:solidFill>
                <a:latin typeface="Arial"/>
              </a:rPr>
              <a:t>Allucinazione: il modello inventa con sicurezza. Non si elimina, si contiene</a:t>
            </a:r>
          </a:p>
          <a:p>
            <a:pPr marL="285750" indent="-228600" lvl="0">
              <a:spcAft>
                <a:spcPts val="1400"/>
              </a:spcAft>
              <a:buClr>
                <a:srgbClr val="1B3A5F"/>
              </a:buClr>
              <a:buFont typeface="Arial"/>
              <a:buChar char="•"/>
            </a:pPr>
            <a:r>
              <a:rPr sz="2200">
                <a:solidFill>
                  <a:srgbClr val="212121"/>
                </a:solidFill>
                <a:latin typeface="Arial"/>
              </a:rPr>
              <a:t>Token: l'unità con cui si paga. Chiedete il costo per mille richieste, non per token</a:t>
            </a:r>
          </a:p>
        </p:txBody>
      </p:sp>
      <p:sp>
        <p:nvSpPr>
          <p:cNvPr id="3" name="Title 2"/>
          <p:cNvSpPr>
            <a:spLocks noGrp="1"/>
          </p:cNvSpPr>
          <p:nvPr>
            <p:ph type="title"/>
          </p:nvPr>
        </p:nvSpPr>
        <p:spPr/>
        <p:txBody>
          <a:bodyPr/>
          <a:lstStyle/>
          <a:p>
            <a:pPr algn="l"/>
            <a:r>
              <a:rPr sz="2700" b="1">
                <a:solidFill>
                  <a:srgbClr val="1B3A5F"/>
                </a:solidFill>
                <a:latin typeface="Arial"/>
              </a:rPr>
              <a:t>Parole da riconoscere in un'offerta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Quando NON usare un agente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Se la regola si scrive in un 'se... allora', è una regola. Non serve un modello</a:t>
            </a:r>
          </a:p>
          <a:p>
            <a:pPr marL="285750" indent="-228600" lvl="0">
              <a:spcAft>
                <a:spcPts val="1200"/>
              </a:spcAft>
              <a:buClr>
                <a:srgbClr val="1B3A5F"/>
              </a:buClr>
              <a:buFont typeface="Arial"/>
              <a:buChar char="•"/>
            </a:pPr>
            <a:r>
              <a:rPr sz="1900">
                <a:solidFill>
                  <a:srgbClr val="212121"/>
                </a:solidFill>
                <a:latin typeface="Arial"/>
              </a:rPr>
              <a:t>Se l'errore costa più del tempo risparmiato, serve un umano, non un agente</a:t>
            </a:r>
          </a:p>
          <a:p>
            <a:pPr marL="285750" indent="-228600" lvl="0">
              <a:spcAft>
                <a:spcPts val="1200"/>
              </a:spcAft>
              <a:buClr>
                <a:srgbClr val="1B3A5F"/>
              </a:buClr>
              <a:buFont typeface="Arial"/>
              <a:buChar char="•"/>
            </a:pPr>
            <a:r>
              <a:rPr sz="1900">
                <a:solidFill>
                  <a:srgbClr val="212121"/>
                </a:solidFill>
                <a:latin typeface="Arial"/>
              </a:rPr>
              <a:t>Se non avete dati per misurarlo, non sapete se funziona. Prima i dati</a:t>
            </a:r>
          </a:p>
        </p:txBody>
      </p:sp>
      <p:pic>
        <p:nvPicPr>
          <p:cNvPr id="4" name="Picture 3" descr="c11_regol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Tre domande da fare a un fornitore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Su quali dati avete misurato l'accuratezza, e posso vedere il campione?</a:t>
            </a:r>
          </a:p>
          <a:p>
            <a:pPr marL="285750" indent="-228600" lvl="0">
              <a:spcAft>
                <a:spcPts val="1200"/>
              </a:spcAft>
              <a:buClr>
                <a:srgbClr val="1B3A5F"/>
              </a:buClr>
              <a:buFont typeface="Arial"/>
              <a:buChar char="•"/>
            </a:pPr>
            <a:r>
              <a:rPr sz="1900">
                <a:solidFill>
                  <a:srgbClr val="212121"/>
                </a:solidFill>
                <a:latin typeface="Arial"/>
              </a:rPr>
              <a:t>In quale passo esatto interviene una persona, e che cosa vede sullo schermo?</a:t>
            </a:r>
          </a:p>
          <a:p>
            <a:pPr marL="285750" indent="-228600" lvl="0">
              <a:spcAft>
                <a:spcPts val="1200"/>
              </a:spcAft>
              <a:buClr>
                <a:srgbClr val="1B3A5F"/>
              </a:buClr>
              <a:buFont typeface="Arial"/>
              <a:buChar char="•"/>
            </a:pPr>
            <a:r>
              <a:rPr sz="1900">
                <a:solidFill>
                  <a:srgbClr val="212121"/>
                </a:solidFill>
                <a:latin typeface="Arial"/>
              </a:rPr>
              <a:t>Se cambio la tassonomia, cosa devo toccare, quanto costa e chi lo fa?</a:t>
            </a:r>
          </a:p>
        </p:txBody>
      </p:sp>
      <p:pic>
        <p:nvPicPr>
          <p:cNvPr id="4" name="Picture 3" descr="an_fornitor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3_helpdesk.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30 minuti, con demo</a:t>
            </a:r>
          </a:p>
        </p:txBody>
      </p:sp>
      <p:sp>
        <p:nvSpPr>
          <p:cNvPr id="3" name="Title 2"/>
          <p:cNvSpPr>
            <a:spLocks noGrp="1"/>
          </p:cNvSpPr>
          <p:nvPr>
            <p:ph type="title"/>
          </p:nvPr>
        </p:nvSpPr>
        <p:spPr/>
        <p:txBody>
          <a:bodyPr/>
          <a:lstStyle/>
          <a:p>
            <a:r>
              <a:rPr sz="3200" b="1">
                <a:solidFill>
                  <a:srgbClr val="FFFFFF"/>
                </a:solidFill>
                <a:latin typeface="Arial"/>
              </a:rPr>
              <a:t>3. Il caso helpdesk formazione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 vostri numeri</a:t>
            </a:r>
          </a:p>
        </p:txBody>
      </p:sp>
      <p:sp>
        <p:nvSpPr>
          <p:cNvPr id="3" name="Rectangle 2"/>
          <p:cNvSpPr/>
          <p:nvPr/>
        </p:nvSpPr>
        <p:spPr>
          <a:xfrm>
            <a:off x="180000" y="1150000"/>
            <a:ext cx="2808000" cy="1350000"/>
          </a:xfrm>
          <a:prstGeom prst="rect">
            <a:avLst/>
          </a:prstGeom>
          <a:solidFill>
            <a:srgbClr val="E9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0000" y="1180000"/>
            <a:ext cx="2808000" cy="750000"/>
          </a:xfrm>
          <a:prstGeom prst="rect">
            <a:avLst/>
          </a:prstGeom>
          <a:noFill/>
        </p:spPr>
        <p:txBody>
          <a:bodyPr wrap="square" anchor="ctr" lIns="90000" rIns="90000" tIns="60000" bIns="60000">
            <a:spAutoFit/>
          </a:bodyPr>
          <a:lstStyle/>
          <a:p>
            <a:pPr algn="ctr"/>
            <a:r>
              <a:rPr sz="4400" b="1" i="0">
                <a:solidFill>
                  <a:srgbClr val="1B3A5F"/>
                </a:solidFill>
                <a:latin typeface="Arial"/>
              </a:rPr>
              <a:t>~300</a:t>
            </a:r>
          </a:p>
        </p:txBody>
      </p:sp>
      <p:sp>
        <p:nvSpPr>
          <p:cNvPr id="5" name="TextBox 4"/>
          <p:cNvSpPr txBox="1"/>
          <p:nvPr/>
        </p:nvSpPr>
        <p:spPr>
          <a:xfrm>
            <a:off x="180000" y="1930000"/>
            <a:ext cx="2808000" cy="520000"/>
          </a:xfrm>
          <a:prstGeom prst="rect">
            <a:avLst/>
          </a:prstGeom>
          <a:noFill/>
        </p:spPr>
        <p:txBody>
          <a:bodyPr wrap="square" anchor="t" lIns="90000" rIns="90000" tIns="60000" bIns="60000">
            <a:spAutoFit/>
          </a:bodyPr>
          <a:lstStyle/>
          <a:p>
            <a:pPr algn="ctr"/>
            <a:r>
              <a:rPr sz="1300" b="0" i="0">
                <a:solidFill>
                  <a:srgbClr val="595959"/>
                </a:solidFill>
                <a:latin typeface="Arial"/>
              </a:rPr>
              <a:t>richieste al mese</a:t>
            </a:r>
          </a:p>
        </p:txBody>
      </p:sp>
      <p:sp>
        <p:nvSpPr>
          <p:cNvPr id="6" name="Rectangle 5"/>
          <p:cNvSpPr/>
          <p:nvPr/>
        </p:nvSpPr>
        <p:spPr>
          <a:xfrm>
            <a:off x="3168000" y="1150000"/>
            <a:ext cx="2808000" cy="1350000"/>
          </a:xfrm>
          <a:prstGeom prst="rect">
            <a:avLst/>
          </a:prstGeom>
          <a:solidFill>
            <a:srgbClr val="E9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68000" y="1180000"/>
            <a:ext cx="2808000" cy="750000"/>
          </a:xfrm>
          <a:prstGeom prst="rect">
            <a:avLst/>
          </a:prstGeom>
          <a:noFill/>
        </p:spPr>
        <p:txBody>
          <a:bodyPr wrap="square" anchor="ctr" lIns="90000" rIns="90000" tIns="60000" bIns="60000">
            <a:spAutoFit/>
          </a:bodyPr>
          <a:lstStyle/>
          <a:p>
            <a:pPr algn="ctr"/>
            <a:r>
              <a:rPr sz="4400" b="1" i="0">
                <a:solidFill>
                  <a:srgbClr val="1B3A5F"/>
                </a:solidFill>
                <a:latin typeface="Arial"/>
              </a:rPr>
              <a:t>5</a:t>
            </a:r>
          </a:p>
        </p:txBody>
      </p:sp>
      <p:sp>
        <p:nvSpPr>
          <p:cNvPr id="8" name="TextBox 7"/>
          <p:cNvSpPr txBox="1"/>
          <p:nvPr/>
        </p:nvSpPr>
        <p:spPr>
          <a:xfrm>
            <a:off x="3168000" y="1930000"/>
            <a:ext cx="2808000" cy="520000"/>
          </a:xfrm>
          <a:prstGeom prst="rect">
            <a:avLst/>
          </a:prstGeom>
          <a:noFill/>
        </p:spPr>
        <p:txBody>
          <a:bodyPr wrap="square" anchor="t" lIns="90000" rIns="90000" tIns="60000" bIns="60000">
            <a:spAutoFit/>
          </a:bodyPr>
          <a:lstStyle/>
          <a:p>
            <a:pPr algn="ctr"/>
            <a:r>
              <a:rPr sz="1300" b="0" i="0">
                <a:solidFill>
                  <a:srgbClr val="595959"/>
                </a:solidFill>
                <a:latin typeface="Arial"/>
              </a:rPr>
              <a:t>caselle e-mail diverse</a:t>
            </a:r>
          </a:p>
        </p:txBody>
      </p:sp>
      <p:sp>
        <p:nvSpPr>
          <p:cNvPr id="9" name="Rectangle 8"/>
          <p:cNvSpPr/>
          <p:nvPr/>
        </p:nvSpPr>
        <p:spPr>
          <a:xfrm>
            <a:off x="6156000" y="1150000"/>
            <a:ext cx="2808000" cy="1350000"/>
          </a:xfrm>
          <a:prstGeom prst="rect">
            <a:avLst/>
          </a:prstGeom>
          <a:solidFill>
            <a:srgbClr val="E9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56000" y="1180000"/>
            <a:ext cx="2808000" cy="750000"/>
          </a:xfrm>
          <a:prstGeom prst="rect">
            <a:avLst/>
          </a:prstGeom>
          <a:noFill/>
        </p:spPr>
        <p:txBody>
          <a:bodyPr wrap="square" anchor="ctr" lIns="90000" rIns="90000" tIns="60000" bIns="60000">
            <a:spAutoFit/>
          </a:bodyPr>
          <a:lstStyle/>
          <a:p>
            <a:pPr algn="ctr"/>
            <a:r>
              <a:rPr sz="4400" b="1" i="0">
                <a:solidFill>
                  <a:srgbClr val="1B3A5F"/>
                </a:solidFill>
                <a:latin typeface="Arial"/>
              </a:rPr>
              <a:t>0</a:t>
            </a:r>
          </a:p>
        </p:txBody>
      </p:sp>
      <p:sp>
        <p:nvSpPr>
          <p:cNvPr id="11" name="TextBox 10"/>
          <p:cNvSpPr txBox="1"/>
          <p:nvPr/>
        </p:nvSpPr>
        <p:spPr>
          <a:xfrm>
            <a:off x="6156000" y="1930000"/>
            <a:ext cx="2808000" cy="520000"/>
          </a:xfrm>
          <a:prstGeom prst="rect">
            <a:avLst/>
          </a:prstGeom>
          <a:noFill/>
        </p:spPr>
        <p:txBody>
          <a:bodyPr wrap="square" anchor="t" lIns="90000" rIns="90000" tIns="60000" bIns="60000">
            <a:spAutoFit/>
          </a:bodyPr>
          <a:lstStyle/>
          <a:p>
            <a:pPr algn="ctr"/>
            <a:r>
              <a:rPr sz="1300" b="0" i="0">
                <a:solidFill>
                  <a:srgbClr val="595959"/>
                </a:solidFill>
                <a:latin typeface="Arial"/>
              </a:rPr>
              <a:t>strumenti di tracciamento</a:t>
            </a:r>
          </a:p>
        </p:txBody>
      </p:sp>
      <p:sp>
        <p:nvSpPr>
          <p:cNvPr id="12" name="TextBox 11"/>
          <p:cNvSpPr txBox="1"/>
          <p:nvPr/>
        </p:nvSpPr>
        <p:spPr>
          <a:xfrm>
            <a:off x="180000" y="2700000"/>
            <a:ext cx="8784000" cy="1900000"/>
          </a:xfrm>
          <a:prstGeom prst="rect">
            <a:avLst/>
          </a:prstGeom>
          <a:noFill/>
        </p:spPr>
        <p:txBody>
          <a:bodyPr wrap="square" lIns="0">
            <a:spAutoFit/>
          </a:bodyPr>
          <a:lstStyle/>
          <a:p>
            <a:pPr marL="285750" indent="-228600" lvl="0">
              <a:spcAft>
                <a:spcPts val="1000"/>
              </a:spcAft>
              <a:buClr>
                <a:srgbClr val="1B3A5F"/>
              </a:buClr>
              <a:buFont typeface="Arial"/>
              <a:buChar char="•"/>
            </a:pPr>
            <a:r>
              <a:rPr sz="1800">
                <a:solidFill>
                  <a:srgbClr val="212121"/>
                </a:solidFill>
                <a:latin typeface="Arial"/>
              </a:rPr>
              <a:t>Canali: e-mail dirette, pagine di iscrizione sul sito, Moodle</a:t>
            </a:r>
          </a:p>
          <a:p>
            <a:pPr marL="285750" indent="-228600" lvl="0">
              <a:spcAft>
                <a:spcPts val="1000"/>
              </a:spcAft>
              <a:buClr>
                <a:srgbClr val="1B3A5F"/>
              </a:buClr>
              <a:buFont typeface="Arial"/>
              <a:buChar char="•"/>
            </a:pPr>
            <a:r>
              <a:rPr sz="1800">
                <a:solidFill>
                  <a:srgbClr val="212121"/>
                </a:solidFill>
                <a:latin typeface="Arial"/>
              </a:rPr>
              <a:t>Persi quasi del tutto: risposte aperte dei questionari Moodle e chat Zoom</a:t>
            </a:r>
          </a:p>
          <a:p>
            <a:pPr marL="285750" indent="-228600" lvl="0">
              <a:spcAft>
                <a:spcPts val="1000"/>
              </a:spcAft>
              <a:buClr>
                <a:srgbClr val="1B3A5F"/>
              </a:buClr>
              <a:buFont typeface="Arial"/>
              <a:buChar char="•"/>
            </a:pPr>
            <a:r>
              <a:rPr sz="1800">
                <a:solidFill>
                  <a:srgbClr val="212121"/>
                </a:solidFill>
                <a:latin typeface="Arial"/>
              </a:rPr>
              <a:t>Chi risponde: chi ha la responsabilità sul tema. Funziona finché tutti ricordano tutto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Quindici richieste al giorno</a:t>
            </a:r>
          </a:p>
        </p:txBody>
      </p:sp>
      <p:pic>
        <p:nvPicPr>
          <p:cNvPr id="3" name="Picture 2" descr="gag_carrello.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Non è un volume da piattaforma. È un volume da tabella e da regole.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Da dove arrivano le richieste</a:t>
            </a:r>
          </a:p>
        </p:txBody>
      </p:sp>
      <p:pic>
        <p:nvPicPr>
          <p:cNvPr id="3" name="Picture 2" descr="canali.png"/>
          <p:cNvPicPr>
            <a:picLocks noChangeAspect="1"/>
          </p:cNvPicPr>
          <p:nvPr/>
        </p:nvPicPr>
        <p:blipFill>
          <a:blip r:embed="rId2"/>
          <a:stretch>
            <a:fillRect/>
          </a:stretch>
        </p:blipFill>
        <p:spPr>
          <a:xfrm>
            <a:off x="2201569" y="1120000"/>
            <a:ext cx="474086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Tre canali arrivano già a qualcuno: caselle, moduli, messaggi Moodle</a:t>
            </a:r>
          </a:p>
          <a:p>
            <a:pPr marL="285750" indent="-228600" lvl="0">
              <a:spcAft>
                <a:spcPts val="800"/>
              </a:spcAft>
              <a:buClr>
                <a:srgbClr val="1B3A5F"/>
              </a:buClr>
              <a:buFont typeface="Arial"/>
              <a:buChar char="•"/>
            </a:pPr>
            <a:r>
              <a:rPr sz="1900">
                <a:solidFill>
                  <a:srgbClr val="212121"/>
                </a:solidFill>
                <a:latin typeface="Arial"/>
              </a:rPr>
              <a:t>Due si perdono: questionari e chat Zoom. Sono quelli con dentro i suggerimenti</a:t>
            </a:r>
          </a:p>
          <a:p>
            <a:pPr marL="285750" indent="-228600" lvl="0">
              <a:spcAft>
                <a:spcPts val="800"/>
              </a:spcAft>
              <a:buClr>
                <a:srgbClr val="1B3A5F"/>
              </a:buClr>
              <a:buFont typeface="Arial"/>
              <a:buChar char="•"/>
            </a:pPr>
            <a:r>
              <a:rPr sz="1900">
                <a:solidFill>
                  <a:srgbClr val="212121"/>
                </a:solidFill>
                <a:latin typeface="Arial"/>
              </a:rPr>
              <a:t>Il primo lavoro non è capire il testo: è farlo arrivare tutto nello stesso posto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Cinque caselle</a:t>
            </a:r>
          </a:p>
        </p:txBody>
      </p:sp>
      <p:pic>
        <p:nvPicPr>
          <p:cNvPr id="3" name="Picture 2" descr="gag_telefoni.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Cinque caselle e-mail sono cinque telefoni sulla stessa scrivania.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sistema di tracciamento attuale</a:t>
            </a:r>
          </a:p>
        </p:txBody>
      </p:sp>
      <p:pic>
        <p:nvPicPr>
          <p:cNvPr id="3" name="Picture 2" descr="gag_postit.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Funziona benissimo, finché la persona che ha scritto i foglietti è in ufficio.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Cosa si perde per strada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Le chat Zoom: nessuno le rilegge, e dentro ci sono domande vere e proposte di corsi</a:t>
            </a:r>
          </a:p>
          <a:p>
            <a:pPr marL="285750" indent="-228600" lvl="0">
              <a:spcAft>
                <a:spcPts val="1200"/>
              </a:spcAft>
              <a:buClr>
                <a:srgbClr val="1B3A5F"/>
              </a:buClr>
              <a:buFont typeface="Arial"/>
              <a:buChar char="•"/>
            </a:pPr>
            <a:r>
              <a:rPr sz="1900">
                <a:solidFill>
                  <a:srgbClr val="212121"/>
                </a:solidFill>
                <a:latin typeface="Arial"/>
              </a:rPr>
              <a:t>Le risposte aperte dei questionari: si contano le stelline, non si leggono le frasi</a:t>
            </a:r>
          </a:p>
          <a:p>
            <a:pPr marL="285750" indent="-228600" lvl="0">
              <a:spcAft>
                <a:spcPts val="1200"/>
              </a:spcAft>
              <a:buClr>
                <a:srgbClr val="1B3A5F"/>
              </a:buClr>
              <a:buFont typeface="Arial"/>
              <a:buChar char="•"/>
            </a:pPr>
            <a:r>
              <a:rPr sz="1900">
                <a:solidFill>
                  <a:srgbClr val="212121"/>
                </a:solidFill>
                <a:latin typeface="Arial"/>
              </a:rPr>
              <a:t>Le telefonate: fuori portata per oggi, ma vale la pena contarle per un mese</a:t>
            </a:r>
          </a:p>
        </p:txBody>
      </p:sp>
      <p:pic>
        <p:nvPicPr>
          <p:cNvPr id="4" name="Picture 3" descr="hd_canal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Le quattro esigenze</a:t>
            </a:r>
          </a:p>
        </p:txBody>
      </p:sp>
      <p:sp>
        <p:nvSpPr>
          <p:cNvPr id="3" name="TextBox 2"/>
          <p:cNvSpPr txBox="1"/>
          <p:nvPr/>
        </p:nvSpPr>
        <p:spPr>
          <a:xfrm>
            <a:off x="180000" y="1134300"/>
            <a:ext cx="324792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900">
                <a:solidFill>
                  <a:srgbClr val="212121"/>
                </a:solidFill>
                <a:latin typeface="Arial"/>
              </a:rPr>
              <a:t>Solo due delle quattro hanno bisogno di un modello</a:t>
            </a:r>
          </a:p>
          <a:p>
            <a:pPr marL="285750" indent="-228600" lvl="0">
              <a:spcAft>
                <a:spcPts val="1000"/>
              </a:spcAft>
              <a:buClr>
                <a:srgbClr val="1B3A5F"/>
              </a:buClr>
              <a:buFont typeface="Arial"/>
              <a:buChar char="•"/>
            </a:pPr>
            <a:r>
              <a:rPr sz="1900">
                <a:solidFill>
                  <a:srgbClr val="212121"/>
                </a:solidFill>
                <a:latin typeface="Arial"/>
              </a:rPr>
              <a:t>Le altre due sono integrazione e workflow: si risolvono senza AI, e vanno risolte prima</a:t>
            </a:r>
          </a:p>
          <a:p>
            <a:pPr marL="285750" indent="-228600" lvl="0">
              <a:spcAft>
                <a:spcPts val="1000"/>
              </a:spcAft>
              <a:buClr>
                <a:srgbClr val="1B3A5F"/>
              </a:buClr>
              <a:buFont typeface="Arial"/>
              <a:buChar char="•"/>
            </a:pPr>
            <a:r>
              <a:rPr sz="1900">
                <a:solidFill>
                  <a:srgbClr val="212121"/>
                </a:solidFill>
                <a:latin typeface="Arial"/>
              </a:rPr>
              <a:t>Ordine consigliato: prima 1, 3 e 4, poi la 2</a:t>
            </a:r>
          </a:p>
        </p:txBody>
      </p:sp>
      <p:pic>
        <p:nvPicPr>
          <p:cNvPr id="4" name="Picture 3" descr="mappa_esigenze.png"/>
          <p:cNvPicPr>
            <a:picLocks noChangeAspect="1"/>
          </p:cNvPicPr>
          <p:nvPr/>
        </p:nvPicPr>
        <p:blipFill>
          <a:blip r:embed="rId2"/>
          <a:stretch>
            <a:fillRect/>
          </a:stretch>
        </p:blipFill>
        <p:spPr>
          <a:xfrm>
            <a:off x="3607920" y="1180000"/>
            <a:ext cx="5356080" cy="2589341"/>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1: repository unico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Non è AI. È un contenitore più dei connettori dalle 5 caselle e dai moduli del sito</a:t>
            </a:r>
          </a:p>
          <a:p>
            <a:pPr marL="285750" indent="-228600" lvl="0">
              <a:spcAft>
                <a:spcPts val="1200"/>
              </a:spcAft>
              <a:buClr>
                <a:srgbClr val="1B3A5F"/>
              </a:buClr>
              <a:buFont typeface="Arial"/>
              <a:buChar char="•"/>
            </a:pPr>
            <a:r>
              <a:rPr sz="1900">
                <a:solidFill>
                  <a:srgbClr val="212121"/>
                </a:solidFill>
                <a:latin typeface="Arial"/>
              </a:rPr>
              <a:t>Va bene anche un foglio condiviso o un ticketing gratuito, purché sia uno solo</a:t>
            </a:r>
          </a:p>
          <a:p>
            <a:pPr marL="285750" indent="-228600" lvl="0">
              <a:spcAft>
                <a:spcPts val="1200"/>
              </a:spcAft>
              <a:buClr>
                <a:srgbClr val="1B3A5F"/>
              </a:buClr>
              <a:buFont typeface="Arial"/>
              <a:buChar char="•"/>
            </a:pPr>
            <a:r>
              <a:rPr sz="1900">
                <a:solidFill>
                  <a:srgbClr val="212121"/>
                </a:solidFill>
                <a:latin typeface="Arial"/>
              </a:rPr>
              <a:t>Da qui in poi ogni richiesta ha un id, uno stato, un responsabile</a:t>
            </a:r>
          </a:p>
        </p:txBody>
      </p:sp>
      <p:pic>
        <p:nvPicPr>
          <p:cNvPr id="4" name="Picture 3" descr="c15_repository.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contenitore che oggi non c'è</a:t>
            </a:r>
          </a:p>
        </p:txBody>
      </p:sp>
      <p:pic>
        <p:nvPicPr>
          <p:cNvPr id="3" name="Picture 2" descr="gag_faldoni.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Finché non c'è un posto solo, ogni richiesta trovata è una richiesta che non sa dove andare.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Un foglio condiviso basta, purché sia uno solo e ogni riga abbia un id</a:t>
            </a:r>
          </a:p>
          <a:p>
            <a:pPr marL="285750" indent="-228600" lvl="0">
              <a:spcAft>
                <a:spcPts val="1400"/>
              </a:spcAft>
              <a:buClr>
                <a:srgbClr val="1B3A5F"/>
              </a:buClr>
              <a:buFont typeface="Arial"/>
              <a:buChar char="•"/>
            </a:pPr>
            <a:r>
              <a:rPr sz="2200">
                <a:solidFill>
                  <a:srgbClr val="212121"/>
                </a:solidFill>
                <a:latin typeface="Arial"/>
              </a:rPr>
              <a:t>I connettori dalle caselle si fanno a basso codice, in un pomeriggio</a:t>
            </a:r>
          </a:p>
          <a:p>
            <a:pPr marL="285750" indent="-228600" lvl="0">
              <a:spcAft>
                <a:spcPts val="1400"/>
              </a:spcAft>
              <a:buClr>
                <a:srgbClr val="1B3A5F"/>
              </a:buClr>
              <a:buFont typeface="Arial"/>
              <a:buChar char="•"/>
            </a:pPr>
            <a:r>
              <a:rPr sz="2200">
                <a:solidFill>
                  <a:srgbClr val="212121"/>
                </a:solidFill>
                <a:latin typeface="Arial"/>
              </a:rPr>
              <a:t>La regola vera è organizzativa: nessuno risponde più direttamente dalla propria casella</a:t>
            </a:r>
          </a:p>
        </p:txBody>
      </p:sp>
      <p:sp>
        <p:nvSpPr>
          <p:cNvPr id="3" name="Title 2"/>
          <p:cNvSpPr>
            <a:spLocks noGrp="1"/>
          </p:cNvSpPr>
          <p:nvPr>
            <p:ph type="title"/>
          </p:nvPr>
        </p:nvSpPr>
        <p:spPr/>
        <p:txBody>
          <a:bodyPr/>
          <a:lstStyle/>
          <a:p>
            <a:pPr algn="l"/>
            <a:r>
              <a:rPr sz="2700" b="1">
                <a:solidFill>
                  <a:srgbClr val="1B3A5F"/>
                </a:solidFill>
                <a:latin typeface="Arial"/>
              </a:rPr>
              <a:t>Come si costruisce il contenitore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L'integrazione è idraulica, non intelligenza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Spostare dati da un posto a un altro senza interpretarli non richiede un modello</a:t>
            </a:r>
          </a:p>
          <a:p>
            <a:pPr marL="285750" indent="-228600" lvl="0">
              <a:spcAft>
                <a:spcPts val="1200"/>
              </a:spcAft>
              <a:buClr>
                <a:srgbClr val="1B3A5F"/>
              </a:buClr>
              <a:buFont typeface="Arial"/>
              <a:buChar char="•"/>
            </a:pPr>
            <a:r>
              <a:rPr sz="1900">
                <a:solidFill>
                  <a:srgbClr val="212121"/>
                </a:solidFill>
                <a:latin typeface="Arial"/>
              </a:rPr>
              <a:t>È noiosa, è la maggior parte del lavoro, e nessuno la mette nelle presentazioni</a:t>
            </a:r>
          </a:p>
          <a:p>
            <a:pPr marL="285750" indent="-228600" lvl="0">
              <a:spcAft>
                <a:spcPts val="1200"/>
              </a:spcAft>
              <a:buClr>
                <a:srgbClr val="1B3A5F"/>
              </a:buClr>
              <a:buFont typeface="Arial"/>
              <a:buChar char="•"/>
            </a:pPr>
            <a:r>
              <a:rPr sz="1900">
                <a:solidFill>
                  <a:srgbClr val="212121"/>
                </a:solidFill>
                <a:latin typeface="Arial"/>
              </a:rPr>
              <a:t>Se un'offerta è tutta AI e niente integrazione, manca il 70 per cento del progetto</a:t>
            </a:r>
          </a:p>
        </p:txBody>
      </p:sp>
      <p:pic>
        <p:nvPicPr>
          <p:cNvPr id="4" name="Picture 3" descr="gag_cav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2: Zoom e Moodle</a:t>
            </a:r>
          </a:p>
        </p:txBody>
      </p:sp>
      <p:sp>
        <p:nvSpPr>
          <p:cNvPr id="3" name="TextBox 2"/>
          <p:cNvSpPr txBox="1"/>
          <p:nvPr/>
        </p:nvSpPr>
        <p:spPr>
          <a:xfrm>
            <a:off x="180000" y="1134300"/>
            <a:ext cx="412632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700">
                <a:solidFill>
                  <a:srgbClr val="212121"/>
                </a:solidFill>
                <a:latin typeface="Arial"/>
              </a:rPr>
              <a:t>Testo non strutturato: 17 righe di chat, 4 richieste vere</a:t>
            </a:r>
          </a:p>
          <a:p>
            <a:pPr marL="285750" indent="-228600" lvl="0">
              <a:spcAft>
                <a:spcPts val="1000"/>
              </a:spcAft>
              <a:buClr>
                <a:srgbClr val="1B3A5F"/>
              </a:buClr>
              <a:buFont typeface="Arial"/>
              <a:buChar char="•"/>
            </a:pPr>
            <a:r>
              <a:rPr sz="1700">
                <a:solidFill>
                  <a:srgbClr val="212121"/>
                </a:solidFill>
                <a:latin typeface="Arial"/>
              </a:rPr>
              <a:t>Il modello separa segnale e rumore e riporta le parole dell'utente</a:t>
            </a:r>
          </a:p>
          <a:p>
            <a:pPr marL="285750" indent="-228600" lvl="0">
              <a:spcAft>
                <a:spcPts val="1000"/>
              </a:spcAft>
              <a:buClr>
                <a:srgbClr val="1B3A5F"/>
              </a:buClr>
              <a:buFont typeface="Arial"/>
              <a:buChar char="•"/>
            </a:pPr>
            <a:r>
              <a:rPr sz="1700">
                <a:solidFill>
                  <a:srgbClr val="212121"/>
                </a:solidFill>
                <a:latin typeface="Arial"/>
              </a:rPr>
              <a:t>Non riassume, non corregge, non inventa: solo estrae</a:t>
            </a:r>
          </a:p>
        </p:txBody>
      </p:sp>
      <p:sp>
        <p:nvSpPr>
          <p:cNvPr id="4" name="TextBox 3"/>
          <p:cNvSpPr txBox="1"/>
          <p:nvPr/>
        </p:nvSpPr>
        <p:spPr>
          <a:xfrm>
            <a:off x="4486320" y="1150000"/>
            <a:ext cx="447768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[10:03] Comune di Pisa: buongiorno</a:t>
            </a:r>
          </a:p>
          <a:p>
            <a:pPr algn="l"/>
            <a:r>
              <a:rPr sz="1050" b="0" i="0">
                <a:solidFill>
                  <a:srgbClr val="212121"/>
                </a:solidFill>
                <a:latin typeface="Courier New"/>
              </a:rPr>
              <a:t>[10:11] Comune di Pisa: le slide verranno</a:t>
            </a:r>
          </a:p>
          <a:p>
            <a:pPr algn="l"/>
            <a:r>
              <a:rPr sz="1050" b="0" i="0">
                <a:solidFill>
                  <a:srgbClr val="212121"/>
                </a:solidFill>
                <a:latin typeface="Courier New"/>
              </a:rPr>
              <a:t>        inviate dopo?</a:t>
            </a:r>
          </a:p>
          <a:p>
            <a:pPr algn="l"/>
            <a:r>
              <a:rPr sz="1050" b="0" i="0">
                <a:solidFill>
                  <a:srgbClr val="212121"/>
                </a:solidFill>
                <a:latin typeface="Courier New"/>
              </a:rPr>
              <a:t>[10:25] Unione Valdera: non sento bene...</a:t>
            </a:r>
          </a:p>
          <a:p>
            <a:pPr algn="l"/>
            <a:r>
              <a:rPr sz="1050" b="0" i="0">
                <a:solidFill>
                  <a:srgbClr val="212121"/>
                </a:solidFill>
                <a:latin typeface="Courier New"/>
              </a:rPr>
              <a:t>[10:26] Unione Valdera: ok risolto</a:t>
            </a:r>
          </a:p>
          <a:p>
            <a:pPr algn="l"/>
            <a:r>
              <a:rPr sz="1050" b="0" i="0">
                <a:solidFill>
                  <a:srgbClr val="212121"/>
                </a:solidFill>
                <a:latin typeface="Courier New"/>
              </a:rPr>
              <a:t>[10:48] Comune di Livorno: domanda per il</a:t>
            </a:r>
          </a:p>
          <a:p>
            <a:pPr algn="l"/>
            <a:r>
              <a:rPr sz="1050" b="0" i="0">
                <a:solidFill>
                  <a:srgbClr val="212121"/>
                </a:solidFill>
                <a:latin typeface="Courier New"/>
              </a:rPr>
              <a:t>        docente: la soglia per l'affidamento</a:t>
            </a:r>
          </a:p>
          <a:p>
            <a:pPr algn="l"/>
            <a:r>
              <a:rPr sz="1050" b="0" i="0">
                <a:solidFill>
                  <a:srgbClr val="212121"/>
                </a:solidFill>
                <a:latin typeface="Courier New"/>
              </a:rPr>
              <a:t>        diretto vale anche per i servizi</a:t>
            </a:r>
          </a:p>
          <a:p>
            <a:pPr algn="l"/>
            <a:r>
              <a:rPr sz="1050" b="0" i="0">
                <a:solidFill>
                  <a:srgbClr val="212121"/>
                </a:solidFill>
                <a:latin typeface="Courier New"/>
              </a:rPr>
              <a:t>        di ingegneria?</a:t>
            </a:r>
          </a:p>
          <a:p>
            <a:pPr algn="l"/>
            <a:r>
              <a:rPr sz="1050" b="0" i="0">
                <a:solidFill>
                  <a:srgbClr val="212121"/>
                </a:solidFill>
                <a:latin typeface="Courier New"/>
              </a:rPr>
              <a:t>[11:41] Comune di Lucca: l'attestato viene</a:t>
            </a:r>
          </a:p>
          <a:p>
            <a:pPr algn="l"/>
            <a:r>
              <a:rPr sz="1050" b="0" i="0">
                <a:solidFill>
                  <a:srgbClr val="212121"/>
                </a:solidFill>
                <a:latin typeface="Courier New"/>
              </a:rPr>
              <a:t>        rilasciato automaticamente?</a:t>
            </a:r>
          </a:p>
          <a:p>
            <a:pPr algn="l"/>
            <a:r>
              <a:rPr sz="1050" b="0" i="0">
                <a:solidFill>
                  <a:srgbClr val="212121"/>
                </a:solidFill>
                <a:latin typeface="Courier New"/>
              </a:rPr>
              <a:t>[12:20] Provincia: sarebbe utile un corso</a:t>
            </a:r>
          </a:p>
          <a:p>
            <a:pPr algn="l"/>
            <a:r>
              <a:rPr sz="1050" b="0" i="0">
                <a:solidFill>
                  <a:srgbClr val="212121"/>
                </a:solidFill>
                <a:latin typeface="Courier New"/>
              </a:rPr>
              <a:t>        sulla parte esecuzione del contratto</a:t>
            </a:r>
          </a:p>
          <a:p>
            <a:pPr algn="l"/>
            <a:r>
              <a:rPr sz="1050" b="0" i="0">
                <a:solidFill>
                  <a:srgbClr val="212121"/>
                </a:solidFill>
                <a:latin typeface="Courier New"/>
              </a:rPr>
              <a:t>[12:29] Comune di Pisa: grazie, ottimo corso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2: cosa esce dall'estrazione</a:t>
            </a:r>
          </a:p>
        </p:txBody>
      </p:sp>
      <p:sp>
        <p:nvSpPr>
          <p:cNvPr id="3" name="TextBox 2"/>
          <p:cNvSpPr txBox="1"/>
          <p:nvPr/>
        </p:nvSpPr>
        <p:spPr>
          <a:xfrm>
            <a:off x="180000" y="1134300"/>
            <a:ext cx="447768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700">
                <a:solidFill>
                  <a:srgbClr val="212121"/>
                </a:solidFill>
                <a:latin typeface="Arial"/>
              </a:rPr>
              <a:t>Ogni richiesta porta con sé la riga da cui viene, e il motivo</a:t>
            </a:r>
          </a:p>
          <a:p>
            <a:pPr marL="285750" indent="-228600" lvl="0">
              <a:spcAft>
                <a:spcPts val="1000"/>
              </a:spcAft>
              <a:buClr>
                <a:srgbClr val="1B3A5F"/>
              </a:buClr>
              <a:buFont typeface="Arial"/>
              <a:buChar char="•"/>
            </a:pPr>
            <a:r>
              <a:rPr sz="1700">
                <a:solidFill>
                  <a:srgbClr val="212121"/>
                </a:solidFill>
                <a:latin typeface="Arial"/>
              </a:rPr>
              <a:t>Il motivo serve a voi, non al modello: è come si controlla a campione</a:t>
            </a:r>
          </a:p>
          <a:p>
            <a:pPr marL="285750" indent="-228600" lvl="0">
              <a:spcAft>
                <a:spcPts val="1000"/>
              </a:spcAft>
              <a:buClr>
                <a:srgbClr val="1B3A5F"/>
              </a:buClr>
              <a:buFont typeface="Arial"/>
              <a:buChar char="•"/>
            </a:pPr>
            <a:r>
              <a:rPr sz="1700">
                <a:solidFill>
                  <a:srgbClr val="212121"/>
                </a:solidFill>
                <a:latin typeface="Arial"/>
              </a:rPr>
              <a:t>L'id lo ricostruiamo noi dall'orario, non lo lasciamo decidere al modello</a:t>
            </a:r>
          </a:p>
        </p:txBody>
      </p:sp>
      <p:sp>
        <p:nvSpPr>
          <p:cNvPr id="4" name="TextBox 3"/>
          <p:cNvSpPr txBox="1"/>
          <p:nvPr/>
        </p:nvSpPr>
        <p:spPr>
          <a:xfrm>
            <a:off x="4837680" y="1150000"/>
            <a:ext cx="412632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a:t>
            </a:r>
          </a:p>
          <a:p>
            <a:pPr algn="l"/>
            <a:r>
              <a:rPr sz="1050" b="0" i="0">
                <a:solidFill>
                  <a:srgbClr val="212121"/>
                </a:solidFill>
                <a:latin typeface="Courier New"/>
              </a:rPr>
              <a:t>  "id_origine": "11:41",</a:t>
            </a:r>
          </a:p>
          <a:p>
            <a:pPr algn="l"/>
            <a:r>
              <a:rPr sz="1050" b="0" i="0">
                <a:solidFill>
                  <a:srgbClr val="212121"/>
                </a:solidFill>
                <a:latin typeface="Courier New"/>
              </a:rPr>
              <a:t>  "mittente": "Comune di Lucca",</a:t>
            </a:r>
          </a:p>
          <a:p>
            <a:pPr algn="l"/>
            <a:r>
              <a:rPr sz="1050" b="0" i="0">
                <a:solidFill>
                  <a:srgbClr val="212121"/>
                </a:solidFill>
                <a:latin typeface="Courier New"/>
              </a:rPr>
              <a:t>  "testo": "l'attestato viene rilasciato</a:t>
            </a:r>
          </a:p>
          <a:p>
            <a:pPr algn="l"/>
            <a:r>
              <a:rPr sz="1050" b="0" i="0">
                <a:solidFill>
                  <a:srgbClr val="212121"/>
                </a:solidFill>
                <a:latin typeface="Courier New"/>
              </a:rPr>
              <a:t>    automaticamente o dobbiamo</a:t>
            </a:r>
          </a:p>
          <a:p>
            <a:pPr algn="l"/>
            <a:r>
              <a:rPr sz="1050" b="0" i="0">
                <a:solidFill>
                  <a:srgbClr val="212121"/>
                </a:solidFill>
                <a:latin typeface="Courier New"/>
              </a:rPr>
              <a:t>    richiederlo?",</a:t>
            </a:r>
          </a:p>
          <a:p>
            <a:pPr algn="l"/>
            <a:r>
              <a:rPr sz="1050" b="0" i="0">
                <a:solidFill>
                  <a:srgbClr val="212121"/>
                </a:solidFill>
                <a:latin typeface="Courier New"/>
              </a:rPr>
              <a:t>  "motivazione": "chiede una procedura,</a:t>
            </a:r>
          </a:p>
          <a:p>
            <a:pPr algn="l"/>
            <a:r>
              <a:rPr sz="1050" b="0" i="0">
                <a:solidFill>
                  <a:srgbClr val="212121"/>
                </a:solidFill>
                <a:latin typeface="Courier New"/>
              </a:rPr>
              <a:t>    nessuno ha risposto in chat"</a:t>
            </a:r>
          </a:p>
          <a:p>
            <a:pPr algn="l"/>
            <a:r>
              <a:rPr sz="1050" b="0" i="0">
                <a:solidFill>
                  <a:srgbClr val="212121"/>
                </a:solidFill>
                <a:latin typeface="Courier New"/>
              </a:rP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3: classificazione 1/2</a:t>
            </a:r>
          </a:p>
        </p:txBody>
      </p:sp>
      <p:sp>
        <p:nvSpPr>
          <p:cNvPr id="3" name="TextBox 2"/>
          <p:cNvSpPr txBox="1"/>
          <p:nvPr/>
        </p:nvSpPr>
        <p:spPr>
          <a:xfrm>
            <a:off x="180000" y="1134300"/>
            <a:ext cx="430200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700">
                <a:solidFill>
                  <a:srgbClr val="212121"/>
                </a:solidFill>
                <a:latin typeface="Arial"/>
              </a:rPr>
              <a:t>La tassonomia la scrivete voi, in un file. Il modello la applica</a:t>
            </a:r>
          </a:p>
          <a:p>
            <a:pPr marL="285750" indent="-228600" lvl="0">
              <a:spcAft>
                <a:spcPts val="1000"/>
              </a:spcAft>
              <a:buClr>
                <a:srgbClr val="1B3A5F"/>
              </a:buClr>
              <a:buFont typeface="Arial"/>
              <a:buChar char="•"/>
            </a:pPr>
            <a:r>
              <a:rPr sz="1700">
                <a:solidFill>
                  <a:srgbClr val="212121"/>
                </a:solidFill>
                <a:latin typeface="Arial"/>
              </a:rPr>
              <a:t>Gli operatori sono ruoli, non persone: così non invecchia</a:t>
            </a:r>
          </a:p>
          <a:p>
            <a:pPr marL="285750" indent="-228600" lvl="0">
              <a:spcAft>
                <a:spcPts val="1000"/>
              </a:spcAft>
              <a:buClr>
                <a:srgbClr val="1B3A5F"/>
              </a:buClr>
              <a:buFont typeface="Arial"/>
              <a:buChar char="•"/>
            </a:pPr>
            <a:r>
              <a:rPr sz="1700">
                <a:solidFill>
                  <a:srgbClr val="212121"/>
                </a:solidFill>
                <a:latin typeface="Arial"/>
              </a:rPr>
              <a:t>Cambiare un corso non richiede di toccare il prompt</a:t>
            </a:r>
          </a:p>
        </p:txBody>
      </p:sp>
      <p:sp>
        <p:nvSpPr>
          <p:cNvPr id="4" name="TextBox 3"/>
          <p:cNvSpPr txBox="1"/>
          <p:nvPr/>
        </p:nvSpPr>
        <p:spPr>
          <a:xfrm>
            <a:off x="4662000" y="1150000"/>
            <a:ext cx="430200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 data/tassonomia.yaml</a:t>
            </a:r>
          </a:p>
          <a:p>
            <a:pPr algn="l"/>
            <a:r>
              <a:rPr sz="1050" b="0" i="0">
                <a:solidFill>
                  <a:srgbClr val="212121"/>
                </a:solidFill>
                <a:latin typeface="Courier New"/>
              </a:rPr>
              <a:t>tipologie:</a:t>
            </a:r>
          </a:p>
          <a:p>
            <a:pPr algn="l"/>
            <a:r>
              <a:rPr sz="1050" b="0" i="0">
                <a:solidFill>
                  <a:srgbClr val="212121"/>
                </a:solidFill>
                <a:latin typeface="Courier New"/>
              </a:rPr>
              <a:t>  - id: attestato</a:t>
            </a:r>
          </a:p>
          <a:p>
            <a:pPr algn="l"/>
            <a:r>
              <a:rPr sz="1050" b="0" i="0">
                <a:solidFill>
                  <a:srgbClr val="212121"/>
                </a:solidFill>
                <a:latin typeface="Courier New"/>
              </a:rPr>
              <a:t>    descrizione: "Rilascio, correzione</a:t>
            </a:r>
          </a:p>
          <a:p>
            <a:pPr algn="l"/>
            <a:r>
              <a:rPr sz="1050" b="0" i="0">
                <a:solidFill>
                  <a:srgbClr val="212121"/>
                </a:solidFill>
                <a:latin typeface="Courier New"/>
              </a:rPr>
              <a:t>      o reinvio dell'attestato"</a:t>
            </a:r>
          </a:p>
          <a:p>
            <a:pPr algn="l"/>
            <a:r>
              <a:rPr sz="1050" b="0" i="0">
                <a:solidFill>
                  <a:srgbClr val="212121"/>
                </a:solidFill>
                <a:latin typeface="Courier New"/>
              </a:rPr>
              <a:t>  - id: fatturazione</a:t>
            </a:r>
          </a:p>
          <a:p>
            <a:pPr algn="l"/>
            <a:r>
              <a:rPr sz="1050" b="0" i="0">
                <a:solidFill>
                  <a:srgbClr val="212121"/>
                </a:solidFill>
                <a:latin typeface="Courier New"/>
              </a:rPr>
              <a:t>    descrizione: "Fatture, CIG, split</a:t>
            </a:r>
          </a:p>
          <a:p>
            <a:pPr algn="l"/>
            <a:r>
              <a:rPr sz="1050" b="0" i="0">
                <a:solidFill>
                  <a:srgbClr val="212121"/>
                </a:solidFill>
                <a:latin typeface="Courier New"/>
              </a:rPr>
              <a:t>      payment, pagamenti"</a:t>
            </a:r>
          </a:p>
          <a:p>
            <a:pPr algn="l"/>
            <a:r>
              <a:rPr sz="1050" b="0" i="0">
                <a:solidFill>
                  <a:srgbClr val="212121"/>
                </a:solidFill>
                <a:latin typeface="Courier New"/>
              </a:rPr>
              <a:t>operatori:</a:t>
            </a:r>
          </a:p>
          <a:p>
            <a:pPr algn="l"/>
            <a:r>
              <a:rPr sz="1050" b="0" i="0">
                <a:solidFill>
                  <a:srgbClr val="212121"/>
                </a:solidFill>
                <a:latin typeface="Courier New"/>
              </a:rPr>
              <a:t>  - id: segreteria-didattica</a:t>
            </a:r>
          </a:p>
          <a:p>
            <a:pPr algn="l"/>
            <a:r>
              <a:rPr sz="1050" b="0" i="0">
                <a:solidFill>
                  <a:srgbClr val="212121"/>
                </a:solidFill>
                <a:latin typeface="Courier New"/>
              </a:rPr>
              <a:t>    competenze: [iscrizione, attestato,</a:t>
            </a:r>
          </a:p>
          <a:p>
            <a:pPr algn="l"/>
            <a:r>
              <a:rPr sz="1050" b="0" i="0">
                <a:solidFill>
                  <a:srgbClr val="212121"/>
                </a:solidFill>
                <a:latin typeface="Courier New"/>
              </a:rPr>
              <a:t>                 informazioni]</a:t>
            </a:r>
          </a:p>
          <a:p>
            <a:pPr algn="l"/>
            <a:r>
              <a:rPr sz="1050" b="0" i="0">
                <a:solidFill>
                  <a:srgbClr val="212121"/>
                </a:solidFill>
                <a:latin typeface="Courier New"/>
              </a:rPr>
              <a:t>  - id: amministrazione</a:t>
            </a:r>
          </a:p>
          <a:p>
            <a:pPr algn="l"/>
            <a:r>
              <a:rPr sz="1050" b="0" i="0">
                <a:solidFill>
                  <a:srgbClr val="212121"/>
                </a:solidFill>
                <a:latin typeface="Courier New"/>
              </a:rPr>
              <a:t>    competenze: [fatturazione]</a:t>
            </a:r>
          </a:p>
          <a:p>
            <a:pPr algn="l"/>
            <a:r>
              <a:rPr sz="1050" b="0" i="0">
                <a:solidFill>
                  <a:srgbClr val="212121"/>
                </a:solidFill>
                <a:latin typeface="Courier New"/>
              </a:rPr>
              <a:t>soglia_confidenza: 0.7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Esigenza 3: classificazione 2/2</a:t>
            </a:r>
          </a:p>
        </p:txBody>
      </p:sp>
      <p:sp>
        <p:nvSpPr>
          <p:cNvPr id="3" name="TextBox 2"/>
          <p:cNvSpPr txBox="1"/>
          <p:nvPr/>
        </p:nvSpPr>
        <p:spPr>
          <a:xfrm>
            <a:off x="180000" y="1134300"/>
            <a:ext cx="4477680" cy="3400000"/>
          </a:xfrm>
          <a:prstGeom prst="rect">
            <a:avLst/>
          </a:prstGeom>
          <a:noFill/>
        </p:spPr>
        <p:txBody>
          <a:bodyPr wrap="square" lIns="0">
            <a:spAutoFit/>
          </a:bodyPr>
          <a:lstStyle/>
          <a:p>
            <a:pPr marL="285750" indent="-228600" lvl="0">
              <a:spcAft>
                <a:spcPts val="1000"/>
              </a:spcAft>
              <a:buClr>
                <a:srgbClr val="1B3A5F"/>
              </a:buClr>
              <a:buFont typeface="Arial"/>
              <a:buChar char="•"/>
            </a:pPr>
            <a:r>
              <a:rPr sz="1700">
                <a:solidFill>
                  <a:srgbClr val="212121"/>
                </a:solidFill>
                <a:latin typeface="Arial"/>
              </a:rPr>
              <a:t>Output strutturato: il modello restituisce questo oggetto o un errore. Mai testo libero</a:t>
            </a:r>
          </a:p>
          <a:p>
            <a:pPr marL="285750" indent="-228600" lvl="0">
              <a:spcAft>
                <a:spcPts val="1000"/>
              </a:spcAft>
              <a:buClr>
                <a:srgbClr val="1B3A5F"/>
              </a:buClr>
              <a:buFont typeface="Arial"/>
              <a:buChar char="•"/>
            </a:pPr>
            <a:r>
              <a:rPr sz="1700">
                <a:solidFill>
                  <a:srgbClr val="212121"/>
                </a:solidFill>
                <a:latin typeface="Arial"/>
              </a:rPr>
              <a:t>La confidenza è dichiarata e decide se assegnare o fermarsi</a:t>
            </a:r>
          </a:p>
          <a:p>
            <a:pPr marL="285750" indent="-228600" lvl="0">
              <a:spcAft>
                <a:spcPts val="1000"/>
              </a:spcAft>
              <a:buClr>
                <a:srgbClr val="1B3A5F"/>
              </a:buClr>
              <a:buFont typeface="Arial"/>
              <a:buChar char="•"/>
            </a:pPr>
            <a:r>
              <a:rPr sz="1700">
                <a:solidFill>
                  <a:srgbClr val="212121"/>
                </a:solidFill>
                <a:latin typeface="Arial"/>
              </a:rPr>
              <a:t>Sotto 0,7 la richiesta va in coda umana. È il punto di controllo</a:t>
            </a:r>
          </a:p>
        </p:txBody>
      </p:sp>
      <p:sp>
        <p:nvSpPr>
          <p:cNvPr id="4" name="TextBox 3"/>
          <p:cNvSpPr txBox="1"/>
          <p:nvPr/>
        </p:nvSpPr>
        <p:spPr>
          <a:xfrm>
            <a:off x="4837680" y="1150000"/>
            <a:ext cx="412632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a:t>
            </a:r>
          </a:p>
          <a:p>
            <a:pPr algn="l"/>
            <a:r>
              <a:rPr sz="1050" b="0" i="0">
                <a:solidFill>
                  <a:srgbClr val="212121"/>
                </a:solidFill>
                <a:latin typeface="Courier New"/>
              </a:rPr>
              <a:t>  "corso": "bilancio-enti-locali",</a:t>
            </a:r>
          </a:p>
          <a:p>
            <a:pPr algn="l"/>
            <a:r>
              <a:rPr sz="1050" b="0" i="0">
                <a:solidFill>
                  <a:srgbClr val="212121"/>
                </a:solidFill>
                <a:latin typeface="Courier New"/>
              </a:rPr>
              <a:t>  "tipologia": "reclamo",</a:t>
            </a:r>
          </a:p>
          <a:p>
            <a:pPr algn="l"/>
            <a:r>
              <a:rPr sz="1050" b="0" i="0">
                <a:solidFill>
                  <a:srgbClr val="212121"/>
                </a:solidFill>
                <a:latin typeface="Courier New"/>
              </a:rPr>
              <a:t>  "urgenza": "alta",</a:t>
            </a:r>
          </a:p>
          <a:p>
            <a:pPr algn="l"/>
            <a:r>
              <a:rPr sz="1050" b="0" i="0">
                <a:solidFill>
                  <a:srgbClr val="212121"/>
                </a:solidFill>
                <a:latin typeface="Courier New"/>
              </a:rPr>
              <a:t>  "operatore": "direzione",</a:t>
            </a:r>
          </a:p>
          <a:p>
            <a:pPr algn="l"/>
            <a:r>
              <a:rPr sz="1050" b="0" i="0">
                <a:solidFill>
                  <a:srgbClr val="212121"/>
                </a:solidFill>
                <a:latin typeface="Courier New"/>
              </a:rPr>
              <a:t>  "confidenza": 0.89,</a:t>
            </a:r>
          </a:p>
          <a:p>
            <a:pPr algn="l"/>
            <a:r>
              <a:rPr sz="1050" b="0" i="0">
                <a:solidFill>
                  <a:srgbClr val="212121"/>
                </a:solidFill>
                <a:latin typeface="Courier New"/>
              </a:rPr>
              <a:t>  "campo_meno_sicuro": "urgenza",</a:t>
            </a:r>
          </a:p>
          <a:p>
            <a:pPr algn="l"/>
            <a:r>
              <a:rPr sz="1050" b="0" i="0">
                <a:solidFill>
                  <a:srgbClr val="212121"/>
                </a:solidFill>
                <a:latin typeface="Courier New"/>
              </a:rPr>
              <a:t>  "riassunto": "Pontedera: terzo sollecito</a:t>
            </a:r>
          </a:p>
          <a:p>
            <a:pPr algn="l"/>
            <a:r>
              <a:rPr sz="1050" b="0" i="0">
                <a:solidFill>
                  <a:srgbClr val="212121"/>
                </a:solidFill>
                <a:latin typeface="Courier New"/>
              </a:rPr>
              <a:t>    per l'attestato, minaccia escalation</a:t>
            </a:r>
          </a:p>
          <a:p>
            <a:pPr algn="l"/>
            <a:r>
              <a:rPr sz="1050" b="0" i="0">
                <a:solidFill>
                  <a:srgbClr val="212121"/>
                </a:solidFill>
                <a:latin typeface="Courier New"/>
              </a:rPr>
              <a:t>    entro venerdì"</a:t>
            </a:r>
          </a:p>
          <a:p>
            <a:pPr algn="l"/>
            <a:r>
              <a:rPr sz="1050" b="0" i="0">
                <a:solidFill>
                  <a:srgbClr val="212121"/>
                </a:solidFill>
                <a:latin typeface="Courier New"/>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Ogni voce ha una descrizione breve: serve al modello quanto agli operatori</a:t>
            </a:r>
          </a:p>
          <a:p>
            <a:pPr marL="285750" indent="-228600" lvl="0">
              <a:spcAft>
                <a:spcPts val="1400"/>
              </a:spcAft>
              <a:buClr>
                <a:srgbClr val="1B3A5F"/>
              </a:buClr>
              <a:buFont typeface="Arial"/>
              <a:buChar char="•"/>
            </a:pPr>
            <a:r>
              <a:rPr sz="2200">
                <a:solidFill>
                  <a:srgbClr val="212121"/>
                </a:solidFill>
                <a:latin typeface="Arial"/>
              </a:rPr>
              <a:t>Le voci sono poche e non si sovrappongono. Se due voci litigano, il modello sbaglia</a:t>
            </a:r>
          </a:p>
          <a:p>
            <a:pPr marL="285750" indent="-228600" lvl="0">
              <a:spcAft>
                <a:spcPts val="1400"/>
              </a:spcAft>
              <a:buClr>
                <a:srgbClr val="1B3A5F"/>
              </a:buClr>
              <a:buFont typeface="Arial"/>
              <a:buChar char="•"/>
            </a:pPr>
            <a:r>
              <a:rPr sz="2200">
                <a:solidFill>
                  <a:srgbClr val="212121"/>
                </a:solidFill>
                <a:latin typeface="Arial"/>
              </a:rPr>
              <a:t>C'è sempre una voce 'altro', ed è un termometro, non una discarica</a:t>
            </a:r>
          </a:p>
        </p:txBody>
      </p:sp>
      <p:sp>
        <p:nvSpPr>
          <p:cNvPr id="3" name="Title 2"/>
          <p:cNvSpPr>
            <a:spLocks noGrp="1"/>
          </p:cNvSpPr>
          <p:nvPr>
            <p:ph type="title"/>
          </p:nvPr>
        </p:nvSpPr>
        <p:spPr/>
        <p:txBody>
          <a:bodyPr/>
          <a:lstStyle/>
          <a:p>
            <a:pPr algn="l"/>
            <a:r>
              <a:rPr sz="2700" b="1">
                <a:solidFill>
                  <a:srgbClr val="1B3A5F"/>
                </a:solidFill>
                <a:latin typeface="Arial"/>
              </a:rPr>
              <a:t>La tassonomia si scrive così</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Gli operatori sono ruoli, non persone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Nel file c'è 'segreteria didattica', non il nome di chi ci lavora oggi</a:t>
            </a:r>
          </a:p>
          <a:p>
            <a:pPr marL="285750" indent="-228600" lvl="0">
              <a:spcAft>
                <a:spcPts val="1200"/>
              </a:spcAft>
              <a:buClr>
                <a:srgbClr val="1B3A5F"/>
              </a:buClr>
              <a:buFont typeface="Arial"/>
              <a:buChar char="•"/>
            </a:pPr>
            <a:r>
              <a:rPr sz="1900">
                <a:solidFill>
                  <a:srgbClr val="212121"/>
                </a:solidFill>
                <a:latin typeface="Arial"/>
              </a:rPr>
              <a:t>Se qualcuno cambia mansione o va in maternità, la tassonomia non invecchia</a:t>
            </a:r>
          </a:p>
          <a:p>
            <a:pPr marL="285750" indent="-228600" lvl="0">
              <a:spcAft>
                <a:spcPts val="1200"/>
              </a:spcAft>
              <a:buClr>
                <a:srgbClr val="1B3A5F"/>
              </a:buClr>
              <a:buFont typeface="Arial"/>
              <a:buChar char="•"/>
            </a:pPr>
            <a:r>
              <a:rPr sz="1900">
                <a:solidFill>
                  <a:srgbClr val="212121"/>
                </a:solidFill>
                <a:latin typeface="Arial"/>
              </a:rPr>
              <a:t>Il ruolo porta con sé le competenze, e la regola di assegnazione segue da sola</a:t>
            </a:r>
          </a:p>
        </p:txBody>
      </p:sp>
      <p:pic>
        <p:nvPicPr>
          <p:cNvPr id="4" name="Picture 3" descr="hd_ruol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Stati e scadenze sono deterministici: nuova, presa in carico, in attesa, chiusa. Nessuna AI</a:t>
            </a:r>
          </a:p>
          <a:p>
            <a:pPr marL="285750" indent="-228600" lvl="0">
              <a:spcAft>
                <a:spcPts val="1400"/>
              </a:spcAft>
              <a:buClr>
                <a:srgbClr val="1B3A5F"/>
              </a:buClr>
              <a:buFont typeface="Arial"/>
              <a:buChar char="•"/>
            </a:pPr>
            <a:r>
              <a:rPr sz="2200">
                <a:solidFill>
                  <a:srgbClr val="212121"/>
                </a:solidFill>
                <a:latin typeface="Arial"/>
              </a:rPr>
              <a:t>L'AI scrive la bozza di risposta; l'operatore la rivede e la invia</a:t>
            </a:r>
          </a:p>
          <a:p>
            <a:pPr marL="285750" indent="-228600" lvl="0">
              <a:spcAft>
                <a:spcPts val="1400"/>
              </a:spcAft>
              <a:buClr>
                <a:srgbClr val="1B3A5F"/>
              </a:buClr>
              <a:buFont typeface="Arial"/>
              <a:buChar char="•"/>
            </a:pPr>
            <a:r>
              <a:rPr sz="2200">
                <a:solidFill>
                  <a:srgbClr val="212121"/>
                </a:solidFill>
                <a:latin typeface="Arial"/>
              </a:rPr>
              <a:t>Segnaposto obbligatori dove il sistema non sa: [data], [importo], [link]</a:t>
            </a:r>
          </a:p>
        </p:txBody>
      </p:sp>
      <p:sp>
        <p:nvSpPr>
          <p:cNvPr id="3" name="Title 2"/>
          <p:cNvSpPr>
            <a:spLocks noGrp="1"/>
          </p:cNvSpPr>
          <p:nvPr>
            <p:ph type="title"/>
          </p:nvPr>
        </p:nvSpPr>
        <p:spPr/>
        <p:txBody>
          <a:bodyPr/>
          <a:lstStyle/>
          <a:p>
            <a:pPr algn="l"/>
            <a:r>
              <a:rPr sz="2700" b="1">
                <a:solidFill>
                  <a:srgbClr val="1B3A5F"/>
                </a:solidFill>
                <a:latin typeface="Arial"/>
              </a:rPr>
              <a:t>Esigenza 4: tracciamento e follow-up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Gli stati di una richiesta</a:t>
            </a:r>
          </a:p>
        </p:txBody>
      </p:sp>
      <p:pic>
        <p:nvPicPr>
          <p:cNvPr id="3" name="Picture 2" descr="stati.png"/>
          <p:cNvPicPr>
            <a:picLocks noChangeAspect="1"/>
          </p:cNvPicPr>
          <p:nvPr/>
        </p:nvPicPr>
        <p:blipFill>
          <a:blip r:embed="rId2"/>
          <a:stretch>
            <a:fillRect/>
          </a:stretch>
        </p:blipFill>
        <p:spPr>
          <a:xfrm>
            <a:off x="1229219" y="1120000"/>
            <a:ext cx="668556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Quattro stati e due date: presa in carico e scadenza. Niente di più</a:t>
            </a:r>
          </a:p>
          <a:p>
            <a:pPr marL="285750" indent="-228600" lvl="0">
              <a:spcAft>
                <a:spcPts val="800"/>
              </a:spcAft>
              <a:buClr>
                <a:srgbClr val="1B3A5F"/>
              </a:buClr>
              <a:buFont typeface="Arial"/>
              <a:buChar char="•"/>
            </a:pPr>
            <a:r>
              <a:rPr sz="1900">
                <a:solidFill>
                  <a:srgbClr val="212121"/>
                </a:solidFill>
                <a:latin typeface="Arial"/>
              </a:rPr>
              <a:t>Il passaggio indietro esiste: da 'in attesa utente' si torna a 'presa in carico'</a:t>
            </a:r>
          </a:p>
          <a:p>
            <a:pPr marL="285750" indent="-228600" lvl="0">
              <a:spcAft>
                <a:spcPts val="800"/>
              </a:spcAft>
              <a:buClr>
                <a:srgbClr val="1B3A5F"/>
              </a:buClr>
              <a:buFont typeface="Arial"/>
              <a:buChar char="•"/>
            </a:pPr>
            <a:r>
              <a:rPr sz="1900">
                <a:solidFill>
                  <a:srgbClr val="212121"/>
                </a:solidFill>
                <a:latin typeface="Arial"/>
              </a:rPr>
              <a:t>Qui non serve nessun modello, e infatti non ce n'è</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L'architettura, tutta insieme</a:t>
            </a:r>
          </a:p>
        </p:txBody>
      </p:sp>
      <p:pic>
        <p:nvPicPr>
          <p:cNvPr id="3" name="Picture 2" descr="pipeline.png"/>
          <p:cNvPicPr>
            <a:picLocks noChangeAspect="1"/>
          </p:cNvPicPr>
          <p:nvPr/>
        </p:nvPicPr>
        <p:blipFill>
          <a:blip r:embed="rId2"/>
          <a:stretch>
            <a:fillRect/>
          </a:stretch>
        </p:blipFill>
        <p:spPr>
          <a:xfrm>
            <a:off x="686865" y="1150000"/>
            <a:ext cx="7770269"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Arancio: passi con un modello. Verde: integrazione o umano. Un workflow, non un agente autonomo.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Demo dal vivo: cosa vedrete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Un GPT personalizzato in ChatGPT Business con la tassonomia come file di conoscenza</a:t>
            </a:r>
          </a:p>
          <a:p>
            <a:pPr marL="285750" indent="-228600" lvl="0">
              <a:spcAft>
                <a:spcPts val="1200"/>
              </a:spcAft>
              <a:buClr>
                <a:srgbClr val="1B3A5F"/>
              </a:buClr>
              <a:buFont typeface="Arial"/>
              <a:buChar char="•"/>
            </a:pPr>
            <a:r>
              <a:rPr sz="1900">
                <a:solidFill>
                  <a:srgbClr val="212121"/>
                </a:solidFill>
                <a:latin typeface="Arial"/>
              </a:rPr>
              <a:t>La stessa logica in 200 righe di Python con output strutturato e valutazione</a:t>
            </a:r>
          </a:p>
          <a:p>
            <a:pPr marL="285750" indent="-228600" lvl="0">
              <a:spcAft>
                <a:spcPts val="1200"/>
              </a:spcAft>
              <a:buClr>
                <a:srgbClr val="1B3A5F"/>
              </a:buClr>
              <a:buFont typeface="Arial"/>
              <a:buChar char="•"/>
            </a:pPr>
            <a:r>
              <a:rPr sz="1900">
                <a:solidFill>
                  <a:srgbClr val="212121"/>
                </a:solidFill>
                <a:latin typeface="Arial"/>
              </a:rPr>
              <a:t>La chat Zoom grezza che diventa 4 righe in tabella</a:t>
            </a:r>
          </a:p>
        </p:txBody>
      </p:sp>
      <p:pic>
        <p:nvPicPr>
          <p:cNvPr id="4" name="Picture 3" descr="c21_dem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Demo: il risultato</a:t>
            </a:r>
          </a:p>
        </p:txBody>
      </p:sp>
      <p:pic>
        <p:nvPicPr>
          <p:cNvPr id="3" name="Picture 2" descr="tabella_demo.png"/>
          <p:cNvPicPr>
            <a:picLocks noChangeAspect="1"/>
          </p:cNvPicPr>
          <p:nvPr/>
        </p:nvPicPr>
        <p:blipFill>
          <a:blip r:embed="rId2"/>
          <a:stretch>
            <a:fillRect/>
          </a:stretch>
        </p:blipFill>
        <p:spPr>
          <a:xfrm>
            <a:off x="775731" y="1150000"/>
            <a:ext cx="7592538"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Dieci righe su quaranta. Righe gialle: urgenza alta. Le colonne sono quelle della tassonomia.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R007: reclamo con sollecito. Il tono prevale sull'oggetto, e va alla direzione</a:t>
            </a:r>
          </a:p>
          <a:p>
            <a:pPr marL="285750" indent="-228600" lvl="0">
              <a:spcAft>
                <a:spcPts val="1400"/>
              </a:spcAft>
              <a:buClr>
                <a:srgbClr val="1B3A5F"/>
              </a:buClr>
              <a:buFont typeface="Arial"/>
              <a:buChar char="•"/>
            </a:pPr>
            <a:r>
              <a:rPr sz="2200">
                <a:solidFill>
                  <a:srgbClr val="212121"/>
                </a:solidFill>
                <a:latin typeface="Arial"/>
              </a:rPr>
              <a:t>RE01: attestato bloccato dalla piattaforma. Due categorie plausibili, nessuna ovvia</a:t>
            </a:r>
          </a:p>
          <a:p>
            <a:pPr marL="285750" indent="-228600" lvl="0">
              <a:spcAft>
                <a:spcPts val="1400"/>
              </a:spcAft>
              <a:buClr>
                <a:srgbClr val="1B3A5F"/>
              </a:buClr>
              <a:buFont typeface="Arial"/>
              <a:buChar char="•"/>
            </a:pPr>
            <a:r>
              <a:rPr sz="2200">
                <a:solidFill>
                  <a:srgbClr val="212121"/>
                </a:solidFill>
                <a:latin typeface="Arial"/>
              </a:rPr>
              <a:t>RE05: una notifica automatica di ordine MEPA. Non è nemmeno una domanda</a:t>
            </a:r>
          </a:p>
        </p:txBody>
      </p:sp>
      <p:sp>
        <p:nvSpPr>
          <p:cNvPr id="3" name="Title 2"/>
          <p:cNvSpPr>
            <a:spLocks noGrp="1"/>
          </p:cNvSpPr>
          <p:nvPr>
            <p:ph type="title"/>
          </p:nvPr>
        </p:nvSpPr>
        <p:spPr/>
        <p:txBody>
          <a:bodyPr/>
          <a:lstStyle/>
          <a:p>
            <a:pPr algn="l"/>
            <a:r>
              <a:rPr sz="2700" b="1">
                <a:solidFill>
                  <a:srgbClr val="1B3A5F"/>
                </a:solidFill>
                <a:latin typeface="Arial"/>
              </a:rPr>
              <a:t>Demo: le tre righe da guardare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Demo: una bozza di risposta (R007)</a:t>
            </a:r>
          </a:p>
        </p:txBody>
      </p:sp>
      <p:sp>
        <p:nvSpPr>
          <p:cNvPr id="3" name="TextBox 2"/>
          <p:cNvSpPr txBox="1"/>
          <p:nvPr/>
        </p:nvSpPr>
        <p:spPr>
          <a:xfrm>
            <a:off x="180000" y="1150000"/>
            <a:ext cx="8784000" cy="3200000"/>
          </a:xfrm>
          <a:prstGeom prst="rect">
            <a:avLst/>
          </a:prstGeom>
          <a:solidFill>
            <a:srgbClr val="E9F1F8"/>
          </a:solidFill>
          <a:ln>
            <a:solidFill>
              <a:srgbClr val="C9D6E3"/>
            </a:solidFill>
          </a:ln>
        </p:spPr>
        <p:txBody>
          <a:bodyPr wrap="square" anchor="t" lIns="90000" rIns="90000" tIns="60000" bIns="60000">
            <a:spAutoFit/>
          </a:bodyPr>
          <a:lstStyle/>
          <a:p>
            <a:pPr algn="l"/>
            <a:r>
              <a:rPr sz="1300" b="0" i="0">
                <a:solidFill>
                  <a:srgbClr val="212121"/>
                </a:solidFill>
                <a:latin typeface="Courier New"/>
              </a:rPr>
              <a:t>Gentile Ufficio Tributi,</a:t>
            </a:r>
          </a:p>
          <a:p>
            <a:pPr algn="l"/>
            <a:r>
              <a:rPr sz="1300" b="0" i="0">
                <a:solidFill>
                  <a:srgbClr val="212121"/>
                </a:solidFill>
                <a:latin typeface="Courier New"/>
              </a:rPr>
              <a:t/>
            </a:r>
          </a:p>
          <a:p>
            <a:pPr algn="l"/>
            <a:r>
              <a:rPr sz="1300" b="0" i="0">
                <a:solidFill>
                  <a:srgbClr val="212121"/>
                </a:solidFill>
                <a:latin typeface="Courier New"/>
              </a:rPr>
              <a:t>ha ragione: tre solleciti senza risposta non sono accettabili e ce ne</a:t>
            </a:r>
          </a:p>
          <a:p>
            <a:pPr algn="l"/>
            <a:r>
              <a:rPr sz="1300" b="0" i="0">
                <a:solidFill>
                  <a:srgbClr val="212121"/>
                </a:solidFill>
                <a:latin typeface="Courier New"/>
              </a:rPr>
              <a:t>scusiamo. Abbiamo verificato la sua partecipazione al corso Bilancio e</a:t>
            </a:r>
          </a:p>
          <a:p>
            <a:pPr algn="l"/>
            <a:r>
              <a:rPr sz="1300" b="0" i="0">
                <a:solidFill>
                  <a:srgbClr val="212121"/>
                </a:solidFill>
                <a:latin typeface="Courier New"/>
              </a:rPr>
              <a:t>contabilità degli enti locali e l'attestato le sarà inviato a questo</a:t>
            </a:r>
          </a:p>
          <a:p>
            <a:pPr algn="l"/>
            <a:r>
              <a:rPr sz="1300" b="0" i="0">
                <a:solidFill>
                  <a:srgbClr val="212121"/>
                </a:solidFill>
                <a:latin typeface="Courier New"/>
              </a:rPr>
              <a:t>indirizzo entro [data, prima di venerdì].</a:t>
            </a:r>
          </a:p>
          <a:p>
            <a:pPr algn="l"/>
            <a:r>
              <a:rPr sz="1300" b="0" i="0">
                <a:solidFill>
                  <a:srgbClr val="212121"/>
                </a:solidFill>
                <a:latin typeface="Courier New"/>
              </a:rPr>
              <a:t/>
            </a:r>
          </a:p>
          <a:p>
            <a:pPr algn="l"/>
            <a:r>
              <a:rPr sz="1300" b="0" i="0">
                <a:solidFill>
                  <a:srgbClr val="212121"/>
                </a:solidFill>
                <a:latin typeface="Courier New"/>
              </a:rPr>
              <a:t>Se non dovesse riceverlo, può scrivere direttamente a [contatto responsabile].</a:t>
            </a:r>
          </a:p>
          <a:p>
            <a:pPr algn="l"/>
            <a:r>
              <a:rPr sz="1300" b="0" i="0">
                <a:solidFill>
                  <a:srgbClr val="212121"/>
                </a:solidFill>
                <a:latin typeface="Courier New"/>
              </a:rPr>
              <a:t/>
            </a:r>
          </a:p>
          <a:p>
            <a:pPr algn="l"/>
            <a:r>
              <a:rPr sz="1300" b="0" i="0">
                <a:solidFill>
                  <a:srgbClr val="212121"/>
                </a:solidFill>
                <a:latin typeface="Courier New"/>
              </a:rPr>
              <a:t>Cordiali saluti,</a:t>
            </a:r>
          </a:p>
          <a:p>
            <a:pPr algn="l"/>
            <a:r>
              <a:rPr sz="1300" b="0" i="0">
                <a:solidFill>
                  <a:srgbClr val="212121"/>
                </a:solidFill>
                <a:latin typeface="Courier New"/>
              </a:rPr>
              <a:t>Segreteria Promo PA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Una data inventata è un danno; un buco visibile è dieci secondi di lavoro</a:t>
            </a:r>
          </a:p>
          <a:p>
            <a:pPr marL="285750" indent="-228600" lvl="0">
              <a:spcAft>
                <a:spcPts val="1400"/>
              </a:spcAft>
              <a:buClr>
                <a:srgbClr val="1B3A5F"/>
              </a:buClr>
              <a:buFont typeface="Arial"/>
              <a:buChar char="•"/>
            </a:pPr>
            <a:r>
              <a:rPr sz="2200">
                <a:solidFill>
                  <a:srgbClr val="212121"/>
                </a:solidFill>
                <a:latin typeface="Arial"/>
              </a:rPr>
              <a:t>La regola sta nel prompt di sistema, non nella buona volontà del modello</a:t>
            </a:r>
          </a:p>
          <a:p>
            <a:pPr marL="285750" indent="-228600" lvl="0">
              <a:spcAft>
                <a:spcPts val="1400"/>
              </a:spcAft>
              <a:buClr>
                <a:srgbClr val="1B3A5F"/>
              </a:buClr>
              <a:buFont typeface="Arial"/>
              <a:buChar char="•"/>
            </a:pPr>
            <a:r>
              <a:rPr sz="2200">
                <a:solidFill>
                  <a:srgbClr val="212121"/>
                </a:solidFill>
                <a:latin typeface="Arial"/>
              </a:rPr>
              <a:t>È il modo più semplice per rendere visibile il confine di quello che il sistema sa</a:t>
            </a:r>
          </a:p>
        </p:txBody>
      </p:sp>
      <p:sp>
        <p:nvSpPr>
          <p:cNvPr id="3" name="Title 2"/>
          <p:cNvSpPr>
            <a:spLocks noGrp="1"/>
          </p:cNvSpPr>
          <p:nvPr>
            <p:ph type="title"/>
          </p:nvPr>
        </p:nvSpPr>
        <p:spPr/>
        <p:txBody>
          <a:bodyPr/>
          <a:lstStyle/>
          <a:p>
            <a:pPr algn="l"/>
            <a:r>
              <a:rPr sz="2700" b="1">
                <a:solidFill>
                  <a:srgbClr val="1B3A5F"/>
                </a:solidFill>
                <a:latin typeface="Arial"/>
              </a:rPr>
              <a:t>Demo: perché ci sono i segnaposto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Dodici richieste vere</a:t>
            </a:r>
          </a:p>
        </p:txBody>
      </p:sp>
      <p:pic>
        <p:nvPicPr>
          <p:cNvPr id="3" name="Picture 2" descr="hd_dodici.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Dodici richieste arrivate davvero alla Fondazione, anonimizzate, importate nel repository.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Dieci su dodici hanno corso 'nessuno': il catalogo vero non è quello della tassonomia di prova</a:t>
            </a:r>
          </a:p>
          <a:p>
            <a:pPr marL="285750" indent="-228600" lvl="0">
              <a:spcAft>
                <a:spcPts val="1400"/>
              </a:spcAft>
              <a:buClr>
                <a:srgbClr val="1B3A5F"/>
              </a:buClr>
              <a:buFont typeface="Arial"/>
              <a:buChar char="•"/>
            </a:pPr>
            <a:r>
              <a:rPr sz="2200">
                <a:solidFill>
                  <a:srgbClr val="212121"/>
                </a:solidFill>
                <a:latin typeface="Arial"/>
              </a:rPr>
              <a:t>Lavoro agile, cyber security, OIV, performance, società partecipate: non c'erano</a:t>
            </a:r>
          </a:p>
          <a:p>
            <a:pPr marL="285750" indent="-228600" lvl="0">
              <a:spcAft>
                <a:spcPts val="1400"/>
              </a:spcAft>
              <a:buClr>
                <a:srgbClr val="1B3A5F"/>
              </a:buClr>
              <a:buFont typeface="Arial"/>
              <a:buChar char="•"/>
            </a:pPr>
            <a:r>
              <a:rPr sz="2200">
                <a:solidFill>
                  <a:srgbClr val="212121"/>
                </a:solidFill>
                <a:latin typeface="Arial"/>
              </a:rPr>
              <a:t>Non è un errore del modello. È la tassonomia che va riscritta sul catalogo vostro</a:t>
            </a:r>
          </a:p>
        </p:txBody>
      </p:sp>
      <p:sp>
        <p:nvSpPr>
          <p:cNvPr id="3" name="Title 2"/>
          <p:cNvSpPr>
            <a:spLocks noGrp="1"/>
          </p:cNvSpPr>
          <p:nvPr>
            <p:ph type="title"/>
          </p:nvPr>
        </p:nvSpPr>
        <p:spPr/>
        <p:txBody>
          <a:bodyPr/>
          <a:lstStyle/>
          <a:p>
            <a:pPr algn="l"/>
            <a:r>
              <a:rPr sz="2700" b="1">
                <a:solidFill>
                  <a:srgbClr val="1B3A5F"/>
                </a:solidFill>
                <a:latin typeface="Arial"/>
              </a:rPr>
              <a:t>Cosa ci hanno insegnato le dodici 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Tre richieste su dodici sono commerciali: preventivi, sconti, codici MEPA</a:t>
            </a:r>
          </a:p>
          <a:p>
            <a:pPr marL="285750" indent="-228600" lvl="0">
              <a:spcAft>
                <a:spcPts val="1400"/>
              </a:spcAft>
              <a:buClr>
                <a:srgbClr val="1B3A5F"/>
              </a:buClr>
              <a:buFont typeface="Arial"/>
              <a:buChar char="•"/>
            </a:pPr>
            <a:r>
              <a:rPr sz="2200">
                <a:solidFill>
                  <a:srgbClr val="212121"/>
                </a:solidFill>
                <a:latin typeface="Arial"/>
              </a:rPr>
              <a:t>La tassonomia non ha una voce per il commerciale, e le abbiamo messe sotto fatturazione</a:t>
            </a:r>
          </a:p>
          <a:p>
            <a:pPr marL="285750" indent="-228600" lvl="0">
              <a:spcAft>
                <a:spcPts val="1400"/>
              </a:spcAft>
              <a:buClr>
                <a:srgbClr val="1B3A5F"/>
              </a:buClr>
              <a:buFont typeface="Arial"/>
              <a:buChar char="•"/>
            </a:pPr>
            <a:r>
              <a:rPr sz="2200">
                <a:solidFill>
                  <a:srgbClr val="212121"/>
                </a:solidFill>
                <a:latin typeface="Arial"/>
              </a:rPr>
              <a:t>È l'approssimazione migliore disponibile, ed è comunque sbagliata</a:t>
            </a:r>
          </a:p>
        </p:txBody>
      </p:sp>
      <p:sp>
        <p:nvSpPr>
          <p:cNvPr id="3" name="Title 2"/>
          <p:cNvSpPr>
            <a:spLocks noGrp="1"/>
          </p:cNvSpPr>
          <p:nvPr>
            <p:ph type="title"/>
          </p:nvPr>
        </p:nvSpPr>
        <p:spPr/>
        <p:txBody>
          <a:bodyPr/>
          <a:lstStyle/>
          <a:p>
            <a:pPr algn="l"/>
            <a:r>
              <a:rPr sz="2700" b="1">
                <a:solidFill>
                  <a:srgbClr val="1B3A5F"/>
                </a:solidFill>
                <a:latin typeface="Arial"/>
              </a:rPr>
              <a:t>Cosa ci hanno insegnato le dodici 2/3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Una richiesta su dodici non è una richiesta: è l'avviso automatico di una casella dismessa</a:t>
            </a:r>
          </a:p>
          <a:p>
            <a:pPr marL="285750" indent="-228600" lvl="0">
              <a:spcAft>
                <a:spcPts val="1400"/>
              </a:spcAft>
              <a:buClr>
                <a:srgbClr val="1B3A5F"/>
              </a:buClr>
              <a:buFont typeface="Arial"/>
              <a:buChar char="•"/>
            </a:pPr>
            <a:r>
              <a:rPr sz="2200">
                <a:solidFill>
                  <a:srgbClr val="212121"/>
                </a:solidFill>
                <a:latin typeface="Arial"/>
              </a:rPr>
              <a:t>Il modello l'ha classificata come 'informazioni' e l'ha mandata alla segreteria</a:t>
            </a:r>
          </a:p>
          <a:p>
            <a:pPr marL="285750" indent="-228600" lvl="0">
              <a:spcAft>
                <a:spcPts val="1400"/>
              </a:spcAft>
              <a:buClr>
                <a:srgbClr val="1B3A5F"/>
              </a:buClr>
              <a:buFont typeface="Arial"/>
              <a:buChar char="•"/>
            </a:pPr>
            <a:r>
              <a:rPr sz="2200">
                <a:solidFill>
                  <a:srgbClr val="212121"/>
                </a:solidFill>
                <a:latin typeface="Arial"/>
              </a:rPr>
              <a:t>Un sistema che smista tutto smista anche il rumore. Serve una voce per buttare via</a:t>
            </a:r>
          </a:p>
        </p:txBody>
      </p:sp>
      <p:sp>
        <p:nvSpPr>
          <p:cNvPr id="3" name="Title 2"/>
          <p:cNvSpPr>
            <a:spLocks noGrp="1"/>
          </p:cNvSpPr>
          <p:nvPr>
            <p:ph type="title"/>
          </p:nvPr>
        </p:nvSpPr>
        <p:spPr/>
        <p:txBody>
          <a:bodyPr/>
          <a:lstStyle/>
          <a:p>
            <a:pPr algn="l"/>
            <a:r>
              <a:rPr sz="2700" b="1">
                <a:solidFill>
                  <a:srgbClr val="1B3A5F"/>
                </a:solidFill>
                <a:latin typeface="Arial"/>
              </a:rPr>
              <a:t>Cosa ci hanno insegnato le dodici 3/3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4_limiti.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15 minuti</a:t>
            </a:r>
          </a:p>
        </p:txBody>
      </p:sp>
      <p:sp>
        <p:nvSpPr>
          <p:cNvPr id="3" name="Title 2"/>
          <p:cNvSpPr>
            <a:spLocks noGrp="1"/>
          </p:cNvSpPr>
          <p:nvPr>
            <p:ph type="title"/>
          </p:nvPr>
        </p:nvSpPr>
        <p:spPr/>
        <p:txBody>
          <a:bodyPr/>
          <a:lstStyle/>
          <a:p>
            <a:r>
              <a:rPr sz="3200" b="1">
                <a:solidFill>
                  <a:srgbClr val="FFFFFF"/>
                </a:solidFill>
                <a:latin typeface="Arial"/>
              </a:rPr>
              <a:t>4. Limiti e rischi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Serve un campione etichettato a mano: 100-200 richieste, due persone, poi confronto</a:t>
            </a:r>
          </a:p>
          <a:p>
            <a:pPr marL="285750" indent="-228600" lvl="0">
              <a:spcAft>
                <a:spcPts val="1400"/>
              </a:spcAft>
              <a:buClr>
                <a:srgbClr val="1B3A5F"/>
              </a:buClr>
              <a:buFont typeface="Arial"/>
              <a:buChar char="•"/>
            </a:pPr>
            <a:r>
              <a:rPr sz="2200">
                <a:solidFill>
                  <a:srgbClr val="212121"/>
                </a:solidFill>
                <a:latin typeface="Arial"/>
              </a:rPr>
              <a:t>Dove le due persone non concordano, il problema è la tassonomia, non il modello</a:t>
            </a:r>
          </a:p>
          <a:p>
            <a:pPr marL="285750" indent="-228600" lvl="0">
              <a:spcAft>
                <a:spcPts val="1400"/>
              </a:spcAft>
              <a:buClr>
                <a:srgbClr val="1B3A5F"/>
              </a:buClr>
              <a:buFont typeface="Arial"/>
              <a:buChar char="•"/>
            </a:pPr>
            <a:r>
              <a:rPr sz="2200">
                <a:solidFill>
                  <a:srgbClr val="212121"/>
                </a:solidFill>
                <a:latin typeface="Arial"/>
              </a:rPr>
              <a:t>Quello che segue è misurato sul repository, oggi, con quaranta richieste</a:t>
            </a:r>
          </a:p>
        </p:txBody>
      </p:sp>
      <p:sp>
        <p:nvSpPr>
          <p:cNvPr id="3" name="Title 2"/>
          <p:cNvSpPr>
            <a:spLocks noGrp="1"/>
          </p:cNvSpPr>
          <p:nvPr>
            <p:ph type="title"/>
          </p:nvPr>
        </p:nvSpPr>
        <p:spPr/>
        <p:txBody>
          <a:bodyPr/>
          <a:lstStyle/>
          <a:p>
            <a:pPr algn="l"/>
            <a:r>
              <a:rPr sz="2700" b="1">
                <a:solidFill>
                  <a:srgbClr val="1B3A5F"/>
                </a:solidFill>
                <a:latin typeface="Arial"/>
              </a:rPr>
              <a:t>L'accuratezza si misura, non si stima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 numeri di questa esecuzione</a:t>
            </a:r>
          </a:p>
        </p:txBody>
      </p:sp>
      <p:pic>
        <p:nvPicPr>
          <p:cNvPr id="3" name="Picture 2" descr="accuratezza.png"/>
          <p:cNvPicPr>
            <a:picLocks noChangeAspect="1"/>
          </p:cNvPicPr>
          <p:nvPr/>
        </p:nvPicPr>
        <p:blipFill>
          <a:blip r:embed="rId2"/>
          <a:stretch>
            <a:fillRect/>
          </a:stretch>
        </p:blipFill>
        <p:spPr>
          <a:xfrm>
            <a:off x="683929" y="1150000"/>
            <a:ext cx="7776142"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gpt-5-mini, 40 richieste, 10 settembre 2026. Etichette di riferimento scritte a mano.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modello è sicuro anche quando sbaglia</a:t>
            </a:r>
          </a:p>
        </p:txBody>
      </p:sp>
      <p:pic>
        <p:nvPicPr>
          <p:cNvPr id="3" name="Picture 2" descr="confidenza.png"/>
          <p:cNvPicPr>
            <a:picLocks noChangeAspect="1"/>
          </p:cNvPicPr>
          <p:nvPr/>
        </p:nvPicPr>
        <p:blipFill>
          <a:blip r:embed="rId2"/>
          <a:stretch>
            <a:fillRect/>
          </a:stretch>
        </p:blipFill>
        <p:spPr>
          <a:xfrm>
            <a:off x="180000" y="1150000"/>
            <a:ext cx="8784000" cy="2869709"/>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Nessuna richiesta è scesa sotto la soglia. Sedici su quaranta avevano almeno un campo sbagliato.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La confidenza dichiarata non è una probabilità: è un numero che il modello sceglie</a:t>
            </a:r>
          </a:p>
          <a:p>
            <a:pPr marL="285750" indent="-228600" lvl="0">
              <a:spcAft>
                <a:spcPts val="1400"/>
              </a:spcAft>
              <a:buClr>
                <a:srgbClr val="1B3A5F"/>
              </a:buClr>
              <a:buFont typeface="Arial"/>
              <a:buChar char="•"/>
            </a:pPr>
            <a:r>
              <a:rPr sz="2200">
                <a:solidFill>
                  <a:srgbClr val="212121"/>
                </a:solidFill>
                <a:latin typeface="Arial"/>
              </a:rPr>
              <a:t>Le crocette rosse stanno a destra della soglia quanto i pallini blu</a:t>
            </a:r>
          </a:p>
          <a:p>
            <a:pPr marL="285750" indent="-228600" lvl="0">
              <a:spcAft>
                <a:spcPts val="1400"/>
              </a:spcAft>
              <a:buClr>
                <a:srgbClr val="1B3A5F"/>
              </a:buClr>
              <a:buFont typeface="Arial"/>
              <a:buChar char="•"/>
            </a:pPr>
            <a:r>
              <a:rPr sz="2200">
                <a:solidFill>
                  <a:srgbClr val="212121"/>
                </a:solidFill>
                <a:latin typeface="Arial"/>
              </a:rPr>
              <a:t>La coda umana va tarata sui dati, non sul numero che il modello si autoassegna</a:t>
            </a:r>
          </a:p>
        </p:txBody>
      </p:sp>
      <p:sp>
        <p:nvSpPr>
          <p:cNvPr id="3" name="Title 2"/>
          <p:cNvSpPr>
            <a:spLocks noGrp="1"/>
          </p:cNvSpPr>
          <p:nvPr>
            <p:ph type="title"/>
          </p:nvPr>
        </p:nvSpPr>
        <p:spPr/>
        <p:txBody>
          <a:bodyPr/>
          <a:lstStyle/>
          <a:p>
            <a:pPr algn="l"/>
            <a:r>
              <a:rPr sz="2700" b="1">
                <a:solidFill>
                  <a:srgbClr val="1B3A5F"/>
                </a:solidFill>
                <a:latin typeface="Arial"/>
              </a:rPr>
              <a:t>Cosa dice quel grafico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Dove si concentrano gli errori</a:t>
            </a:r>
          </a:p>
        </p:txBody>
      </p:sp>
      <p:pic>
        <p:nvPicPr>
          <p:cNvPr id="3" name="Picture 2" descr="errori_campi.png"/>
          <p:cNvPicPr>
            <a:picLocks noChangeAspect="1"/>
          </p:cNvPicPr>
          <p:nvPr/>
        </p:nvPicPr>
        <p:blipFill>
          <a:blip r:embed="rId2"/>
          <a:stretch>
            <a:fillRect/>
          </a:stretch>
        </p:blipFill>
        <p:spPr>
          <a:xfrm>
            <a:off x="180000" y="1150000"/>
            <a:ext cx="8784000" cy="2989555"/>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Undici errori su quaranta sul campo urgenza, nessuno sul corso.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La regola dice: alta solo con vincolo di tempo esplicito o blocco di accesso</a:t>
            </a:r>
          </a:p>
          <a:p>
            <a:pPr marL="285750" indent="-228600" lvl="0">
              <a:spcAft>
                <a:spcPts val="1400"/>
              </a:spcAft>
              <a:buClr>
                <a:srgbClr val="1B3A5F"/>
              </a:buClr>
              <a:buFont typeface="Arial"/>
              <a:buChar char="•"/>
            </a:pPr>
            <a:r>
              <a:rPr sz="2200">
                <a:solidFill>
                  <a:srgbClr val="212121"/>
                </a:solidFill>
                <a:latin typeface="Arial"/>
              </a:rPr>
              <a:t>Ma 'avrei urgentemente bisogno' è un vincolo esplicito o solo un tono?</a:t>
            </a:r>
          </a:p>
          <a:p>
            <a:pPr marL="285750" indent="-228600" lvl="0">
              <a:spcAft>
                <a:spcPts val="1400"/>
              </a:spcAft>
              <a:buClr>
                <a:srgbClr val="1B3A5F"/>
              </a:buClr>
              <a:buFont typeface="Arial"/>
              <a:buChar char="•"/>
            </a:pPr>
            <a:r>
              <a:rPr sz="2200">
                <a:solidFill>
                  <a:srgbClr val="212121"/>
                </a:solidFill>
                <a:latin typeface="Arial"/>
              </a:rPr>
              <a:t>Finché non lo decidete voi, il modello sceglie, e sceglie ogni volta in modo diverso</a:t>
            </a:r>
          </a:p>
        </p:txBody>
      </p:sp>
      <p:sp>
        <p:nvSpPr>
          <p:cNvPr id="3" name="Title 2"/>
          <p:cNvSpPr>
            <a:spLocks noGrp="1"/>
          </p:cNvSpPr>
          <p:nvPr>
            <p:ph type="title"/>
          </p:nvPr>
        </p:nvSpPr>
        <p:spPr/>
        <p:txBody>
          <a:bodyPr/>
          <a:lstStyle/>
          <a:p>
            <a:pPr algn="l"/>
            <a:r>
              <a:rPr sz="2700" b="1">
                <a:solidFill>
                  <a:srgbClr val="1B3A5F"/>
                </a:solidFill>
                <a:latin typeface="Arial"/>
              </a:rPr>
              <a:t>Urgenza: perché è il campo peggiore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Se due persone della segreteria darebbero risposte diverse, non è colpa del modello</a:t>
            </a:r>
          </a:p>
          <a:p>
            <a:pPr marL="285750" indent="-228600" lvl="0">
              <a:spcAft>
                <a:spcPts val="1400"/>
              </a:spcAft>
              <a:buClr>
                <a:srgbClr val="1B3A5F"/>
              </a:buClr>
              <a:buFont typeface="Arial"/>
              <a:buChar char="•"/>
            </a:pPr>
            <a:r>
              <a:rPr sz="2200">
                <a:solidFill>
                  <a:srgbClr val="212121"/>
                </a:solidFill>
                <a:latin typeface="Arial"/>
              </a:rPr>
              <a:t>Se tutti darebbero la stessa risposta e il modello no, è colpa del modello</a:t>
            </a:r>
          </a:p>
          <a:p>
            <a:pPr marL="285750" indent="-228600" lvl="0">
              <a:spcAft>
                <a:spcPts val="1400"/>
              </a:spcAft>
              <a:buClr>
                <a:srgbClr val="1B3A5F"/>
              </a:buClr>
              <a:buFont typeface="Arial"/>
              <a:buChar char="•"/>
            </a:pPr>
            <a:r>
              <a:rPr sz="2200">
                <a:solidFill>
                  <a:srgbClr val="212121"/>
                </a:solidFill>
                <a:latin typeface="Arial"/>
              </a:rPr>
              <a:t>Il test costa venti minuti e si fa su venti richieste, prima di comprare qualsiasi cosa</a:t>
            </a:r>
          </a:p>
        </p:txBody>
      </p:sp>
      <p:sp>
        <p:nvSpPr>
          <p:cNvPr id="3" name="Title 2"/>
          <p:cNvSpPr>
            <a:spLocks noGrp="1"/>
          </p:cNvSpPr>
          <p:nvPr>
            <p:ph type="title"/>
          </p:nvPr>
        </p:nvSpPr>
        <p:spPr/>
        <p:txBody>
          <a:bodyPr/>
          <a:lstStyle/>
          <a:p>
            <a:pPr algn="l"/>
            <a:r>
              <a:rPr sz="2700" b="1">
                <a:solidFill>
                  <a:srgbClr val="1B3A5F"/>
                </a:solidFill>
                <a:latin typeface="Arial"/>
              </a:rPr>
              <a:t>Quando sbaglia il modello e quando la tassonomia</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coda umana, in pratica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Qualcuno la apre ogni mattina, o non è un controllo: è un secondo arretrato</a:t>
            </a:r>
          </a:p>
          <a:p>
            <a:pPr marL="285750" indent="-228600" lvl="0">
              <a:spcAft>
                <a:spcPts val="1200"/>
              </a:spcAft>
              <a:buClr>
                <a:srgbClr val="1B3A5F"/>
              </a:buClr>
              <a:buFont typeface="Arial"/>
              <a:buChar char="•"/>
            </a:pPr>
            <a:r>
              <a:rPr sz="1900">
                <a:solidFill>
                  <a:srgbClr val="212121"/>
                </a:solidFill>
                <a:latin typeface="Arial"/>
              </a:rPr>
              <a:t>Ogni richiesta rivista è un'etichetta gratis: rientra nel campione e migliora la misura</a:t>
            </a:r>
          </a:p>
          <a:p>
            <a:pPr marL="285750" indent="-228600" lvl="0">
              <a:spcAft>
                <a:spcPts val="1200"/>
              </a:spcAft>
              <a:buClr>
                <a:srgbClr val="1B3A5F"/>
              </a:buClr>
              <a:buFont typeface="Arial"/>
              <a:buChar char="•"/>
            </a:pPr>
            <a:r>
              <a:rPr sz="1900">
                <a:solidFill>
                  <a:srgbClr val="212121"/>
                </a:solidFill>
                <a:latin typeface="Arial"/>
              </a:rPr>
              <a:t>Se la coda resta vuota per una settimana, la soglia è tarata male</a:t>
            </a:r>
          </a:p>
        </p:txBody>
      </p:sp>
      <p:pic>
        <p:nvPicPr>
          <p:cNvPr id="4" name="Picture 3" descr="hd_cod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Cosa può andare storto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Il modello cambia versione e i numeri si spostano, senza che nessuno se ne accorga</a:t>
            </a:r>
          </a:p>
          <a:p>
            <a:pPr marL="285750" indent="-228600" lvl="0">
              <a:spcAft>
                <a:spcPts val="1200"/>
              </a:spcAft>
              <a:buClr>
                <a:srgbClr val="1B3A5F"/>
              </a:buClr>
              <a:buFont typeface="Arial"/>
              <a:buChar char="•"/>
            </a:pPr>
            <a:r>
              <a:rPr sz="1900">
                <a:solidFill>
                  <a:srgbClr val="212121"/>
                </a:solidFill>
                <a:latin typeface="Arial"/>
              </a:rPr>
              <a:t>Un caso nuovo entra in una categoria vecchia perché non ce n'è una giusta</a:t>
            </a:r>
          </a:p>
          <a:p>
            <a:pPr marL="285750" indent="-228600" lvl="0">
              <a:spcAft>
                <a:spcPts val="1200"/>
              </a:spcAft>
              <a:buClr>
                <a:srgbClr val="1B3A5F"/>
              </a:buClr>
              <a:buFont typeface="Arial"/>
              <a:buChar char="•"/>
            </a:pPr>
            <a:r>
              <a:rPr sz="1900">
                <a:solidFill>
                  <a:srgbClr val="212121"/>
                </a:solidFill>
                <a:latin typeface="Arial"/>
              </a:rPr>
              <a:t>La coda umana si riempie, nessuno la guarda, e diventa un secondo arretrato</a:t>
            </a:r>
          </a:p>
        </p:txBody>
      </p:sp>
      <p:pic>
        <p:nvPicPr>
          <p:cNvPr id="4" name="Picture 3" descr="li_stort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Da qui in poi non parlo io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Sono un informatico, non un avvocato. Quello che segue è contesto, non un parere</a:t>
            </a:r>
          </a:p>
          <a:p>
            <a:pPr marL="285750" indent="-228600" lvl="0">
              <a:spcAft>
                <a:spcPts val="1200"/>
              </a:spcAft>
              <a:buClr>
                <a:srgbClr val="1B3A5F"/>
              </a:buClr>
              <a:buFont typeface="Arial"/>
              <a:buChar char="•"/>
            </a:pPr>
            <a:r>
              <a:rPr sz="1600">
                <a:solidFill>
                  <a:srgbClr val="212121"/>
                </a:solidFill>
                <a:latin typeface="Arial"/>
              </a:rPr>
              <a:t>Nessuna slide di oggi dice se una norma si applica a voi: quella è una qualificazione giuridica</a:t>
            </a:r>
          </a:p>
          <a:p>
            <a:pPr marL="285750" indent="-228600" lvl="0">
              <a:spcAft>
                <a:spcPts val="1200"/>
              </a:spcAft>
              <a:buClr>
                <a:srgbClr val="1B3A5F"/>
              </a:buClr>
              <a:buFont typeface="Arial"/>
              <a:buChar char="•"/>
            </a:pPr>
            <a:r>
              <a:rPr sz="1600">
                <a:solidFill>
                  <a:srgbClr val="212121"/>
                </a:solidFill>
                <a:latin typeface="Arial"/>
              </a:rPr>
              <a:t>Quello che posso darvi sono le domande giuste, e dove andare a cercare</a:t>
            </a:r>
          </a:p>
        </p:txBody>
      </p:sp>
      <p:pic>
        <p:nvPicPr>
          <p:cNvPr id="4" name="Picture 3" descr="pi_scritt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Dati personali: quello che riguarda il progetto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Le richieste contengono nomi, enti e a volte situazioni personali (malattia, contenziosi)</a:t>
            </a:r>
          </a:p>
          <a:p>
            <a:pPr marL="285750" indent="-228600" lvl="0">
              <a:spcAft>
                <a:spcPts val="1200"/>
              </a:spcAft>
              <a:buClr>
                <a:srgbClr val="1B3A5F"/>
              </a:buClr>
              <a:buFont typeface="Arial"/>
              <a:buChar char="•"/>
            </a:pPr>
            <a:r>
              <a:rPr sz="1600">
                <a:solidFill>
                  <a:srgbClr val="212121"/>
                </a:solidFill>
                <a:latin typeface="Arial"/>
              </a:rPr>
              <a:t>Il testo di una richiesta esce dalla Fondazione e arriva a un fornitore esterno: è una scelta, e va decisa</a:t>
            </a:r>
          </a:p>
          <a:p>
            <a:pPr marL="285750" indent="-228600" lvl="0">
              <a:spcAft>
                <a:spcPts val="1200"/>
              </a:spcAft>
              <a:buClr>
                <a:srgbClr val="1B3A5F"/>
              </a:buClr>
              <a:buFont typeface="Arial"/>
              <a:buChar char="•"/>
            </a:pPr>
            <a:r>
              <a:rPr sz="1600">
                <a:solidFill>
                  <a:srgbClr val="212121"/>
                </a:solidFill>
                <a:latin typeface="Arial"/>
              </a:rPr>
              <a:t>Al modello serve il testo della richiesta, non lo storico del mittente: la pipeline passa solo il testo</a:t>
            </a:r>
          </a:p>
        </p:txBody>
      </p:sp>
      <p:pic>
        <p:nvPicPr>
          <p:cNvPr id="4" name="Picture 3" descr="gag_timbr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Chi risponde delle decisioni sui dati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600">
                <a:solidFill>
                  <a:srgbClr val="212121"/>
                </a:solidFill>
                <a:latin typeface="Arial"/>
              </a:rPr>
              <a:t>Prima della tecnologia serve una persona che decida se quel testo può uscire dalla Fondazione</a:t>
            </a:r>
          </a:p>
          <a:p>
            <a:pPr marL="285750" indent="-228600" lvl="0">
              <a:spcAft>
                <a:spcPts val="1200"/>
              </a:spcAft>
              <a:buClr>
                <a:srgbClr val="1B3A5F"/>
              </a:buClr>
              <a:buFont typeface="Arial"/>
              <a:buChar char="•"/>
            </a:pPr>
            <a:r>
              <a:rPr sz="1600">
                <a:solidFill>
                  <a:srgbClr val="212121"/>
                </a:solidFill>
                <a:latin typeface="Arial"/>
              </a:rPr>
              <a:t>Se oggi quella casella è vuota, riempirla è il passo zero del pilota</a:t>
            </a:r>
          </a:p>
          <a:p>
            <a:pPr marL="285750" indent="-228600" lvl="0">
              <a:spcAft>
                <a:spcPts val="1200"/>
              </a:spcAft>
              <a:buClr>
                <a:srgbClr val="1B3A5F"/>
              </a:buClr>
              <a:buFont typeface="Arial"/>
              <a:buChar char="•"/>
            </a:pPr>
            <a:r>
              <a:rPr sz="1600">
                <a:solidFill>
                  <a:srgbClr val="212121"/>
                </a:solidFill>
                <a:latin typeface="Arial"/>
              </a:rPr>
              <a:t>Chi debba riempirla, e con quale titolo, non lo decido io in questa slide</a:t>
            </a:r>
          </a:p>
        </p:txBody>
      </p:sp>
      <p:pic>
        <p:nvPicPr>
          <p:cNvPr id="4" name="Picture 3" descr="an_fornitor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1800">
                <a:solidFill>
                  <a:srgbClr val="212121"/>
                </a:solidFill>
                <a:latin typeface="Arial"/>
              </a:rPr>
              <a:t>Ci sono tre testi di cui sentirete parlare: l'AI Act europeo, la legge italiana sull'IA, le linee guida AgID</a:t>
            </a:r>
          </a:p>
          <a:p>
            <a:pPr marL="285750" indent="-228600" lvl="0">
              <a:spcAft>
                <a:spcPts val="1400"/>
              </a:spcAft>
              <a:buClr>
                <a:srgbClr val="1B3A5F"/>
              </a:buClr>
              <a:buFont typeface="Arial"/>
              <a:buChar char="•"/>
            </a:pPr>
            <a:r>
              <a:rPr sz="1800">
                <a:solidFill>
                  <a:srgbClr val="212121"/>
                </a:solidFill>
                <a:latin typeface="Arial"/>
              </a:rPr>
              <a:t>Nel 2026 le date si sono mosse più di una volta: qualunque cosa vi dica oggi va riverificata sul testo ufficiale</a:t>
            </a:r>
          </a:p>
          <a:p>
            <a:pPr marL="285750" indent="-228600" lvl="0">
              <a:spcAft>
                <a:spcPts val="1400"/>
              </a:spcAft>
              <a:buClr>
                <a:srgbClr val="1B3A5F"/>
              </a:buClr>
              <a:buFont typeface="Arial"/>
              <a:buChar char="•"/>
            </a:pPr>
            <a:r>
              <a:rPr sz="1800">
                <a:solidFill>
                  <a:srgbClr val="212121"/>
                </a:solidFill>
                <a:latin typeface="Arial"/>
              </a:rPr>
              <a:t>Nessuno di questi testi nomina l'helpdesk di una fondazione formativa: la qualificazione la fa un giurista</a:t>
            </a:r>
          </a:p>
        </p:txBody>
      </p:sp>
      <p:sp>
        <p:nvSpPr>
          <p:cNvPr id="3" name="Title 2"/>
          <p:cNvSpPr>
            <a:spLocks noGrp="1"/>
          </p:cNvSpPr>
          <p:nvPr>
            <p:ph type="title"/>
          </p:nvPr>
        </p:nvSpPr>
        <p:spPr/>
        <p:txBody>
          <a:bodyPr/>
          <a:lstStyle/>
          <a:p>
            <a:pPr algn="l"/>
            <a:r>
              <a:rPr sz="2700" b="1">
                <a:solidFill>
                  <a:srgbClr val="1B3A5F"/>
                </a:solidFill>
                <a:latin typeface="Arial"/>
              </a:rPr>
              <a:t>Il perimetro, senza conclusioni</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1700">
                <a:solidFill>
                  <a:srgbClr val="212121"/>
                </a:solidFill>
                <a:latin typeface="Arial"/>
              </a:rPr>
              <a:t>Il sistema che vogliamo costruire rientra fra quelli soggetti a obblighi rafforzati? Su quale base?</a:t>
            </a:r>
          </a:p>
          <a:p>
            <a:pPr marL="285750" indent="-228600" lvl="0">
              <a:spcAft>
                <a:spcPts val="1400"/>
              </a:spcAft>
              <a:buClr>
                <a:srgbClr val="1B3A5F"/>
              </a:buClr>
              <a:buFont typeface="Arial"/>
              <a:buChar char="•"/>
            </a:pPr>
            <a:r>
              <a:rPr sz="1700">
                <a:solidFill>
                  <a:srgbClr val="212121"/>
                </a:solidFill>
                <a:latin typeface="Arial"/>
              </a:rPr>
              <a:t>Dobbiamo dire a chi ci scrive che una parte del processo usa AI? In quale momento e con quali parole?</a:t>
            </a:r>
          </a:p>
          <a:p>
            <a:pPr marL="285750" indent="-228600" lvl="0">
              <a:spcAft>
                <a:spcPts val="1400"/>
              </a:spcAft>
              <a:buClr>
                <a:srgbClr val="1B3A5F"/>
              </a:buClr>
              <a:buFont typeface="Arial"/>
              <a:buChar char="•"/>
            </a:pPr>
            <a:r>
              <a:rPr sz="1700">
                <a:solidFill>
                  <a:srgbClr val="212121"/>
                </a:solidFill>
                <a:latin typeface="Arial"/>
              </a:rPr>
              <a:t>Con quale base giuridica trattiamo il testo delle richieste, e dove va scritta?</a:t>
            </a:r>
          </a:p>
        </p:txBody>
      </p:sp>
      <p:sp>
        <p:nvSpPr>
          <p:cNvPr id="3" name="Title 2"/>
          <p:cNvSpPr>
            <a:spLocks noGrp="1"/>
          </p:cNvSpPr>
          <p:nvPr>
            <p:ph type="title"/>
          </p:nvPr>
        </p:nvSpPr>
        <p:spPr/>
        <p:txBody>
          <a:bodyPr/>
          <a:lstStyle/>
          <a:p>
            <a:pPr algn="l"/>
            <a:r>
              <a:rPr sz="2700" b="1">
                <a:solidFill>
                  <a:srgbClr val="1B3A5F"/>
                </a:solidFill>
                <a:latin typeface="Arial"/>
              </a:rPr>
              <a:t>Le sei domande da mettere per iscritto 1/2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1700">
                <a:solidFill>
                  <a:srgbClr val="212121"/>
                </a:solidFill>
                <a:latin typeface="Arial"/>
              </a:rPr>
              <a:t>Il fornitore del modello che ruolo assume rispetto ai nostri dati, e cosa dobbiamo firmare con lui?</a:t>
            </a:r>
          </a:p>
          <a:p>
            <a:pPr marL="285750" indent="-228600" lvl="0">
              <a:spcAft>
                <a:spcPts val="1400"/>
              </a:spcAft>
              <a:buClr>
                <a:srgbClr val="1B3A5F"/>
              </a:buClr>
              <a:buFont typeface="Arial"/>
              <a:buChar char="•"/>
            </a:pPr>
            <a:r>
              <a:rPr sz="1700">
                <a:solidFill>
                  <a:srgbClr val="212121"/>
                </a:solidFill>
                <a:latin typeface="Arial"/>
              </a:rPr>
              <a:t>Serve una valutazione d'impatto prima di partire? Se sì, chi la redige e chi la firma?</a:t>
            </a:r>
          </a:p>
          <a:p>
            <a:pPr marL="285750" indent="-228600" lvl="0">
              <a:spcAft>
                <a:spcPts val="1400"/>
              </a:spcAft>
              <a:buClr>
                <a:srgbClr val="1B3A5F"/>
              </a:buClr>
              <a:buFont typeface="Arial"/>
              <a:buChar char="•"/>
            </a:pPr>
            <a:r>
              <a:rPr sz="1700">
                <a:solidFill>
                  <a:srgbClr val="212121"/>
                </a:solidFill>
                <a:latin typeface="Arial"/>
              </a:rPr>
              <a:t>Ogni umano che togliete dal ciclo allunga questa lista: cosa cambierebbe se la risposta partisse da sola?</a:t>
            </a:r>
          </a:p>
        </p:txBody>
      </p:sp>
      <p:sp>
        <p:nvSpPr>
          <p:cNvPr id="3" name="Title 2"/>
          <p:cNvSpPr>
            <a:spLocks noGrp="1"/>
          </p:cNvSpPr>
          <p:nvPr>
            <p:ph type="title"/>
          </p:nvPr>
        </p:nvSpPr>
        <p:spPr/>
        <p:txBody>
          <a:bodyPr/>
          <a:lstStyle/>
          <a:p>
            <a:pPr algn="l"/>
            <a:r>
              <a:rPr sz="2700" b="1">
                <a:solidFill>
                  <a:srgbClr val="1B3A5F"/>
                </a:solidFill>
                <a:latin typeface="Arial"/>
              </a:rPr>
              <a:t>Le sei domande da mettere per iscritto 2/2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Quanto costa davvero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Le chiamate al modello, su questi volumi, sono la voce più piccola del conto</a:t>
            </a:r>
          </a:p>
          <a:p>
            <a:pPr marL="285750" indent="-228600" lvl="0">
              <a:spcAft>
                <a:spcPts val="1200"/>
              </a:spcAft>
              <a:buClr>
                <a:srgbClr val="1B3A5F"/>
              </a:buClr>
              <a:buFont typeface="Arial"/>
              <a:buChar char="•"/>
            </a:pPr>
            <a:r>
              <a:rPr sz="1900">
                <a:solidFill>
                  <a:srgbClr val="212121"/>
                </a:solidFill>
                <a:latin typeface="Arial"/>
              </a:rPr>
              <a:t>Il costo vero è la persona che ogni trimestre guarda gli errori e aggiorna il file</a:t>
            </a:r>
          </a:p>
          <a:p>
            <a:pPr marL="285750" indent="-228600" lvl="0">
              <a:spcAft>
                <a:spcPts val="1200"/>
              </a:spcAft>
              <a:buClr>
                <a:srgbClr val="1B3A5F"/>
              </a:buClr>
              <a:buFont typeface="Arial"/>
              <a:buChar char="•"/>
            </a:pPr>
            <a:r>
              <a:rPr sz="1900">
                <a:solidFill>
                  <a:srgbClr val="212121"/>
                </a:solidFill>
                <a:latin typeface="Arial"/>
              </a:rPr>
              <a:t>Chiedete al fornitore il costo per mille richieste, e il costo di una modifica</a:t>
            </a:r>
          </a:p>
        </p:txBody>
      </p:sp>
      <p:pic>
        <p:nvPicPr>
          <p:cNvPr id="4" name="Picture 3" descr="li_cost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Manutenzione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La tassonomia invecchia: nuovi corsi, nuovi ruoli. Qualcuno la possiede e l'aggiorna</a:t>
            </a:r>
          </a:p>
          <a:p>
            <a:pPr marL="285750" indent="-228600" lvl="0">
              <a:spcAft>
                <a:spcPts val="1200"/>
              </a:spcAft>
              <a:buClr>
                <a:srgbClr val="1B3A5F"/>
              </a:buClr>
              <a:buFont typeface="Arial"/>
              <a:buChar char="•"/>
            </a:pPr>
            <a:r>
              <a:rPr sz="1900">
                <a:solidFill>
                  <a:srgbClr val="212121"/>
                </a:solidFill>
                <a:latin typeface="Arial"/>
              </a:rPr>
              <a:t>Il modello cambia: ogni cambio di versione si rimisura sul campione etichettato</a:t>
            </a:r>
          </a:p>
          <a:p>
            <a:pPr marL="285750" indent="-228600" lvl="0">
              <a:spcAft>
                <a:spcPts val="1200"/>
              </a:spcAft>
              <a:buClr>
                <a:srgbClr val="1B3A5F"/>
              </a:buClr>
              <a:buFont typeface="Arial"/>
              <a:buChar char="•"/>
            </a:pPr>
            <a:r>
              <a:rPr sz="1900">
                <a:solidFill>
                  <a:srgbClr val="212121"/>
                </a:solidFill>
                <a:latin typeface="Arial"/>
              </a:rPr>
              <a:t>La coda umana è il termometro: se supera il 30%, si rivede la tassonomia, non il modello</a:t>
            </a:r>
          </a:p>
        </p:txBody>
      </p:sp>
      <p:pic>
        <p:nvPicPr>
          <p:cNvPr id="4" name="Picture 3" descr="gag_piant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5_pilota.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15 minuti</a:t>
            </a:r>
          </a:p>
        </p:txBody>
      </p:sp>
      <p:sp>
        <p:nvSpPr>
          <p:cNvPr id="3" name="Title 2"/>
          <p:cNvSpPr>
            <a:spLocks noGrp="1"/>
          </p:cNvSpPr>
          <p:nvPr>
            <p:ph type="title"/>
          </p:nvPr>
        </p:nvSpPr>
        <p:spPr/>
        <p:txBody>
          <a:bodyPr/>
          <a:lstStyle/>
          <a:p>
            <a:r>
              <a:rPr sz="3200" b="1">
                <a:solidFill>
                  <a:srgbClr val="FFFFFF"/>
                </a:solidFill>
                <a:latin typeface="Arial"/>
              </a:rPr>
              <a:t>5. Dal caso d'uso al pilota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Passo 1: audit del flusso attuale</a:t>
            </a:r>
          </a:p>
        </p:txBody>
      </p:sp>
      <p:pic>
        <p:nvPicPr>
          <p:cNvPr id="3" name="Picture 2" descr="quattro_passi.png"/>
          <p:cNvPicPr>
            <a:picLocks noChangeAspect="1"/>
          </p:cNvPicPr>
          <p:nvPr/>
        </p:nvPicPr>
        <p:blipFill>
          <a:blip r:embed="rId2"/>
          <a:stretch>
            <a:fillRect/>
          </a:stretch>
        </p:blipFill>
        <p:spPr>
          <a:xfrm>
            <a:off x="1945529" y="1120000"/>
            <a:ext cx="525294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Contare le richieste per canale per quattro settimane, telefonate comprese</a:t>
            </a:r>
          </a:p>
          <a:p>
            <a:pPr marL="285750" indent="-228600" lvl="0">
              <a:spcAft>
                <a:spcPts val="800"/>
              </a:spcAft>
              <a:buClr>
                <a:srgbClr val="1B3A5F"/>
              </a:buClr>
              <a:buFont typeface="Arial"/>
              <a:buChar char="•"/>
            </a:pPr>
            <a:r>
              <a:rPr sz="1900">
                <a:solidFill>
                  <a:srgbClr val="212121"/>
                </a:solidFill>
                <a:latin typeface="Arial"/>
              </a:rPr>
              <a:t>Cronometrare il tempo dalla ricezione alla prima risposta, per tipologia</a:t>
            </a:r>
          </a:p>
          <a:p>
            <a:pPr marL="285750" indent="-228600" lvl="0">
              <a:spcAft>
                <a:spcPts val="800"/>
              </a:spcAft>
              <a:buClr>
                <a:srgbClr val="1B3A5F"/>
              </a:buClr>
              <a:buFont typeface="Arial"/>
              <a:buChar char="•"/>
            </a:pPr>
            <a:r>
              <a:rPr sz="1900">
                <a:solidFill>
                  <a:srgbClr val="212121"/>
                </a:solidFill>
                <a:latin typeface="Arial"/>
              </a:rPr>
              <a:t>Costo: un foglio e la costanza di compilarlo. Nessuna tecnologia</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Passo 2: tassonomia e dati etichettati</a:t>
            </a:r>
          </a:p>
        </p:txBody>
      </p:sp>
      <p:pic>
        <p:nvPicPr>
          <p:cNvPr id="3" name="Picture 2" descr="quattro_passi.png"/>
          <p:cNvPicPr>
            <a:picLocks noChangeAspect="1"/>
          </p:cNvPicPr>
          <p:nvPr/>
        </p:nvPicPr>
        <p:blipFill>
          <a:blip r:embed="rId2"/>
          <a:stretch>
            <a:fillRect/>
          </a:stretch>
        </p:blipFill>
        <p:spPr>
          <a:xfrm>
            <a:off x="1945529" y="1120000"/>
            <a:ext cx="525294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Scrivere il file con i corsi veri e i ruoli veri, non quelli di esempio</a:t>
            </a:r>
          </a:p>
          <a:p>
            <a:pPr marL="285750" indent="-228600" lvl="0">
              <a:spcAft>
                <a:spcPts val="800"/>
              </a:spcAft>
              <a:buClr>
                <a:srgbClr val="1B3A5F"/>
              </a:buClr>
              <a:buFont typeface="Arial"/>
              <a:buChar char="•"/>
            </a:pPr>
            <a:r>
              <a:rPr sz="1900">
                <a:solidFill>
                  <a:srgbClr val="212121"/>
                </a:solidFill>
                <a:latin typeface="Arial"/>
              </a:rPr>
              <a:t>Etichettare a mano 100-200 richieste storiche, due persone in parallelo</a:t>
            </a:r>
          </a:p>
          <a:p>
            <a:pPr marL="285750" indent="-228600" lvl="0">
              <a:spcAft>
                <a:spcPts val="800"/>
              </a:spcAft>
              <a:buClr>
                <a:srgbClr val="1B3A5F"/>
              </a:buClr>
              <a:buFont typeface="Arial"/>
              <a:buChar char="•"/>
            </a:pPr>
            <a:r>
              <a:rPr sz="1900">
                <a:solidFill>
                  <a:srgbClr val="212121"/>
                </a:solidFill>
                <a:latin typeface="Arial"/>
              </a:rPr>
              <a:t>Dove le due persone non concordano, si riscrive la voce. È il lavoro vero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Passo 3: prototipo a basso codice</a:t>
            </a:r>
          </a:p>
        </p:txBody>
      </p:sp>
      <p:pic>
        <p:nvPicPr>
          <p:cNvPr id="3" name="Picture 2" descr="quattro_passi.png"/>
          <p:cNvPicPr>
            <a:picLocks noChangeAspect="1"/>
          </p:cNvPicPr>
          <p:nvPr/>
        </p:nvPicPr>
        <p:blipFill>
          <a:blip r:embed="rId2"/>
          <a:stretch>
            <a:fillRect/>
          </a:stretch>
        </p:blipFill>
        <p:spPr>
          <a:xfrm>
            <a:off x="1945529" y="1120000"/>
            <a:ext cx="525294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Contenitore unico, connettori dalle caselle, classificatore, coda da verificare</a:t>
            </a:r>
          </a:p>
          <a:p>
            <a:pPr marL="285750" indent="-228600" lvl="0">
              <a:spcAft>
                <a:spcPts val="800"/>
              </a:spcAft>
              <a:buClr>
                <a:srgbClr val="1B3A5F"/>
              </a:buClr>
              <a:buFont typeface="Arial"/>
              <a:buChar char="•"/>
            </a:pPr>
            <a:r>
              <a:rPr sz="1900">
                <a:solidFill>
                  <a:srgbClr val="212121"/>
                </a:solidFill>
                <a:latin typeface="Arial"/>
              </a:rPr>
              <a:t>Un GPT personalizzato basta per cominciare: il codice serve quando volete misurare</a:t>
            </a:r>
          </a:p>
          <a:p>
            <a:pPr marL="285750" indent="-228600" lvl="0">
              <a:spcAft>
                <a:spcPts val="800"/>
              </a:spcAft>
              <a:buClr>
                <a:srgbClr val="1B3A5F"/>
              </a:buClr>
              <a:buFont typeface="Arial"/>
              <a:buChar char="•"/>
            </a:pPr>
            <a:r>
              <a:rPr sz="1900">
                <a:solidFill>
                  <a:srgbClr val="212121"/>
                </a:solidFill>
                <a:latin typeface="Arial"/>
              </a:rPr>
              <a:t>L'invio resta umano per tutto il pilota, senza eccezioni</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Passo 4: misurare un mese, poi decidere</a:t>
            </a:r>
          </a:p>
        </p:txBody>
      </p:sp>
      <p:pic>
        <p:nvPicPr>
          <p:cNvPr id="3" name="Picture 2" descr="quattro_passi.png"/>
          <p:cNvPicPr>
            <a:picLocks noChangeAspect="1"/>
          </p:cNvPicPr>
          <p:nvPr/>
        </p:nvPicPr>
        <p:blipFill>
          <a:blip r:embed="rId2"/>
          <a:stretch>
            <a:fillRect/>
          </a:stretch>
        </p:blipFill>
        <p:spPr>
          <a:xfrm>
            <a:off x="1945529" y="1120000"/>
            <a:ext cx="5252941" cy="1747935"/>
          </a:xfrm>
          <a:prstGeom prst="rect">
            <a:avLst/>
          </a:prstGeom>
        </p:spPr>
      </p:pic>
      <p:sp>
        <p:nvSpPr>
          <p:cNvPr id="4" name="TextBox 3"/>
          <p:cNvSpPr txBox="1"/>
          <p:nvPr/>
        </p:nvSpPr>
        <p:spPr>
          <a:xfrm>
            <a:off x="180000" y="3017935"/>
            <a:ext cx="8784000" cy="1582065"/>
          </a:xfrm>
          <a:prstGeom prst="rect">
            <a:avLst/>
          </a:prstGeom>
          <a:noFill/>
        </p:spPr>
        <p:txBody>
          <a:bodyPr wrap="square" lIns="0">
            <a:spAutoFit/>
          </a:bodyPr>
          <a:lstStyle/>
          <a:p>
            <a:pPr marL="285750" indent="-228600" lvl="0">
              <a:spcAft>
                <a:spcPts val="800"/>
              </a:spcAft>
              <a:buClr>
                <a:srgbClr val="1B3A5F"/>
              </a:buClr>
              <a:buFont typeface="Arial"/>
              <a:buChar char="•"/>
            </a:pPr>
            <a:r>
              <a:rPr sz="1900">
                <a:solidFill>
                  <a:srgbClr val="212121"/>
                </a:solidFill>
                <a:latin typeface="Arial"/>
              </a:rPr>
              <a:t>Le stesse metriche del passo 1, sugli stessi canali, dopo un mese di uso</a:t>
            </a:r>
          </a:p>
          <a:p>
            <a:pPr marL="285750" indent="-228600" lvl="0">
              <a:spcAft>
                <a:spcPts val="800"/>
              </a:spcAft>
              <a:buClr>
                <a:srgbClr val="1B3A5F"/>
              </a:buClr>
              <a:buFont typeface="Arial"/>
              <a:buChar char="•"/>
            </a:pPr>
            <a:r>
              <a:rPr sz="1900">
                <a:solidFill>
                  <a:srgbClr val="212121"/>
                </a:solidFill>
                <a:latin typeface="Arial"/>
              </a:rPr>
              <a:t>Tre esiti possibili: estendere, correggere, fermare. Tutti e tre legittimi</a:t>
            </a:r>
          </a:p>
          <a:p>
            <a:pPr marL="285750" indent="-228600" lvl="0">
              <a:spcAft>
                <a:spcPts val="800"/>
              </a:spcAft>
              <a:buClr>
                <a:srgbClr val="1B3A5F"/>
              </a:buClr>
              <a:buFont typeface="Arial"/>
              <a:buChar char="•"/>
            </a:pPr>
            <a:r>
              <a:rPr sz="1900">
                <a:solidFill>
                  <a:srgbClr val="212121"/>
                </a:solidFill>
                <a:latin typeface="Arial"/>
              </a:rPr>
              <a:t>La decisione la prende la direzione, con i numeri davanti</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Chi fa cosa</a:t>
            </a:r>
          </a:p>
        </p:txBody>
      </p:sp>
      <p:pic>
        <p:nvPicPr>
          <p:cNvPr id="3" name="Picture 2" descr="ruoli.png"/>
          <p:cNvPicPr>
            <a:picLocks noChangeAspect="1"/>
          </p:cNvPicPr>
          <p:nvPr/>
        </p:nvPicPr>
        <p:blipFill>
          <a:blip r:embed="rId2"/>
          <a:stretch>
            <a:fillRect/>
          </a:stretch>
        </p:blipFill>
        <p:spPr>
          <a:xfrm>
            <a:off x="180000" y="1150000"/>
            <a:ext cx="8784000" cy="276505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Nessuna riga dice 'consulente esterno'. Se ne serve uno, sta accanto, non al posto.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calendario</a:t>
            </a:r>
          </a:p>
        </p:txBody>
      </p:sp>
      <p:pic>
        <p:nvPicPr>
          <p:cNvPr id="3" name="Picture 2" descr="calendario.png"/>
          <p:cNvPicPr>
            <a:picLocks noChangeAspect="1"/>
          </p:cNvPicPr>
          <p:nvPr/>
        </p:nvPicPr>
        <p:blipFill>
          <a:blip r:embed="rId2"/>
          <a:stretch>
            <a:fillRect/>
          </a:stretch>
        </p:blipFill>
        <p:spPr>
          <a:xfrm>
            <a:off x="180000" y="1150000"/>
            <a:ext cx="8784000" cy="2413847"/>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Tre mesi dall'inizio alla decisione. I primi due passi si sovrappongono poco.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Metriche decise prima di partire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Accuratezza per campo sul campione etichettato, non a sensazione</a:t>
            </a:r>
          </a:p>
          <a:p>
            <a:pPr marL="285750" indent="-228600" lvl="0">
              <a:spcAft>
                <a:spcPts val="1200"/>
              </a:spcAft>
              <a:buClr>
                <a:srgbClr val="1B3A5F"/>
              </a:buClr>
              <a:buFont typeface="Arial"/>
              <a:buChar char="•"/>
            </a:pPr>
            <a:r>
              <a:rPr sz="1900">
                <a:solidFill>
                  <a:srgbClr val="212121"/>
                </a:solidFill>
                <a:latin typeface="Arial"/>
              </a:rPr>
              <a:t>Tempo alla prima risposta e ore di segreteria a settimana: prima e dopo</a:t>
            </a:r>
          </a:p>
          <a:p>
            <a:pPr marL="285750" indent="-228600" lvl="0">
              <a:spcAft>
                <a:spcPts val="1200"/>
              </a:spcAft>
              <a:buClr>
                <a:srgbClr val="1B3A5F"/>
              </a:buClr>
              <a:buFont typeface="Arial"/>
              <a:buChar char="•"/>
            </a:pPr>
            <a:r>
              <a:rPr sz="1900">
                <a:solidFill>
                  <a:srgbClr val="212121"/>
                </a:solidFill>
                <a:latin typeface="Arial"/>
              </a:rPr>
              <a:t>Quota di richieste in coda umana, e quante di quelle vengono davvero riviste</a:t>
            </a:r>
          </a:p>
        </p:txBody>
      </p:sp>
      <p:pic>
        <p:nvPicPr>
          <p:cNvPr id="4" name="Picture 3" descr="pi_metr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Sotto l'80% su tipologia e operatore il sistema fa perdere tempo invece di darne</a:t>
            </a:r>
          </a:p>
          <a:p>
            <a:pPr marL="285750" indent="-228600" lvl="0">
              <a:spcAft>
                <a:spcPts val="1400"/>
              </a:spcAft>
              <a:buClr>
                <a:srgbClr val="1B3A5F"/>
              </a:buClr>
              <a:buFont typeface="Arial"/>
              <a:buChar char="•"/>
            </a:pPr>
            <a:r>
              <a:rPr sz="2200">
                <a:solidFill>
                  <a:srgbClr val="212121"/>
                </a:solidFill>
                <a:latin typeface="Arial"/>
              </a:rPr>
              <a:t>Sopra il 30% di coda umana la tassonomia è ambigua, non il modello è scarso</a:t>
            </a:r>
          </a:p>
          <a:p>
            <a:pPr marL="285750" indent="-228600" lvl="0">
              <a:spcAft>
                <a:spcPts val="1400"/>
              </a:spcAft>
              <a:buClr>
                <a:srgbClr val="1B3A5F"/>
              </a:buClr>
              <a:buFont typeface="Arial"/>
              <a:buChar char="•"/>
            </a:pPr>
            <a:r>
              <a:rPr sz="2200">
                <a:solidFill>
                  <a:srgbClr val="212121"/>
                </a:solidFill>
                <a:latin typeface="Arial"/>
              </a:rPr>
              <a:t>Se il tempo alla prima risposta non scende, il collo di bottiglia era altrove</a:t>
            </a:r>
          </a:p>
        </p:txBody>
      </p:sp>
      <p:sp>
        <p:nvSpPr>
          <p:cNvPr id="3" name="Title 2"/>
          <p:cNvSpPr>
            <a:spLocks noGrp="1"/>
          </p:cNvSpPr>
          <p:nvPr>
            <p:ph type="title"/>
          </p:nvPr>
        </p:nvSpPr>
        <p:spPr/>
        <p:txBody>
          <a:bodyPr/>
          <a:lstStyle/>
          <a:p>
            <a:pPr algn="l"/>
            <a:r>
              <a:rPr sz="2700" b="1">
                <a:solidFill>
                  <a:srgbClr val="1B3A5F"/>
                </a:solidFill>
                <a:latin typeface="Arial"/>
              </a:rPr>
              <a:t>Le tre soglie, spiegate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ChatGPT Business: GPT personalizzato o Progetto con la tassonomia come file. Zero codice</a:t>
            </a:r>
          </a:p>
          <a:p>
            <a:pPr marL="285750" indent="-228600" lvl="0">
              <a:spcAft>
                <a:spcPts val="1400"/>
              </a:spcAft>
              <a:buClr>
                <a:srgbClr val="1B3A5F"/>
              </a:buClr>
              <a:buFont typeface="Arial"/>
              <a:buChar char="•"/>
            </a:pPr>
            <a:r>
              <a:rPr sz="2200">
                <a:solidFill>
                  <a:srgbClr val="212121"/>
                </a:solidFill>
                <a:latin typeface="Arial"/>
              </a:rPr>
              <a:t>Connettori: Make, Zapier, n8n, oppure le automazioni di Microsoft 365 o Google Workspace già in uso</a:t>
            </a:r>
          </a:p>
          <a:p>
            <a:pPr marL="285750" indent="-228600" lvl="0">
              <a:spcAft>
                <a:spcPts val="1400"/>
              </a:spcAft>
              <a:buClr>
                <a:srgbClr val="1B3A5F"/>
              </a:buClr>
              <a:buFont typeface="Arial"/>
              <a:buChar char="•"/>
            </a:pPr>
            <a:r>
              <a:rPr sz="2200">
                <a:solidFill>
                  <a:srgbClr val="212121"/>
                </a:solidFill>
                <a:latin typeface="Arial"/>
              </a:rPr>
              <a:t>Il codice del repository serve quando volete misurare e integrare per davvero</a:t>
            </a:r>
          </a:p>
        </p:txBody>
      </p:sp>
      <p:sp>
        <p:nvSpPr>
          <p:cNvPr id="3" name="Title 2"/>
          <p:cNvSpPr>
            <a:spLocks noGrp="1"/>
          </p:cNvSpPr>
          <p:nvPr>
            <p:ph type="title"/>
          </p:nvPr>
        </p:nvSpPr>
        <p:spPr/>
        <p:txBody>
          <a:bodyPr/>
          <a:lstStyle/>
          <a:p>
            <a:pPr algn="l"/>
            <a:r>
              <a:rPr sz="2700" b="1">
                <a:solidFill>
                  <a:srgbClr val="1B3A5F"/>
                </a:solidFill>
                <a:latin typeface="Arial"/>
              </a:rPr>
              <a:t>Strumenti a basso codice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Il report che nessuno legge</a:t>
            </a:r>
          </a:p>
        </p:txBody>
      </p:sp>
      <p:pic>
        <p:nvPicPr>
          <p:cNvPr id="3" name="Picture 2" descr="gag_stampante.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Una metrica che non cambia una decisione è carta.</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Cosa mettere per iscritto prima di partire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Chi possiede la tassonomia e ogni quanto la rivede</a:t>
            </a:r>
          </a:p>
          <a:p>
            <a:pPr marL="285750" indent="-228600" lvl="0">
              <a:spcAft>
                <a:spcPts val="1200"/>
              </a:spcAft>
              <a:buClr>
                <a:srgbClr val="1B3A5F"/>
              </a:buClr>
              <a:buFont typeface="Arial"/>
              <a:buChar char="•"/>
            </a:pPr>
            <a:r>
              <a:rPr sz="1900">
                <a:solidFill>
                  <a:srgbClr val="212121"/>
                </a:solidFill>
                <a:latin typeface="Arial"/>
              </a:rPr>
              <a:t>Chi guarda la coda umana, quando, e cosa fa se cresce</a:t>
            </a:r>
          </a:p>
          <a:p>
            <a:pPr marL="285750" indent="-228600" lvl="0">
              <a:spcAft>
                <a:spcPts val="1200"/>
              </a:spcAft>
              <a:buClr>
                <a:srgbClr val="1B3A5F"/>
              </a:buClr>
              <a:buFont typeface="Arial"/>
              <a:buChar char="•"/>
            </a:pPr>
            <a:r>
              <a:rPr sz="1900">
                <a:solidFill>
                  <a:srgbClr val="212121"/>
                </a:solidFill>
                <a:latin typeface="Arial"/>
              </a:rPr>
              <a:t>Le risposte alle sei domande del blocco 4, date per iscritto da chi ha titolo per darle</a:t>
            </a:r>
          </a:p>
        </p:txBody>
      </p:sp>
      <p:pic>
        <p:nvPicPr>
          <p:cNvPr id="4" name="Picture 3" descr="gag_pulsant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Quello che il piano non prevede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Una persona chiave in ferie proprio nelle due settimane di etichettatura</a:t>
            </a:r>
          </a:p>
          <a:p>
            <a:pPr marL="285750" indent="-228600" lvl="0">
              <a:spcAft>
                <a:spcPts val="1200"/>
              </a:spcAft>
              <a:buClr>
                <a:srgbClr val="1B3A5F"/>
              </a:buClr>
              <a:buFont typeface="Arial"/>
              <a:buChar char="•"/>
            </a:pPr>
            <a:r>
              <a:rPr sz="1900">
                <a:solidFill>
                  <a:srgbClr val="212121"/>
                </a:solidFill>
                <a:latin typeface="Arial"/>
              </a:rPr>
              <a:t>Il fornitore che cambia versione del modello mentre state misurando</a:t>
            </a:r>
          </a:p>
          <a:p>
            <a:pPr marL="285750" indent="-228600" lvl="0">
              <a:spcAft>
                <a:spcPts val="1200"/>
              </a:spcAft>
              <a:buClr>
                <a:srgbClr val="1B3A5F"/>
              </a:buClr>
              <a:buFont typeface="Arial"/>
              <a:buChar char="•"/>
            </a:pPr>
            <a:r>
              <a:rPr sz="1900">
                <a:solidFill>
                  <a:srgbClr val="212121"/>
                </a:solidFill>
                <a:latin typeface="Arial"/>
              </a:rPr>
              <a:t>Mettete due settimane di margine e decidete in anticipo chi sostituisce chi</a:t>
            </a:r>
          </a:p>
        </p:txBody>
      </p:sp>
      <p:pic>
        <p:nvPicPr>
          <p:cNvPr id="4" name="Picture 3" descr="gag_ombrell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Fermarsi è un esito legittimo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Il pilota serve a scoprire a basso costo se conviene, non a dimostrare che conviene</a:t>
            </a:r>
          </a:p>
          <a:p>
            <a:pPr marL="285750" indent="-228600" lvl="0">
              <a:spcAft>
                <a:spcPts val="1200"/>
              </a:spcAft>
              <a:buClr>
                <a:srgbClr val="1B3A5F"/>
              </a:buClr>
              <a:buFont typeface="Arial"/>
              <a:buChar char="•"/>
            </a:pPr>
            <a:r>
              <a:rPr sz="1900">
                <a:solidFill>
                  <a:srgbClr val="212121"/>
                </a:solidFill>
                <a:latin typeface="Arial"/>
              </a:rPr>
              <a:t>Se dopo un mese i numeri non si muovono, si ferma e si è imparato qualcosa</a:t>
            </a:r>
          </a:p>
          <a:p>
            <a:pPr marL="285750" indent="-228600" lvl="0">
              <a:spcAft>
                <a:spcPts val="1200"/>
              </a:spcAft>
              <a:buClr>
                <a:srgbClr val="1B3A5F"/>
              </a:buClr>
              <a:buFont typeface="Arial"/>
              <a:buChar char="•"/>
            </a:pPr>
            <a:r>
              <a:rPr sz="1900">
                <a:solidFill>
                  <a:srgbClr val="212121"/>
                </a:solidFill>
                <a:latin typeface="Arial"/>
              </a:rPr>
              <a:t>Il costo di fermarsi dopo tre mesi è mille volte più basso di quello di una piattaforma</a:t>
            </a:r>
          </a:p>
        </p:txBody>
      </p:sp>
      <p:pic>
        <p:nvPicPr>
          <p:cNvPr id="4" name="Picture 3" descr="pi_fermars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6_esercitazione.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20 minuti più 10 di restituzione</a:t>
            </a:r>
          </a:p>
        </p:txBody>
      </p:sp>
      <p:sp>
        <p:nvSpPr>
          <p:cNvPr id="3" name="Title 2"/>
          <p:cNvSpPr>
            <a:spLocks noGrp="1"/>
          </p:cNvSpPr>
          <p:nvPr>
            <p:ph type="title"/>
          </p:nvPr>
        </p:nvSpPr>
        <p:spPr/>
        <p:txBody>
          <a:bodyPr/>
          <a:lstStyle/>
          <a:p>
            <a:r>
              <a:rPr sz="3200" b="1">
                <a:solidFill>
                  <a:srgbClr val="FFFFFF"/>
                </a:solidFill>
                <a:latin typeface="Arial"/>
              </a:rPr>
              <a:t>6. Esercitazione in gruppi</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Consegna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Scegliete un processo della Fondazione: rendicontazione, rassegna stampa, iscrizioni, o uno vostro</a:t>
            </a:r>
          </a:p>
          <a:p>
            <a:pPr marL="285750" indent="-228600" lvl="0">
              <a:spcAft>
                <a:spcPts val="1200"/>
              </a:spcAft>
              <a:buClr>
                <a:srgbClr val="1B3A5F"/>
              </a:buClr>
              <a:buFont typeface="Arial"/>
              <a:buChar char="•"/>
            </a:pPr>
            <a:r>
              <a:rPr sz="1900">
                <a:solidFill>
                  <a:srgbClr val="212121"/>
                </a:solidFill>
                <a:latin typeface="Arial"/>
              </a:rPr>
              <a:t>Scomponetelo con la griglia: un passo per riga, input, decisione, output</a:t>
            </a:r>
          </a:p>
          <a:p>
            <a:pPr marL="285750" indent="-228600" lvl="0">
              <a:spcAft>
                <a:spcPts val="1200"/>
              </a:spcAft>
              <a:buClr>
                <a:srgbClr val="1B3A5F"/>
              </a:buClr>
              <a:buFont typeface="Arial"/>
              <a:buChar char="•"/>
            </a:pPr>
            <a:r>
              <a:rPr sz="1900">
                <a:solidFill>
                  <a:srgbClr val="212121"/>
                </a:solidFill>
                <a:latin typeface="Arial"/>
              </a:rPr>
              <a:t>Per ogni passo: integrazione, AI o umano?</a:t>
            </a:r>
          </a:p>
        </p:txBody>
      </p:sp>
      <p:pic>
        <p:nvPicPr>
          <p:cNvPr id="4" name="Picture 3" descr="c36_consegn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griglia da compilare</a:t>
            </a:r>
          </a:p>
        </p:txBody>
      </p:sp>
      <p:pic>
        <p:nvPicPr>
          <p:cNvPr id="3" name="Picture 2" descr="griglia_vuota.png"/>
          <p:cNvPicPr>
            <a:picLocks noChangeAspect="1"/>
          </p:cNvPicPr>
          <p:nvPr/>
        </p:nvPicPr>
        <p:blipFill>
          <a:blip r:embed="rId2"/>
          <a:stretch>
            <a:fillRect/>
          </a:stretch>
        </p:blipFill>
        <p:spPr>
          <a:xfrm>
            <a:off x="180000" y="1150000"/>
            <a:ext cx="8784000" cy="2922908"/>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Sei righe bastano. Se ne servono di più, il processo era due processi.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La griglia, compilata sull'helpdesk</a:t>
            </a:r>
          </a:p>
        </p:txBody>
      </p:sp>
      <p:pic>
        <p:nvPicPr>
          <p:cNvPr id="3" name="Picture 2" descr="griglia.png"/>
          <p:cNvPicPr>
            <a:picLocks noChangeAspect="1"/>
          </p:cNvPicPr>
          <p:nvPr/>
        </p:nvPicPr>
        <p:blipFill>
          <a:blip r:embed="rId2"/>
          <a:stretch>
            <a:fillRect/>
          </a:stretch>
        </p:blipFill>
        <p:spPr>
          <a:xfrm>
            <a:off x="1017742" y="1150000"/>
            <a:ext cx="7108515"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Tre passi su sette con AI. Due restano umani. Il resto è integrazione o regola.</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Tre processi candidati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Rendicontazione di un progetto: documenti eterogenei, la firma resta umana</a:t>
            </a:r>
          </a:p>
          <a:p>
            <a:pPr marL="285750" indent="-228600" lvl="0">
              <a:spcAft>
                <a:spcPts val="1200"/>
              </a:spcAft>
              <a:buClr>
                <a:srgbClr val="1B3A5F"/>
              </a:buClr>
              <a:buFont typeface="Arial"/>
              <a:buChar char="•"/>
            </a:pPr>
            <a:r>
              <a:rPr sz="1900">
                <a:solidFill>
                  <a:srgbClr val="212121"/>
                </a:solidFill>
                <a:latin typeface="Arial"/>
              </a:rPr>
              <a:t>Rassegna stampa e bandi: filtrare con criteri scritti da voi, decidere resta a voi</a:t>
            </a:r>
          </a:p>
          <a:p>
            <a:pPr marL="285750" indent="-228600" lvl="0">
              <a:spcAft>
                <a:spcPts val="1200"/>
              </a:spcAft>
              <a:buClr>
                <a:srgbClr val="1B3A5F"/>
              </a:buClr>
              <a:buFont typeface="Arial"/>
              <a:buChar char="•"/>
            </a:pPr>
            <a:r>
              <a:rPr sz="1900">
                <a:solidFill>
                  <a:srgbClr val="212121"/>
                </a:solidFill>
                <a:latin typeface="Arial"/>
              </a:rPr>
              <a:t>Iscrizioni ai corsi: estrarre dati da testi liberi e segnalare le incongruenze</a:t>
            </a:r>
          </a:p>
        </p:txBody>
      </p:sp>
      <p:pic>
        <p:nvPicPr>
          <p:cNvPr id="4" name="Picture 3" descr="es_process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Mentre lavorate</a:t>
            </a:r>
          </a:p>
        </p:txBody>
      </p:sp>
      <p:pic>
        <p:nvPicPr>
          <p:cNvPr id="3" name="Picture 2" descr="gag_cane.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Venti minuti. Nessuno vi guarda le spalle.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Restituzione: tre domande per gruppo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Qual è il passo che, automatizzato, fa risparmiare più tempo?</a:t>
            </a:r>
          </a:p>
          <a:p>
            <a:pPr marL="285750" indent="-228600" lvl="0">
              <a:spcAft>
                <a:spcPts val="1200"/>
              </a:spcAft>
              <a:buClr>
                <a:srgbClr val="1B3A5F"/>
              </a:buClr>
              <a:buFont typeface="Arial"/>
              <a:buChar char="•"/>
            </a:pPr>
            <a:r>
              <a:rPr sz="1900">
                <a:solidFill>
                  <a:srgbClr val="212121"/>
                </a:solidFill>
                <a:latin typeface="Arial"/>
              </a:rPr>
              <a:t>Qual è il passo dove un errore del sistema costa di più?</a:t>
            </a:r>
          </a:p>
          <a:p>
            <a:pPr marL="285750" indent="-228600" lvl="0">
              <a:spcAft>
                <a:spcPts val="1200"/>
              </a:spcAft>
              <a:buClr>
                <a:srgbClr val="1B3A5F"/>
              </a:buClr>
              <a:buFont typeface="Arial"/>
              <a:buChar char="•"/>
            </a:pPr>
            <a:r>
              <a:rPr sz="1900">
                <a:solidFill>
                  <a:srgbClr val="212121"/>
                </a:solidFill>
                <a:latin typeface="Arial"/>
              </a:rPr>
              <a:t>Quale numero misurereste dopo un mese per decidere se continuare?</a:t>
            </a:r>
          </a:p>
        </p:txBody>
      </p:sp>
      <p:pic>
        <p:nvPicPr>
          <p:cNvPr id="4" name="Picture 3" descr="c38_restituzion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700" b="1">
                <a:solidFill>
                  <a:srgbClr val="1B3A5F"/>
                </a:solidFill>
                <a:latin typeface="Arial"/>
              </a:rPr>
              <a:t>Tre errori da evitare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1B3A5F"/>
              </a:buClr>
              <a:buFont typeface="Arial"/>
              <a:buChar char="•"/>
            </a:pPr>
            <a:r>
              <a:rPr sz="1900">
                <a:solidFill>
                  <a:srgbClr val="212121"/>
                </a:solidFill>
                <a:latin typeface="Arial"/>
              </a:rPr>
              <a:t>Automatizzare prima di misurare</a:t>
            </a:r>
          </a:p>
          <a:p>
            <a:pPr marL="285750" indent="-228600" lvl="0">
              <a:spcAft>
                <a:spcPts val="1200"/>
              </a:spcAft>
              <a:buClr>
                <a:srgbClr val="1B3A5F"/>
              </a:buClr>
              <a:buFont typeface="Arial"/>
              <a:buChar char="•"/>
            </a:pPr>
            <a:r>
              <a:rPr sz="1900">
                <a:solidFill>
                  <a:srgbClr val="212121"/>
                </a:solidFill>
                <a:latin typeface="Arial"/>
              </a:rPr>
              <a:t>Togliere l'umano troppo presto</a:t>
            </a:r>
          </a:p>
          <a:p>
            <a:pPr marL="285750" indent="-228600" lvl="0">
              <a:spcAft>
                <a:spcPts val="1200"/>
              </a:spcAft>
              <a:buClr>
                <a:srgbClr val="1B3A5F"/>
              </a:buClr>
              <a:buFont typeface="Arial"/>
              <a:buChar char="•"/>
            </a:pPr>
            <a:r>
              <a:rPr sz="1900">
                <a:solidFill>
                  <a:srgbClr val="212121"/>
                </a:solidFill>
                <a:latin typeface="Arial"/>
              </a:rPr>
              <a:t>Comprare la piattaforma prima di aver definito il processo</a:t>
            </a:r>
          </a:p>
        </p:txBody>
      </p:sp>
      <p:pic>
        <p:nvPicPr>
          <p:cNvPr id="4" name="Picture 3" descr="c39_error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Un repository con dati, codice, griglia e queste slide, che gira anche senza chiave API</a:t>
            </a:r>
          </a:p>
          <a:p>
            <a:pPr marL="285750" indent="-228600" lvl="0">
              <a:spcAft>
                <a:spcPts val="1400"/>
              </a:spcAft>
              <a:buClr>
                <a:srgbClr val="1B3A5F"/>
              </a:buClr>
              <a:buFont typeface="Arial"/>
              <a:buChar char="•"/>
            </a:pPr>
            <a:r>
              <a:rPr sz="2200">
                <a:solidFill>
                  <a:srgbClr val="212121"/>
                </a:solidFill>
                <a:latin typeface="Arial"/>
              </a:rPr>
              <a:t>Tre domande da fare a un fornitore, e una diagnosi per capire chi ha sbagliato</a:t>
            </a:r>
          </a:p>
          <a:p>
            <a:pPr marL="285750" indent="-228600" lvl="0">
              <a:spcAft>
                <a:spcPts val="1400"/>
              </a:spcAft>
              <a:buClr>
                <a:srgbClr val="1B3A5F"/>
              </a:buClr>
              <a:buFont typeface="Arial"/>
              <a:buChar char="•"/>
            </a:pPr>
            <a:r>
              <a:rPr sz="2200">
                <a:solidFill>
                  <a:srgbClr val="212121"/>
                </a:solidFill>
                <a:latin typeface="Arial"/>
              </a:rPr>
              <a:t>Una tassonomia da riscrivere sui vostri corsi veri: è il compito per lunedì</a:t>
            </a:r>
          </a:p>
        </p:txBody>
      </p:sp>
      <p:sp>
        <p:nvSpPr>
          <p:cNvPr id="3" name="Title 2"/>
          <p:cNvSpPr>
            <a:spLocks noGrp="1"/>
          </p:cNvSpPr>
          <p:nvPr>
            <p:ph type="title"/>
          </p:nvPr>
        </p:nvSpPr>
        <p:spPr/>
        <p:txBody>
          <a:bodyPr/>
          <a:lstStyle/>
          <a:p>
            <a:pPr algn="l"/>
            <a:r>
              <a:rPr sz="2700" b="1">
                <a:solidFill>
                  <a:srgbClr val="1B3A5F"/>
                </a:solidFill>
                <a:latin typeface="Arial"/>
              </a:rPr>
              <a:t>Che cosa vi portate a casa</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1B3A5F"/>
              </a:buClr>
              <a:buFont typeface="Arial"/>
              <a:buChar char="•"/>
            </a:pPr>
            <a:r>
              <a:rPr sz="2200">
                <a:solidFill>
                  <a:srgbClr val="212121"/>
                </a:solidFill>
                <a:latin typeface="Arial"/>
              </a:rPr>
              <a:t>Codice, dati, griglia e slide: github.com/&lt;da completare&gt;/promopa-agenti-ai</a:t>
            </a:r>
          </a:p>
          <a:p>
            <a:pPr marL="285750" indent="-228600" lvl="0">
              <a:spcAft>
                <a:spcPts val="1400"/>
              </a:spcAft>
              <a:buClr>
                <a:srgbClr val="1B3A5F"/>
              </a:buClr>
              <a:buFont typeface="Arial"/>
              <a:buChar char="•"/>
            </a:pPr>
            <a:r>
              <a:rPr sz="2200">
                <a:solidFill>
                  <a:srgbClr val="212121"/>
                </a:solidFill>
                <a:latin typeface="Arial"/>
              </a:rPr>
              <a:t>Tutto gira anche senza chiave API (modalità 'mock') per provare la forma dell'output</a:t>
            </a:r>
          </a:p>
          <a:p>
            <a:pPr marL="285750" indent="-228600" lvl="0">
              <a:spcAft>
                <a:spcPts val="1400"/>
              </a:spcAft>
              <a:buClr>
                <a:srgbClr val="1B3A5F"/>
              </a:buClr>
              <a:buFont typeface="Arial"/>
              <a:buChar char="•"/>
            </a:pPr>
            <a:r>
              <a:rPr sz="2200">
                <a:solidFill>
                  <a:srgbClr val="212121"/>
                </a:solidFill>
                <a:latin typeface="Arial"/>
              </a:rPr>
              <a:t>fabrizio.silvestri@uniroma1.it</a:t>
            </a:r>
          </a:p>
        </p:txBody>
      </p:sp>
      <p:sp>
        <p:nvSpPr>
          <p:cNvPr id="3" name="Title 2"/>
          <p:cNvSpPr>
            <a:spLocks noGrp="1"/>
          </p:cNvSpPr>
          <p:nvPr>
            <p:ph type="title"/>
          </p:nvPr>
        </p:nvSpPr>
        <p:spPr/>
        <p:txBody>
          <a:bodyPr/>
          <a:lstStyle/>
          <a:p>
            <a:pPr algn="l"/>
            <a:r>
              <a:rPr sz="2700" b="1">
                <a:solidFill>
                  <a:srgbClr val="1B3A5F"/>
                </a:solidFill>
                <a:latin typeface="Arial"/>
              </a:rPr>
              <a:t>Materiali e contatti</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7_grazie.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Domande?</a:t>
            </a:r>
          </a:p>
        </p:txBody>
      </p:sp>
      <p:sp>
        <p:nvSpPr>
          <p:cNvPr id="3" name="Title 2"/>
          <p:cNvSpPr>
            <a:spLocks noGrp="1"/>
          </p:cNvSpPr>
          <p:nvPr>
            <p:ph type="title"/>
          </p:nvPr>
        </p:nvSpPr>
        <p:spPr/>
        <p:txBody>
          <a:bodyPr/>
          <a:lstStyle/>
          <a:p>
            <a:r>
              <a:rPr sz="3200" b="1">
                <a:solidFill>
                  <a:srgbClr val="FFFFFF"/>
                </a:solidFill>
                <a:latin typeface="Arial"/>
              </a:rPr>
              <a:t>Grazie</a:t>
            </a:r>
          </a:p>
        </p:txBody>
      </p:sp>
    </p:spTree>
  </p:cSld>
  <p:clrMapOvr>
    <a:masterClrMapping/>
  </p:clrMapOvr>
</p:sld>
</file>

<file path=ppt/theme/theme1.xml><?xml version="1.0" encoding="utf-8"?>
<a:theme xmlns:a="http://schemas.openxmlformats.org/drawingml/2006/main" xmlns:r="http://schemas.openxmlformats.org/officeDocument/2006/relationships" name="RSTLess">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272822"/>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