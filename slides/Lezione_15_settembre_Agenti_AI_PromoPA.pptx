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9"/>
    <p:sldId id="257" r:id="rId8"/>
    <p:sldId id="258" r:id="rId7"/>
    <p:sldId id="259" r:id="rId6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00" r:id="rId58"/>
    <p:sldId id="301" r:id="rId59"/>
    <p:sldId id="302" r:id="rId60"/>
    <p:sldId id="303" r:id="rId61"/>
    <p:sldId id="304" r:id="rId62"/>
    <p:sldId id="305" r:id="rId63"/>
    <p:sldId id="306" r:id="rId64"/>
    <p:sldId id="307" r:id="rId65"/>
    <p:sldId id="308" r:id="rId66"/>
    <p:sldId id="309" r:id="rId67"/>
    <p:sldId id="310" r:id="rId68"/>
    <p:sldId id="311" r:id="rId69"/>
    <p:sldId id="312" r:id="rId70"/>
    <p:sldId id="313" r:id="rId71"/>
    <p:sldId id="314" r:id="rId72"/>
    <p:sldId id="315" r:id="rId73"/>
    <p:sldId id="316" r:id="rId74"/>
    <p:sldId id="317" r:id="rId75"/>
    <p:sldId id="318" r:id="rId76"/>
    <p:sldId id="319" r:id="rId77"/>
    <p:sldId id="320" r:id="rId78"/>
    <p:sldId id="321" r:id="rId79"/>
    <p:sldId id="322" r:id="rId80"/>
    <p:sldId id="323" r:id="rId81"/>
    <p:sldId id="324" r:id="rId82"/>
    <p:sldId id="325" r:id="rId83"/>
    <p:sldId id="326" r:id="rId84"/>
    <p:sldId id="327" r:id="rId85"/>
    <p:sldId id="328" r:id="rId86"/>
    <p:sldId id="329" r:id="rId87"/>
    <p:sldId id="330" r:id="rId88"/>
    <p:sldId id="331" r:id="rId89"/>
    <p:sldId id="332" r:id="rId90"/>
    <p:sldId id="333" r:id="rId91"/>
    <p:sldId id="334" r:id="rId92"/>
    <p:sldId id="335" r:id="rId93"/>
    <p:sldId id="336" r:id="rId94"/>
    <p:sldId id="337" r:id="rId95"/>
    <p:sldId id="338" r:id="rId96"/>
    <p:sldId id="339" r:id="rId97"/>
    <p:sldId id="340" r:id="rId98"/>
    <p:sldId id="341" r:id="rId99"/>
    <p:sldId id="342" r:id="rId100"/>
    <p:sldId id="343" r:id="rId101"/>
    <p:sldId id="344" r:id="rId102"/>
    <p:sldId id="345" r:id="rId103"/>
    <p:sldId id="346" r:id="rId104"/>
    <p:sldId id="347" r:id="rId105"/>
    <p:sldId id="348" r:id="rId106"/>
    <p:sldId id="349" r:id="rId107"/>
    <p:sldId id="350" r:id="rId108"/>
    <p:sldId id="351" r:id="rId109"/>
    <p:sldId id="352" r:id="rId110"/>
  </p:sldIdLst>
  <p:sldSz cy="5143500" cx="9144000"/>
  <p:notesSz cx="6858000" cy="9144000"/>
  <p:embeddedFontLst>
    <p:embeddedFont>
      <p:font typeface="Lato"/>
      <p:regular r:id="rId10"/>
      <p:bold r:id="rId11"/>
      <p:italic r:id="rId12"/>
      <p:boldItalic r:id="rId13"/>
    </p:embeddedFont>
    <p:embeddedFont>
      <p:font typeface="Nuni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font" Target="fonts/Lato-regular.fntdata"/><Relationship Id="rId11" Type="http://schemas.openxmlformats.org/officeDocument/2006/relationships/font" Target="fonts/Lato-bold.fntdata"/><Relationship Id="rId12" Type="http://schemas.openxmlformats.org/officeDocument/2006/relationships/font" Target="fonts/Lato-italic.fntdata"/><Relationship Id="rId13" Type="http://schemas.openxmlformats.org/officeDocument/2006/relationships/font" Target="fonts/Lato-boldItalic.fntdata"/><Relationship Id="rId14" Type="http://schemas.openxmlformats.org/officeDocument/2006/relationships/font" Target="fonts/NunitoMedium-regular.fntdata"/><Relationship Id="rId15" Type="http://schemas.openxmlformats.org/officeDocument/2006/relationships/font" Target="fonts/NunitoMedium-bold.fntdata"/><Relationship Id="rId16" Type="http://schemas.openxmlformats.org/officeDocument/2006/relationships/font" Target="fonts/NunitoMedium-italic.fntdata"/><Relationship Id="rId17" Type="http://schemas.openxmlformats.org/officeDocument/2006/relationships/font" Target="fonts/NunitoMedium-boldItalic.fntdata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Relationship Id="rId55" Type="http://schemas.openxmlformats.org/officeDocument/2006/relationships/slide" Target="slides/slide42.xml"/><Relationship Id="rId56" Type="http://schemas.openxmlformats.org/officeDocument/2006/relationships/slide" Target="slides/slide43.xml"/><Relationship Id="rId57" Type="http://schemas.openxmlformats.org/officeDocument/2006/relationships/slide" Target="slides/slide44.xml"/><Relationship Id="rId58" Type="http://schemas.openxmlformats.org/officeDocument/2006/relationships/slide" Target="slides/slide45.xml"/><Relationship Id="rId59" Type="http://schemas.openxmlformats.org/officeDocument/2006/relationships/slide" Target="slides/slide46.xml"/><Relationship Id="rId60" Type="http://schemas.openxmlformats.org/officeDocument/2006/relationships/slide" Target="slides/slide47.xml"/><Relationship Id="rId61" Type="http://schemas.openxmlformats.org/officeDocument/2006/relationships/slide" Target="slides/slide48.xml"/><Relationship Id="rId62" Type="http://schemas.openxmlformats.org/officeDocument/2006/relationships/slide" Target="slides/slide49.xml"/><Relationship Id="rId63" Type="http://schemas.openxmlformats.org/officeDocument/2006/relationships/slide" Target="slides/slide50.xml"/><Relationship Id="rId64" Type="http://schemas.openxmlformats.org/officeDocument/2006/relationships/slide" Target="slides/slide51.xml"/><Relationship Id="rId65" Type="http://schemas.openxmlformats.org/officeDocument/2006/relationships/slide" Target="slides/slide52.xml"/><Relationship Id="rId66" Type="http://schemas.openxmlformats.org/officeDocument/2006/relationships/slide" Target="slides/slide53.xml"/><Relationship Id="rId67" Type="http://schemas.openxmlformats.org/officeDocument/2006/relationships/slide" Target="slides/slide54.xml"/><Relationship Id="rId68" Type="http://schemas.openxmlformats.org/officeDocument/2006/relationships/slide" Target="slides/slide55.xml"/><Relationship Id="rId69" Type="http://schemas.openxmlformats.org/officeDocument/2006/relationships/slide" Target="slides/slide56.xml"/><Relationship Id="rId70" Type="http://schemas.openxmlformats.org/officeDocument/2006/relationships/slide" Target="slides/slide57.xml"/><Relationship Id="rId71" Type="http://schemas.openxmlformats.org/officeDocument/2006/relationships/slide" Target="slides/slide58.xml"/><Relationship Id="rId72" Type="http://schemas.openxmlformats.org/officeDocument/2006/relationships/slide" Target="slides/slide59.xml"/><Relationship Id="rId73" Type="http://schemas.openxmlformats.org/officeDocument/2006/relationships/slide" Target="slides/slide60.xml"/><Relationship Id="rId74" Type="http://schemas.openxmlformats.org/officeDocument/2006/relationships/slide" Target="slides/slide61.xml"/><Relationship Id="rId75" Type="http://schemas.openxmlformats.org/officeDocument/2006/relationships/slide" Target="slides/slide62.xml"/><Relationship Id="rId76" Type="http://schemas.openxmlformats.org/officeDocument/2006/relationships/slide" Target="slides/slide63.xml"/><Relationship Id="rId77" Type="http://schemas.openxmlformats.org/officeDocument/2006/relationships/slide" Target="slides/slide64.xml"/><Relationship Id="rId78" Type="http://schemas.openxmlformats.org/officeDocument/2006/relationships/slide" Target="slides/slide65.xml"/><Relationship Id="rId79" Type="http://schemas.openxmlformats.org/officeDocument/2006/relationships/slide" Target="slides/slide66.xml"/><Relationship Id="rId80" Type="http://schemas.openxmlformats.org/officeDocument/2006/relationships/slide" Target="slides/slide67.xml"/><Relationship Id="rId81" Type="http://schemas.openxmlformats.org/officeDocument/2006/relationships/slide" Target="slides/slide68.xml"/><Relationship Id="rId82" Type="http://schemas.openxmlformats.org/officeDocument/2006/relationships/slide" Target="slides/slide69.xml"/><Relationship Id="rId83" Type="http://schemas.openxmlformats.org/officeDocument/2006/relationships/slide" Target="slides/slide70.xml"/><Relationship Id="rId84" Type="http://schemas.openxmlformats.org/officeDocument/2006/relationships/slide" Target="slides/slide71.xml"/><Relationship Id="rId85" Type="http://schemas.openxmlformats.org/officeDocument/2006/relationships/slide" Target="slides/slide72.xml"/><Relationship Id="rId86" Type="http://schemas.openxmlformats.org/officeDocument/2006/relationships/slide" Target="slides/slide73.xml"/><Relationship Id="rId87" Type="http://schemas.openxmlformats.org/officeDocument/2006/relationships/slide" Target="slides/slide74.xml"/><Relationship Id="rId88" Type="http://schemas.openxmlformats.org/officeDocument/2006/relationships/slide" Target="slides/slide75.xml"/><Relationship Id="rId89" Type="http://schemas.openxmlformats.org/officeDocument/2006/relationships/slide" Target="slides/slide76.xml"/><Relationship Id="rId90" Type="http://schemas.openxmlformats.org/officeDocument/2006/relationships/slide" Target="slides/slide77.xml"/><Relationship Id="rId91" Type="http://schemas.openxmlformats.org/officeDocument/2006/relationships/slide" Target="slides/slide78.xml"/><Relationship Id="rId92" Type="http://schemas.openxmlformats.org/officeDocument/2006/relationships/slide" Target="slides/slide79.xml"/><Relationship Id="rId93" Type="http://schemas.openxmlformats.org/officeDocument/2006/relationships/slide" Target="slides/slide80.xml"/><Relationship Id="rId94" Type="http://schemas.openxmlformats.org/officeDocument/2006/relationships/slide" Target="slides/slide81.xml"/><Relationship Id="rId95" Type="http://schemas.openxmlformats.org/officeDocument/2006/relationships/slide" Target="slides/slide82.xml"/><Relationship Id="rId96" Type="http://schemas.openxmlformats.org/officeDocument/2006/relationships/slide" Target="slides/slide83.xml"/><Relationship Id="rId97" Type="http://schemas.openxmlformats.org/officeDocument/2006/relationships/slide" Target="slides/slide84.xml"/><Relationship Id="rId98" Type="http://schemas.openxmlformats.org/officeDocument/2006/relationships/slide" Target="slides/slide85.xml"/><Relationship Id="rId99" Type="http://schemas.openxmlformats.org/officeDocument/2006/relationships/slide" Target="slides/slide86.xml"/><Relationship Id="rId100" Type="http://schemas.openxmlformats.org/officeDocument/2006/relationships/slide" Target="slides/slide87.xml"/><Relationship Id="rId101" Type="http://schemas.openxmlformats.org/officeDocument/2006/relationships/slide" Target="slides/slide88.xml"/><Relationship Id="rId102" Type="http://schemas.openxmlformats.org/officeDocument/2006/relationships/slide" Target="slides/slide89.xml"/><Relationship Id="rId103" Type="http://schemas.openxmlformats.org/officeDocument/2006/relationships/slide" Target="slides/slide90.xml"/><Relationship Id="rId104" Type="http://schemas.openxmlformats.org/officeDocument/2006/relationships/slide" Target="slides/slide91.xml"/><Relationship Id="rId105" Type="http://schemas.openxmlformats.org/officeDocument/2006/relationships/slide" Target="slides/slide92.xml"/><Relationship Id="rId106" Type="http://schemas.openxmlformats.org/officeDocument/2006/relationships/slide" Target="slides/slide93.xml"/><Relationship Id="rId107" Type="http://schemas.openxmlformats.org/officeDocument/2006/relationships/slide" Target="slides/slide94.xml"/><Relationship Id="rId108" Type="http://schemas.openxmlformats.org/officeDocument/2006/relationships/slide" Target="slides/slide95.xml"/><Relationship Id="rId109" Type="http://schemas.openxmlformats.org/officeDocument/2006/relationships/slide" Target="slides/slide96.xml"/><Relationship Id="rId110" Type="http://schemas.openxmlformats.org/officeDocument/2006/relationships/slide" Target="slides/slide9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 fotografie di questo deck sono generate con AI: dirlo qui, in dieci secondi, e riprenderlo nel blocco 4 quando si parla di trasparenza. E' l'esempio piu' corto che avete. Seconda lezione dopo quella del 22 giugno su ChatGPT.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Chiedere: chi ha usato Progetti o GPT personalizzati da giugno? Due minuti di giro di tavolo, non di piu'.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Richiamare che ChatGPT Business è già in uso in Fondazione: tutto ciò che vedremo si può provare lì, senza acquistare niente.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Serve a dire: non ripartiamo da zero. Queste tre cose bastano per la demo di oggi. Se qualcuno non le ha provate, si metta in coppia con chi le ha provate.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Dichiarare il patto: si può interrompere. Le slide sono tante ma molte durano dieci secondi.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Tesi provocatoria ma vera: la maggior parte dei 'processi ripetitivi' vuole un workflow con AI dentro, non un agente autonomo. L'autonomia si compra con la prevedibilità.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per ridere, e per fissare un concetto: quando un fornitore dice 'agente autonomo', chiedete cosa sa fare da solo davvero. Spesso la risposta è: poco, e sotto sorveglianza.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secondo è quello che costruiremo. Vale la pena dirlo tre volte nella giornata.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Queste tre righe tornano alla fine come 'tre errori da evitare', rovesciate.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Vocabolario minimo per parlare con fornitori e consulenti senza farsi vendere un agente quando serve una regola.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modello è la parte più famosa e la meno importante dal punto di vista del processo: cambia ogni sei mesi. Tassonomia e strumenti restano.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punto di controllo è progettato, non aggiunto dopo. Se il fornitore non sa dirvi dove sta, la risposta è 'da nessuna parte'.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concreto: il modello non sa che 'Bilancio enti locali' è un vostro corso. Lo impara dal file della tassonomia, ogni volta, non una volta per sempre.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Domanda utile in aula: quali permessi dareste, e quali no? Di solito la risposta è: leggere sì, scrivere forse, inviare mai.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Questo è il punto che rende il sistema vostro e non del fornitore. Chi possiede il file possiede il comportamento.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Nel nostro caso la verifica è doppia: la soglia di confidenza automatica, e l'operatore che rilegge la bozza prima di inviare.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Anticipare qui il colpo di scena del blocco 4: nella nostra esecuzione reale la soglia non è mai scattata, e sedici richieste su quaranta avevano un campo sbagliato.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Anthropic e OpenAI usano nomi diversi per gli stessi pattern; l'idea è la stessa: dare al modello un compito piccolo e un formato di uscita rigido.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entrare nei dettagli di orchestrazione: basta che riconoscano i nomi quando li leggono in un'offerta.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un'offerta propone fine tuning per smistare 300 richieste al mese, è un campanello. Con quei volumi non c'è nulla da riaddestrare.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'Human in the loop' senza il nome del passo è una formula vuota. Fatevi indicare la schermata che la persona vede.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Sull'ultimo punto: nessuno sa stimare i token a occhio. Il costo per mille richieste è una domanda a cui un fornitore serio risponde subito.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Esempio: 'assegna all'amministrazione tutto ciò che è fatturazione' è una regola. 'Capisci se questa e-mail parla di fatturazione' è AI.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Sono tre domande che si fanno in due minuti e che separano un fornitore serio da un venditore. Suggerire di scriverle sul quaderno.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Dati forniti dalla Fondazione l'8 settembre: circa 300 richieste al mese, 5 caselle, nessuno strumento di tracciamento. I dodici esempi reali sono arrivati con il documento anonimizzato.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300 al mese sono 15 al giorno lavorativo. Non è volume da sistema complesso: è volume da 'una tabella e una regola di smistamento'.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Serve a sgonfiare l'ansia: nessuno qui ha un problema di scala. Il problema è di ordine, non di volume.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Chiedere in aula: qualcuno rilegge le chat Zoom dopo il corso? Di solito la risposta è no, e questo apre il discorso sull'estrazione.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per ridere e per fissare il punto: il problema non è che le caselle siano cinque, è che nessuna sa cosa succede nelle altre quattro.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 dire con leggerezza, senza colpevolizzare nessuno: e' cosi' in quasi tutte le organizzazioni sotto una certa dimensione.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terzo punto è un compito a costo zero: un foglio accanto al telefono per quattro settimane. Spesso cambia le priorità del pilota.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L'ordine è controintuitivo: la 2 (Zoom e Moodle) è la più affascinante e la meno urgente. Senza il contenitore unico, le richieste estratte non hanno dove andare.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Menzionare strumenti a basso codice: Make, Zapier, n8n, o le automazioni di Microsoft 365 e Google Workspace che già pagate.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E' la ragione per cui l'esigenza 1 viene prima della 2. Se estraete richieste dalle chat Zoom e non avete dove metterle, avete solo creato lavoro.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terzo punto è il più difficile e non costa niente in tecnologia. È lì che i progetti falliscono.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Nella pipeline che vedrete, tre passi su sette usano un modello. Gli altri quattro sono tubi.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Righe da evidenziare a voce: 10:11, 10:48, 11:41, 12:20 sono richieste. 10:25 no: l'utente dice 'risolto'. 12:29 è un ringraziamento, non un feedback azionabile.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terzo bullet nasce da un errore vero: alla prima esecuzione il modello metteva nell'id tutta la riga, mittente compreso, e la valutazione non trovava piu' le richieste. Ora l'orario lo estraiamo con un'espressione regolare.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file è nel repository. In demo cambieremo una voce e rifaremo la classificazione senza toccare il prompt.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R007. Il reclamo prevale sull'oggetto (attestato): regola scritta nel prompt di sistema, non dedotta dal modello.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'altro' supera il dieci per cento, manca una categoria. Nel nostro caso reale manca una voce commerciale, e si vede.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E' anche una scelta di privacy: nel file non finiscono nomi di dipendenti.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bozza con segnaposto è una scelta di progetto: preferiamo un buco visibile a una data inventata.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Questa è la parte che si fa in mezza giornata con un foglio condiviso, ed è quella che dà il sollievo maggiore alla segreteria.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Contare i passi con AI: tre su sette. Il resto è idraulica. È il messaggio centrale della lezione.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Sequenza in demo/README.md. Piano B senza rete: demo/output_esempio, che ora contiene l'esecuzione vera del 10 settembre. Tempo: 10 min GPT, 10 min codice, 10 min discussione.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Fermarsi su RE01, una richiesta vera: il partecipante ha finito il corso ma la piattaforma non gli fa scaricare l'attestato. E' un problema di attestato o di piattaforma? Il modello dice attestato, noi avevamo etichettato accesso-piattaforma. Non e' ovvio chi abbia ragione: e' esattamente il caso da portare a un umano.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resta tempo, aprire il file e cercare insieme una riga a caso. La forza della demo è che i dati sono i loro.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segnaposto: la data e il contatto. Il modello non li conosce e non li inventa. L'operatore li riempie in dieci secondi.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Aneddoto da raccontare: la risposta piu' pericolosa non e' quella sbagliata, e' quella verosimile. I segnaposto rendono l'ignoranza visibile.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 si cambia registro: fino a ora i dati erano sintetici. Da qui in poi sono i loro. Vale la pena dirlo esplicitamente, cambia l'attenzione della sala.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Questo e' il risultato piu' utile della giornata e non era previsto. La tassonomia sintetica era plausibile e sbagliata.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Domanda per la sala: chi risponde oggi a una richiesta di sconto? Se la risposta e' 'dipende', avete trovato la prossima voce della tassonomia.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RE12. E' l'argomento migliore a favore della voce 'altro' e della coda umana: qualcuno deve poter dire 'questa non e' una richiesta'.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Senza giri di parole. Questa parte serve a evitare che qualcuno compri qualcosa a ottobre sull'onda dell'entusiasmo.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 quaranta sono: 19 sintetiche, 12 reali della Fondazione, 9 estratte da chat Zoom e questionari. Poche, ma vere e verificabili.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corso al 100 per cento e' meno bello di quel che sembra: dieci richieste su dodici erano 'nessuno', ed e' facile indovinare. L'urgenza al 72,5 e' il dato onesto.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Questa e' la slide piu' importante della giornata. Fermarsi. La soglia di confidenza a 0,7 non e' scattata nemmeno una volta: la confidenza minima dichiarata e' stata 0,75. Il punto di controllo automatico, da solo, non ha protetto niente.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Come si tara davvero: si prende il campione etichettato, si ordina per confidenza e si guarda dove gli errori si diradano. Se non si diradano mai, la confidenza non serve e il controllo deve essere un altro.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L'urgenza e' il campo piu' soggettivo e il piu' sbagliato. Non e' un caso: e' quello dove anche due persone della segreteria non sarebbero d'accordo.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RE10 dice 'avrei urgentemente bisogno': noi l'abbiamo etichettata alta, il modello media. Nessuno dei due ha torto. Manca la regola.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E' la diagnosi differenziale piu' utile che si portano a casa oggi. Scriverla alla lavagna.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secondo punto e' quello che nessuno sfrutta: la coda umana e' una macchina che produce dati etichettati mentre lavora. Vale la pena progettarla per quello.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terzo e' il fallimento piu' comune e il meno raccontato: la coda da verificare che diventa il posto dove le richieste vanno a morire.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documento dei dodici esempi era gia' anonimizzato: nomi e codici sostituiti da X. E' una buona pratica, e vale la pena dire che l'avete fatta bene.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Detto senza drammi: non e' un adempimento formale, e' la persona che decide se si puo' mandare il testo di una richiesta a un fornitore esterno. Se serva nominarne uno per legge e' domanda da legale, non da questa lezione.</a:t>
            </a:r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Reg. UE 2024/1689 come modificato dal Reg. UE 2026/1744, in vigore dal 27 luglio 2026. In pratica e' passato da obbligo di risultato a obbligo di mezzi. Fonti in docs/normativa.md.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un domani attivate la risposta automatica, scatta. Collegarsi qui alle fotografie di questo deck: sono generate con AI, e ve l'ho detto in apertura. E' lo stesso principio, in piccolo.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L'unica voce dell'Allegato III che assomiglia a una classificazione di richieste in arrivo e' il punto 5 lettera d, ma riguarda le chiamate di emergenza. Per i sistemi integrati in prodotti la data e' il 2 agosto 2028.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L'art. 14 chiede conoscibilita' del funzionamento e tracciabilita' dell'utilizzo, e al comma 3 misure anche formative. Linee guida approvate in Conferenza Unificata il 10 settembre 2025.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mettere cifre: dipendono dal modello e cambiano ogni pochi mesi. [NEEDS SOURCE] per un costo per mille richieste da citare in aula, se lo si vuole.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pianta secca accanto alla scrivania ordinata: e' esattamente cosa succede a una tassonomia che nessuno possiede.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docs/pilota_4_passi.md ha le stesse informazioni con qualche dettaglio in più. Da qui in poi si parla di cose da fare lunedì.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Una o due settimane. Il lavoro e' della segreteria, non di un consulente. Senza questi numeri, dopo non saprete dire se e' migliorato.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settimane. E' il passo che tutti vogliono saltare ed e' quello che decide se il resto funziona. Oggi ne abbiamo etichettate 40 e gia' si vede dove la tassonomia scricchiola.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Due-quattro settimane. Chi lo fa: qualcuno in Fondazione che sappia gia' usare lo strumento scelto. Se non c'e', il pilota va rimandato o va comprata la competenza.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Un mese. La cosa piu' importante e' aver deciso le soglie prima, altrimenti si guarda il risultato e si decide che va bene comunque.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 la Fondazione non ha nessuno per il passo 3, e' un'informazione preziosa: si compra quel pezzo, non tutto il progetto.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Tre mesi e' realistico se nessuno lavora a tempo pieno. Comprimere il passo 2 e' l'errore classico.</a:t>
            </a:r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terzo punto nasce dall'errore visto prima: una coda che nessuno guarda non e' un controllo.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Sono punti di partenza, non standard: vanno fissati dalla Fondazione prima di vedere i risultati. Oggi, su 40 richieste, tipologia e operatore stanno all'85 per cento e i quattro campi insieme al 60.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fare pubblicità a un fornitore. Il criterio: prendete lo strumento che qualcuno in Fondazione sa già usare.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 usare per chiudere il discorso metriche: per ogni numero che decidete di misurare, dite in anticipo quale decisione cambierebbe. Se non ce n'e' una, non misuratelo.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Sono tre righe, non un documento. Ma senza queste tre righe il pilota dipende dalla buona volonta' di una persona, e finisce quando quella persona cambia ufficio.</a:t>
            </a:r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Nessun piano di tre mesi regge senza margine. Meglio dichiararlo adesso che spiegarlo a dicembre.</a:t>
            </a:r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 dire con convinzione: dare il permesso di fermarsi e' la cosa che rende un pilota davvero un pilota.</a:t>
            </a:r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Gruppi da 3-4. Griglia stampata in esercitazione/griglia_scomposizione.md. Passare fra i tavoli, non restare davanti.</a:t>
            </a:r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Insistere: un passo per riga anche se sembra banale. La banalità è dove si nascondono le integrazioni.</a:t>
            </a:r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Distribuire la griglia stampata. Dare venti minuti veri e avvisare a cinque minuti dalla fine.</a:t>
            </a:r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da usare come modello. Chiedere ai gruppi di arrivare a una tabella così, non più bella.</a:t>
            </a:r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Dettagli in esercitazione/processi_candidati.md. Un processo loro e' sempre meglio di uno dei tre.</a:t>
            </a:r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Slide da lasciare proiettata durante l'esercitazione. Serve a togliere pressione e a segnare il tempo.</a:t>
            </a:r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minuti a gruppo. Scrivere le risposte alla lavagna: di solito il passo che vale di più e quello che rischia di più sono vicini.</a:t>
            </a:r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Chiusura. Sono le tre righe della tesi iniziale, al contrario.</a:t>
            </a:r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terzo punto e' il vero compito. Dieci minuti a settimana per un mese e il passo 2 e' fatto.</a:t>
            </a:r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ATTENZIONE: il repository non è ancora pubblicato. Sostituire &lt;da completare&gt; con l'account GitHub prima della lezione, poi rigenerare il deck. Il comando di push è in HANDOFF.md.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0" y="564050"/>
            <a:ext cx="9144000" cy="3066000"/>
          </a:xfrm>
          <a:prstGeom prst="rect">
            <a:avLst/>
          </a:prstGeom>
          <a:solidFill>
            <a:srgbClr val="E7EDF3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" name="Google Shape;16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3651475"/>
            <a:ext cx="2568950" cy="10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17;p2"/>
          <p:cNvCxnSpPr/>
          <p:nvPr/>
        </p:nvCxnSpPr>
        <p:spPr>
          <a:xfrm>
            <a:off x="0" y="155475"/>
            <a:ext cx="7218000" cy="0"/>
          </a:xfrm>
          <a:prstGeom prst="straightConnector1">
            <a:avLst/>
          </a:prstGeom>
          <a:noFill/>
          <a:ln cap="flat" cmpd="sng" w="19050">
            <a:solidFill>
              <a:srgbClr val="82243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" name="Google Shape;18;p2"/>
          <p:cNvSpPr txBox="1"/>
          <p:nvPr>
            <p:ph type="title"/>
          </p:nvPr>
        </p:nvSpPr>
        <p:spPr>
          <a:xfrm>
            <a:off x="0" y="564050"/>
            <a:ext cx="9144000" cy="1806000"/>
          </a:xfrm>
          <a:prstGeom prst="rect">
            <a:avLst/>
          </a:prstGeom>
        </p:spPr>
        <p:txBody>
          <a:bodyPr anchorCtr="0" anchor="b" bIns="180000" lIns="180000" spcFirstLastPara="1" rIns="180000" wrap="square" tIns="91425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0" y="2370050"/>
            <a:ext cx="9144000" cy="12600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82243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1000"/>
              </a:spcBef>
              <a:spcAft>
                <a:spcPts val="100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" name="Google Shape;20;p2"/>
          <p:cNvSpPr/>
          <p:nvPr>
            <p:ph idx="2" type="pic"/>
          </p:nvPr>
        </p:nvSpPr>
        <p:spPr>
          <a:xfrm>
            <a:off x="2809375" y="3888000"/>
            <a:ext cx="544800" cy="527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1" name="Google Shape;21;p2"/>
          <p:cNvSpPr/>
          <p:nvPr>
            <p:ph idx="3" type="pic"/>
          </p:nvPr>
        </p:nvSpPr>
        <p:spPr>
          <a:xfrm>
            <a:off x="6046625" y="3888000"/>
            <a:ext cx="544800" cy="527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2" name="Google Shape;22;p2"/>
          <p:cNvSpPr txBox="1"/>
          <p:nvPr>
            <p:ph idx="4" type="body"/>
          </p:nvPr>
        </p:nvSpPr>
        <p:spPr>
          <a:xfrm>
            <a:off x="3546550" y="3903225"/>
            <a:ext cx="22278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  <p:sp>
        <p:nvSpPr>
          <p:cNvPr id="23" name="Google Shape;23;p2"/>
          <p:cNvSpPr txBox="1"/>
          <p:nvPr>
            <p:ph idx="5" type="body"/>
          </p:nvPr>
        </p:nvSpPr>
        <p:spPr>
          <a:xfrm>
            <a:off x="6591425" y="3891325"/>
            <a:ext cx="22278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0" y="698075"/>
            <a:ext cx="9144000" cy="1759200"/>
          </a:xfrm>
          <a:prstGeom prst="rect">
            <a:avLst/>
          </a:prstGeom>
          <a:solidFill>
            <a:srgbClr val="E7EDF3">
              <a:alpha val="79870"/>
            </a:srgb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 txBox="1"/>
          <p:nvPr>
            <p:ph idx="1" type="body"/>
          </p:nvPr>
        </p:nvSpPr>
        <p:spPr>
          <a:xfrm>
            <a:off x="0" y="2469775"/>
            <a:ext cx="9144000" cy="2210100"/>
          </a:xfrm>
          <a:prstGeom prst="rect">
            <a:avLst/>
          </a:prstGeom>
        </p:spPr>
        <p:txBody>
          <a:bodyPr anchorCtr="0" anchor="t" bIns="90000" lIns="180000" spcFirstLastPara="1" rIns="180000" wrap="square" tIns="1800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type="title"/>
          </p:nvPr>
        </p:nvSpPr>
        <p:spPr>
          <a:xfrm>
            <a:off x="0" y="698075"/>
            <a:ext cx="9144000" cy="1759200"/>
          </a:xfrm>
          <a:prstGeom prst="rect">
            <a:avLst/>
          </a:prstGeom>
        </p:spPr>
        <p:txBody>
          <a:bodyPr anchorCtr="0" anchor="ctr" bIns="180000" lIns="180000" spcFirstLastPara="1" rIns="180000" wrap="square" tIns="9142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31" name="Google Shape;31;p4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" name="Google Shape;32;p4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" name="Google Shape;33;p4"/>
          <p:cNvSpPr txBox="1"/>
          <p:nvPr>
            <p:ph idx="1" type="body"/>
          </p:nvPr>
        </p:nvSpPr>
        <p:spPr>
          <a:xfrm>
            <a:off x="180000" y="1134300"/>
            <a:ext cx="8784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34" name="Google Shape;34;p4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due colonne">
  <p:cSld name="TITLE_AND_BODY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37" name="Google Shape;37;p5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" name="Google Shape;38;p5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180000" y="1134300"/>
            <a:ext cx="4392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40" name="Google Shape;40;p5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572000" y="1134300"/>
            <a:ext cx="4392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>
  <p:cSld name="TITLE_AND_BODY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44" name="Google Shape;44;p6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5" name="Google Shape;45;p6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" name="Google Shape;46;p6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81000" lvl="1" marL="914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2pPr>
            <a:lvl3pPr indent="-381000" lvl="2" marL="1371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3pPr>
            <a:lvl4pPr indent="-381000" lvl="3" marL="18288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4pPr>
            <a:lvl5pPr indent="-381000" lvl="4" marL="22860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5pPr>
            <a:lvl6pPr indent="-381000" lvl="5" marL="27432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6pPr>
            <a:lvl7pPr indent="-381000" lvl="6" marL="3200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7pPr>
            <a:lvl8pPr indent="-381000" lvl="7" marL="3657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8pPr>
            <a:lvl9pPr indent="-381000" lvl="8" marL="41148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4513500"/>
            <a:ext cx="630000" cy="630000"/>
          </a:xfrm>
          <a:prstGeom prst="rtTriangle">
            <a:avLst/>
          </a:prstGeom>
          <a:solidFill>
            <a:srgbClr val="E7EDF3"/>
          </a:solidFill>
          <a:ln cap="flat" cmpd="sng" w="9525">
            <a:solidFill>
              <a:srgbClr val="E7ED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5139" l="5887" r="69915" t="18230"/>
          <a:stretch/>
        </p:blipFill>
        <p:spPr>
          <a:xfrm>
            <a:off x="-12" y="4783500"/>
            <a:ext cx="316288" cy="36000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2664000" y="4680000"/>
            <a:ext cx="59352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Promo PA Fondazione  |  Agenti AI per i processi interni  |  15.09.2026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2" name="Google Shape;12;p1"/>
          <p:cNvCxnSpPr/>
          <p:nvPr/>
        </p:nvCxnSpPr>
        <p:spPr>
          <a:xfrm flipH="1" rot="10800000">
            <a:off x="2664000" y="4680000"/>
            <a:ext cx="6480000" cy="4500"/>
          </a:xfrm>
          <a:prstGeom prst="straightConnector1">
            <a:avLst/>
          </a:prstGeom>
          <a:noFill/>
          <a:ln cap="flat" cmpd="sng" w="19050">
            <a:solidFill>
              <a:srgbClr val="82243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7.png"/><Relationship Id="rId3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8.png"/><Relationship Id="rId3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8" name="Picture 7" descr="copertina.jpg"/>
          <p:cNvPicPr>
            <a:picLocks noChangeAspect="1"/>
          </p:cNvPicPr>
          <p:nvPr/>
        </p:nvPicPr>
        <p:blipFill>
          <a:blip r:embed="rId2"/>
          <a:srcRect t="24852" b="24852"/>
          <a:stretch>
            <a:fillRect/>
          </a:stretch>
        </p:blipFill>
        <p:spPr>
          <a:xfrm>
            <a:off x="0" y="564050"/>
            <a:ext cx="9144000" cy="30660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564050"/>
            <a:ext cx="9144000" cy="3066000"/>
          </a:xfrm>
          <a:prstGeom prst="rect">
            <a:avLst/>
          </a:prstGeom>
          <a:solidFill>
            <a:srgbClr val="1A0A0D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FFFFFF"/>
                </a:solidFill>
                <a:latin typeface="Arial"/>
              </a:rPr>
              <a:t>Agenti AI per i processi interni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solidFill>
                  <a:srgbClr val="ECECEC"/>
                </a:solidFill>
                <a:latin typeface="Arial"/>
              </a:rPr>
              <a:t>Dal caso helpdesk formazione a un pilota misurabile</a:t>
            </a:r>
          </a:p>
          <a:p>
            <a:r>
              <a:rPr sz="1600">
                <a:solidFill>
                  <a:srgbClr val="ECECEC"/>
                </a:solidFill>
                <a:latin typeface="Arial"/>
              </a:rPr>
              <a:t>Promo PA Fondazione, 15 settembre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0000" y="3835000"/>
            <a:ext cx="6200000" cy="42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Fabrizio Silvestri  |  Sapienza Università di Roma, DIAG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1_riaggancio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10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1. Riaggancio e tesi della giornata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 giugno a oggi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A giugno: ChatGPT come collega. Prompt, Progetti, documenti, RAG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Oggi: dal collega al processo. Cosa succede quando l'AI entra in un flusso di lavoro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vostra e-mail del 2 settembre è il caso di studio: helpdesk formazione</a:t>
            </a:r>
          </a:p>
        </p:txBody>
      </p:sp>
      <p:pic>
        <p:nvPicPr>
          <p:cNvPr id="4" name="Picture 3" descr="c03_da_giugn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Che cosa sapete già fare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Scrivere un prompt che dice il compito, il formato e a chi è destinato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Tenere i documenti in un Progetto, così il contesto non si riscrive ogni volta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Accorgervi quando il modello inventa, e chiedergli su cosa si basa</a:t>
            </a:r>
          </a:p>
        </p:txBody>
      </p:sp>
      <p:pic>
        <p:nvPicPr>
          <p:cNvPr id="4" name="Picture 3" descr="ap_porta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scaletta di oggi</a:t>
            </a:r>
          </a:p>
        </p:txBody>
      </p:sp>
      <p:pic>
        <p:nvPicPr>
          <p:cNvPr id="3" name="Picture 2" descr="scalet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4189" y="1120000"/>
            <a:ext cx="6235622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Prima il vocabolario, poi il vostro caso, poi i limiti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L'ultima mezz'ora è vostra: si lavora in gruppi su un processo della Fondazione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Molte slide sono immagini: interrompete quando volete, le domande valgono di più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Chatbot, workflow, agente</a:t>
            </a:r>
          </a:p>
        </p:txBody>
      </p:sp>
      <p:pic>
        <p:nvPicPr>
          <p:cNvPr id="3" name="Picture 2" descr="chatbot_workflow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283" y="1120000"/>
            <a:ext cx="3991434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chatbot risponde. Non agisce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workflow segue passi decisi da noi; l'AI sta dentro alcuni passi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agente decide da solo i passi. Serve raramente, costa controllo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L'agente autonomo che vi immaginate</a:t>
            </a:r>
          </a:p>
        </p:txBody>
      </p:sp>
      <p:pic>
        <p:nvPicPr>
          <p:cNvPr id="3" name="Picture 2" descr="gag_robot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Autonomo davvero: decide da solo, e non arriva alla tastiera.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Chatbot: chiedete a ChatGPT come si scrive una convocazione. Risponde, e finisce lì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Workflow: la richiesta arriva, il modello la classifica, una regola la smista, un umano invia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Agente: gli dite 'sistema l'helpdesk' e decide lui i passi. Oggi non lo vogliamo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tre tipi, con un esempio ciascuno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tesi in tre righe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Prima si scompone il processo, poi si decide cosa automatizzare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Dove serve giudizio o responsabilità, resta un punto di controllo umano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Si misura prima di automatizzare, e si rimisura dopo</a:t>
            </a:r>
          </a:p>
        </p:txBody>
      </p:sp>
      <p:pic>
        <p:nvPicPr>
          <p:cNvPr id="4" name="Picture 3" descr="c05_tes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2_anatomia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20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2. Anatomia di un sistema agentico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cinque pezzi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Modello: legge testo, produce testo o dati strutturati. Non sa nulla di voi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Strumenti: e-mail, Zoom, Moodle, sito. Il modello li usa, non li possiede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Memoria: tassonomia, storico, regole scritte da voi</a:t>
            </a:r>
          </a:p>
        </p:txBody>
      </p:sp>
      <p:pic>
        <p:nvPicPr>
          <p:cNvPr id="4" name="Picture 3" descr="anatomia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00" y="1180000"/>
            <a:ext cx="4302000" cy="279971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cinque pezzi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Ciclo di azione: leggi, decidi, agisci, verifica. Poi ricomincia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Punto di controllo umano: soglia di confidenza, coda da verificare, invio manuale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sistema senza punto di controllo non è coraggioso, è incompleto</a:t>
            </a:r>
          </a:p>
        </p:txBody>
      </p:sp>
      <p:pic>
        <p:nvPicPr>
          <p:cNvPr id="4" name="Picture 3" descr="anatomia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00" y="1180000"/>
            <a:ext cx="4302000" cy="279971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modello: cosa sa e cosa non 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Sa la lingua, il mondo generico, la forma dei documenti amministrativi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Non sa i vostri corsi, i vostri operatori, le vostre scadenze, i vostri clienti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Tutto quello che non sa glielo dovete passare a ogni chiamata: non se lo ricorda</a:t>
            </a:r>
          </a:p>
        </p:txBody>
      </p:sp>
      <p:pic>
        <p:nvPicPr>
          <p:cNvPr id="4" name="Picture 3" descr="an_modell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Gli strumenti: il modello non possiede niente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Legge la casella se qualcuno gliela collega. Non ha una casella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Ogni strumento è un permesso che concedete, e che potete togliere in un minuto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Nel nostro disegno il modello legge e scrive bozze. Non invia, non cancella</a:t>
            </a:r>
          </a:p>
        </p:txBody>
      </p:sp>
      <p:pic>
        <p:nvPicPr>
          <p:cNvPr id="4" name="Picture 3" descr="an_strumen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memoria: la tassonomia siete voi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memoria che conta non è il ricordo della conversazione: è un file che scrivete voi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Tassonomia, regole, esempi difficili: stanno in un file, non dentro il prompt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Cambiare un corso è cambiare una riga, non riscrivere il sistema</a:t>
            </a:r>
          </a:p>
        </p:txBody>
      </p:sp>
      <p:pic>
        <p:nvPicPr>
          <p:cNvPr id="4" name="Picture 3" descr="an_memori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ciclo di azione</a:t>
            </a:r>
          </a:p>
        </p:txBody>
      </p:sp>
      <p:pic>
        <p:nvPicPr>
          <p:cNvPr id="3" name="Picture 2" descr="ciclo_azi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1238" y="1120000"/>
            <a:ext cx="3501523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Quattro passi, e poi da capo. È tutto qui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passo che sparisce sempre nelle offerte è il quarto: verifica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Senza verifica non è un ciclo, è una freccia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punto di controllo umano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Si progetta prima, non si aggiunge dopo che qualcosa è andato storto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Tre forme: soglia di confidenza, coda da verificare, invio manuale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Nel blocco 4 vedremo che la soglia, da sola, non basta</a:t>
            </a:r>
          </a:p>
        </p:txBody>
      </p:sp>
      <p:pic>
        <p:nvPicPr>
          <p:cNvPr id="4" name="Picture 3" descr="an_controll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Pattern utili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35992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Routing: una richiesta entra, un destinatario esce. Sotto soglia, coda umana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Estrazione strutturata: da testo libero a campi fissi (chi, cosa, quando)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Sono i due pattern che coprono il vostro caso quasi per intero</a:t>
            </a:r>
          </a:p>
        </p:txBody>
      </p:sp>
      <p:pic>
        <p:nvPicPr>
          <p:cNvPr id="4" name="Picture 3" descr="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280" y="1180000"/>
            <a:ext cx="5004720" cy="23206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Orchestratore e worker: un modello spezza il compito, altri lo eseguono. Utile per rendicontazioni lunghe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Valutatore: un secondo passaggio controlla il primo. Utile prima dell'invio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Regola d'oro: compito piccolo, formato di uscita rigido, un umano dove costa sbagliare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Pattern utili 2/2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RAG: il modello cerca nei vostri documenti prima di rispondere. Utile, non magico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Fine tuning: si riaddestra il modello sui vostri dati. Caro, lento, quasi mai necessario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Prompt di sistema: le istruzioni fisse. È lì che vive il comportamento, chiedete di vederlo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Parole da riconoscere in un'offerta 1/3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Output strutturato: il modello restituisce campi fissi, non prosa. Chiedetelo sempre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Guardrail: controlli che bloccano le uscite fuori regola. Vanno mostrati, non promessi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Human in the loop: la persona dentro il ciclo. Chiedete in quale passo, esattamente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Parole da riconoscere in un'offerta 2/3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Orchestrazione: un modello che ne coordina altri. Serve per compiti lunghi, non per lo smistamento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Allucinazione: il modello inventa con sicurezza. Non si elimina, si contiene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Token: l'unità con cui si paga. Chiedete il costo per mille richieste, non per token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Parole da riconoscere in un'offerta 3/3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Quando NON usare un agente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la regola si scrive in un 'se... allora', è una regola. Non serve un modello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l'errore costa più del tempo risparmiato, serve un umano, non un agente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non avete dati per misurarlo, non sapete se funziona. Prima i dati</a:t>
            </a:r>
          </a:p>
        </p:txBody>
      </p:sp>
      <p:pic>
        <p:nvPicPr>
          <p:cNvPr id="4" name="Picture 3" descr="c11_regol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Tre domande da fare a un fornitore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Su quali dati avete misurato l'accuratezza, e posso vedere il campione?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In quale passo esatto interviene una persona, e che cosa vede sullo schermo?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cambio la tassonomia, cosa devo toccare, quanto costa e chi lo fa?</a:t>
            </a:r>
          </a:p>
        </p:txBody>
      </p:sp>
      <p:pic>
        <p:nvPicPr>
          <p:cNvPr id="4" name="Picture 3" descr="an_fornitor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3_helpdesk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30 minuti, con demo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3. Il caso helpdesk formazione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vostri numeri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~300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richieste al mese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8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68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caselle e-mail diverse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6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strumenti di tracciamento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2700000"/>
            <a:ext cx="8784000" cy="19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Canali: e-mail dirette, pagine di iscrizione sul sito, Moodle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Persi quasi del tutto: risposte aperte dei questionari Moodle e chat Zoom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Chi risponde: chi ha la responsabilità sul tema. Funziona finché tutti ricordano tutto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Quindici richieste al giorno</a:t>
            </a:r>
          </a:p>
        </p:txBody>
      </p:sp>
      <p:pic>
        <p:nvPicPr>
          <p:cNvPr id="3" name="Picture 2" descr="gag_carrello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Non è un volume da piattaforma. È un volume da tabella e da regole.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 dove arrivano le richieste</a:t>
            </a:r>
          </a:p>
        </p:txBody>
      </p:sp>
      <p:pic>
        <p:nvPicPr>
          <p:cNvPr id="3" name="Picture 2" descr="cana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2064" y="1120000"/>
            <a:ext cx="5019872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Tre canali arrivano già a qualcuno: caselle, moduli, messaggi Moodle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Due si perdono: questionari e chat Zoom. Sono quelli con dentro i suggerimenti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primo lavoro non è capire il testo: è farlo arrivare tutto nello stesso posto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Cinque caselle</a:t>
            </a:r>
          </a:p>
        </p:txBody>
      </p:sp>
      <p:pic>
        <p:nvPicPr>
          <p:cNvPr id="3" name="Picture 2" descr="gag_telefoni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Cinque caselle e-mail sono cinque telefoni sulla stessa scrivania.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sistema di tracciamento attuale</a:t>
            </a:r>
          </a:p>
        </p:txBody>
      </p:sp>
      <p:pic>
        <p:nvPicPr>
          <p:cNvPr id="3" name="Picture 2" descr="gag_postit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Funziona benissimo, finché la persona che ha scritto i foglietti è in ufficio.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si perde per strada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chat Zoom: nessuno le rilegge, e dentro ci sono domande vere e proposte di corsi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risposte aperte dei questionari: si contano le stelline, non si leggono le frasi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telefonate: fuori portata per oggi, ma vale la pena contarle per un mese</a:t>
            </a:r>
          </a:p>
        </p:txBody>
      </p:sp>
      <p:pic>
        <p:nvPicPr>
          <p:cNvPr id="4" name="Picture 3" descr="hd_canal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Le quattro esigenze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324792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Solo due delle quattro hanno bisogno di un modello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altre due sono integrazione e workflow: si risolvono senza AI, e vanno risolte prima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Ordine consigliato: prima 1, 3 e 4, poi la 2</a:t>
            </a:r>
          </a:p>
        </p:txBody>
      </p:sp>
      <p:pic>
        <p:nvPicPr>
          <p:cNvPr id="4" name="Picture 3" descr="mappa_esige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920" y="1180000"/>
            <a:ext cx="5356080" cy="2589341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1: repository unico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Non è AI. È un contenitore più dei connettori dalle 5 caselle e dai moduli del sito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Va bene anche un foglio condiviso o un ticketing gratuito, purché sia uno solo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Da qui in poi ogni richiesta ha un id, uno stato, un responsabile</a:t>
            </a:r>
          </a:p>
        </p:txBody>
      </p:sp>
      <p:pic>
        <p:nvPicPr>
          <p:cNvPr id="4" name="Picture 3" descr="c15_repository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contenitore che oggi non c'è</a:t>
            </a:r>
          </a:p>
        </p:txBody>
      </p:sp>
      <p:pic>
        <p:nvPicPr>
          <p:cNvPr id="3" name="Picture 2" descr="gag_faldoni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Finché non c'è un posto solo, ogni richiesta trovata è una richiesta che non sa dove andare.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 foglio condiviso basta, purché sia uno solo e ogni riga abbia un id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 connettori dalle caselle si fanno a basso codice, in un pomeriggio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regola vera è organizzativa: nessuno risponde più direttamente dalla propria casella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Come si costruisce il contenitore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L'integrazione è idraulica, non intelligenza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Spostare dati da un posto a un altro senza interpretarli non richiede un modello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È noiosa, è la maggior parte del lavoro, e nessuno la mette nelle presentazioni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un'offerta è tutta AI e niente integrazione, manca il 70 per cento del progetto</a:t>
            </a:r>
          </a:p>
        </p:txBody>
      </p:sp>
      <p:pic>
        <p:nvPicPr>
          <p:cNvPr id="4" name="Picture 3" descr="gag_cav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2: Zoom e Moodle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12632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Testo non strutturato: 17 righe di chat, 4 richieste vere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Il modello separa segnale e rumore e riporta le parole dell'utente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Non riassume, non corregge, non inventa: solo estrae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6320" y="1150000"/>
            <a:ext cx="447768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[10:03] Comune di Pisa: buongiorno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[10:11] Comune di Pisa: le slide verranno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inviate dopo?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[10:25] Unione Valdera: non sento bene...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[10:26] Unione Valdera: ok risolto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[10:48] Comune di Livorno: domanda per il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docente: la soglia per l'affidamento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diretto vale anche per i servizi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di ingegneria?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[11:41] Comune di Lucca: l'attestato viene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rilasciato automaticamente?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[12:20] Provincia: sarebbe utile un corso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sulla parte esecuzione del contratto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[12:29] Comune di Pisa: grazie, ottimo corso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2: cosa esce dall'estrazione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4776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Ogni richiesta porta con sé la riga da cui viene, e il motivo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Il motivo serve a voi, non al modello: è come si controlla a campione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L'id lo ricostruiamo noi dall'orario, non lo lasciamo decidere al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37680" y="1150000"/>
            <a:ext cx="412632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{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"id_origine": "11:41",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"mittente": "Comune di Lucca",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"testo": "l'attestato viene rilasciato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automaticamente o dobbiamo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richiederlo?",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"motivazione": "chiede una procedura,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nessuno ha risposto in chat"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3: classificazione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La tassonomia la scrivete voi, in un file. Il modello la applica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Gli operatori sono ruoli, non persone: così non invecchia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Cambiare un corso non richiede di toccare il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2000" y="1150000"/>
            <a:ext cx="430200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# data/tassonomia.yaml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tipologie: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attestato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descrizione: "Rilascio, correzione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o reinvio dell'attestato"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fatturazione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descrizione: "Fatture, CIG, split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payment, pagamenti"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operatori: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segreteria-didattica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competenze: [iscrizione, attestato,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         informazioni]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amministrazione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competenze: [fatturazione]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soglia_confidenza: 0.7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3: classificazione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4776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Output strutturato: il modello restituisce questo oggetto o un errore. Mai testo libero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La confidenza è dichiarata e decide se assegnare o fermarsi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Sotto 0,7 la richiesta va in coda umana. È il punto di controllo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37680" y="1150000"/>
            <a:ext cx="412632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{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"corso": "bilancio-enti-locali",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"tipologia": "reclamo",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"urgenza": "alta",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"operatore": "direzione",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"confidenza": 0.89,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"campo_meno_sicuro": "urgenza",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"riassunto": "Pontedera: terzo sollecito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per l'attestato, minaccia escalation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entro venerdì"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Ogni voce ha una descrizione breve: serve al modello quanto agli operatori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 voci sono poche e non si sovrappongono. Se due voci litigano, il modello sbaglia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C'è sempre una voce 'altro', ed è un termometro, non una discarica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tassonomia si scrive così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Gli operatori sono ruoli, non persone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Nel file c'è 'segreteria didattica', non il nome di chi ci lavora oggi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qualcuno cambia mansione o va in maternità, la tassonomia non invecchia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ruolo porta con sé le competenze, e la regola di assegnazione segue da sola</a:t>
            </a:r>
          </a:p>
        </p:txBody>
      </p:sp>
      <p:pic>
        <p:nvPicPr>
          <p:cNvPr id="4" name="Picture 3" descr="hd_ruol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Stati e scadenze sono deterministici: nuova, presa in carico, in attesa, chiusa. Nessuna AI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L'AI scrive la bozza di risposta; l'operatore la rivede e la invia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Segnaposto obbligatori dove il sistema non sa: [data], [importo], [link]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4: tracciamento e follow-up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Gli stati di una richiesta</a:t>
            </a:r>
          </a:p>
        </p:txBody>
      </p:sp>
      <p:pic>
        <p:nvPicPr>
          <p:cNvPr id="3" name="Picture 2" descr="sta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489" y="1120000"/>
            <a:ext cx="7079021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Quattro stati e due date: presa in carico e scadenza. Niente di più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passaggio indietro esiste: da 'in attesa utente' si torna a 'presa in carico'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Qui non serve nessun modello, e infatti non ce n'è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L'architettura, tutta insieme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65" y="1150000"/>
            <a:ext cx="7770269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Arancio: passi con un modello. Verde: integrazione o umano. Un workflow, non un agente autonomo.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 dal vivo: cosa vedrete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GPT personalizzato in ChatGPT Business con la tassonomia come file di conoscenza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stessa logica in 200 righe di Python con output strutturato e valutazione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chat Zoom grezza che diventa 4 righe in tabella</a:t>
            </a:r>
          </a:p>
        </p:txBody>
      </p:sp>
      <p:pic>
        <p:nvPicPr>
          <p:cNvPr id="4" name="Picture 3" descr="c21_dem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il risultato</a:t>
            </a:r>
          </a:p>
        </p:txBody>
      </p:sp>
      <p:pic>
        <p:nvPicPr>
          <p:cNvPr id="3" name="Picture 2" descr="tabell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31" y="1150000"/>
            <a:ext cx="7592538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Dieci righe su quaranta. Righe gialle: urgenza alta. Le colonne sono quelle della tassonomia.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R007: reclamo con sollecito. Il tono prevale sull'oggetto, e va alla direzione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RE01: attestato bloccato dalla piattaforma. Due categorie plausibili, nessuna ovvia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RE05: una notifica automatica di ordine MEPA. Non è nemmeno una domanda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le tre righe da guardare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una bozza di risposta (R007)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50000"/>
            <a:ext cx="878400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Gentile Ufficio Tributi,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ha ragione: tre solleciti senza risposta non sono accettabili e ce ne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scusiamo. Abbiamo verificato la sua partecipazione al corso Bilancio e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contabilità degli enti locali e l'attestato le sarà inviato a questo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indirizzo entro [data, prima di venerdì].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Se non dovesse riceverlo, può scrivere direttamente a [contatto responsabile].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Cordiali saluti,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Segreteria Promo PA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Una data inventata è un danno; un buco visibile è dieci secondi di lavoro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regola sta nel prompt di sistema, non nella buona volontà del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È il modo più semplice per rendere visibile il confine di quello che il sistema sa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perché ci sono i segnaposto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Dodici richieste vere</a:t>
            </a:r>
          </a:p>
        </p:txBody>
      </p:sp>
      <p:pic>
        <p:nvPicPr>
          <p:cNvPr id="3" name="Picture 2" descr="hd_dodici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Dodici richieste arrivate davvero alla Fondazione, anonimizzate, importate nel repository.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Dieci su dodici hanno corso 'nessuno': il catalogo vero non è quello della tassonomia di prova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Lavoro agile, cyber security, OIV, performance, società partecipate: non c'erano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Non è un errore del modello. È la tassonomia che va riscritta sul catalogo vostro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ci hanno insegnato le dodici 1/3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Tre richieste su dodici sono commerciali: preventivi, sconti, codici MEPA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tassonomia non ha una voce per il commerciale, e le abbiamo messe sotto fatturazione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È l'approssimazione migliore disponibile, ed è comunque sbagliata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ci hanno insegnato le dodici 2/3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Una richiesta su dodici non è una richiesta: è l'avviso automatico di una casella dismessa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modello l'ha classificata come 'informazioni' e l'ha mandata alla segreteria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 sistema che smista tutto smista anche il rumore. Serve una voce per buttare via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ci hanno insegnato le dodici 3/3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4_limiti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15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4. Limiti e rischi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Serve un campione etichettato a mano: 100-200 richieste, due persone, poi confronto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Dove le due persone non concordano, il problema è la tassonomia, non il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Quello che segue è misurato sul repository, oggi, con quaranta richieste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L'accuratezza si misura, non si stima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numeri di questa esecuzione</a:t>
            </a:r>
          </a:p>
        </p:txBody>
      </p:sp>
      <p:pic>
        <p:nvPicPr>
          <p:cNvPr id="3" name="Picture 2" descr="accuratez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929" y="1150000"/>
            <a:ext cx="7776142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gpt-5-mini, 40 richieste, 10 settembre 2026. Etichette di riferimento scritte a mano.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modello è sicuro anche quando sbaglia</a:t>
            </a:r>
          </a:p>
        </p:txBody>
      </p:sp>
      <p:pic>
        <p:nvPicPr>
          <p:cNvPr id="3" name="Picture 2" descr="confid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150000"/>
            <a:ext cx="8784000" cy="28697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Nessuna richiesta è scesa sotto la soglia. Sedici su quaranta avevano almeno un campo sbagliato.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confidenza dichiarata non è una probabilità: è un numero che il modello sceglie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 crocette rosse stanno a destra della soglia quanto i pallini blu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coda umana va tarata sui dati, non sul numero che il modello si autoassegna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dice quel grafico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Dove si concentrano gli errori</a:t>
            </a:r>
          </a:p>
        </p:txBody>
      </p:sp>
      <p:pic>
        <p:nvPicPr>
          <p:cNvPr id="3" name="Picture 2" descr="errori_cam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150000"/>
            <a:ext cx="8784000" cy="298955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Undici errori su quaranta sul campo urgenza, nessuno sul corso.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regola dice: alta solo con vincolo di tempo esplicito o blocco di accesso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Ma 'avrei urgentemente bisogno' è un vincolo esplicito o solo un tono?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Finché non lo decidete voi, il modello sceglie, e sceglie ogni volta in modo diverso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Urgenza: perché è il campo peggiore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due persone della segreteria darebbero risposte diverse, non è colpa del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tutti darebbero la stessa risposta e il modello no, è colpa del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test costa venti minuti e si fa su venti richieste, prima di comprare qualsiasi cosa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Quando sbaglia il modello e quando la tassonomia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coda umana, in pratica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Qualcuno la apre ogni mattina, o non è un controllo: è un secondo arretrato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Ogni richiesta rivista è un'etichetta gratis: rientra nel campione e migliora la misura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la coda resta vuota per una settimana, la soglia è tarata male</a:t>
            </a:r>
          </a:p>
        </p:txBody>
      </p:sp>
      <p:pic>
        <p:nvPicPr>
          <p:cNvPr id="4" name="Picture 3" descr="hd_cod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può andare storto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modello cambia versione e i numeri si spostano, senza che nessuno se ne accorga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caso nuovo entra in una categoria vecchia perché non ce n'è una giusta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coda umana si riempie, nessuno la guarda, e diventa un secondo arretrato</a:t>
            </a:r>
          </a:p>
        </p:txBody>
      </p:sp>
      <p:pic>
        <p:nvPicPr>
          <p:cNvPr id="4" name="Picture 3" descr="li_stort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Dati personali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richieste contengono nomi, enti e a volte situazioni personali (malattia, contenziosi)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Al modello serve il testo della richiesta, non lo storico del mittente: minimizzazione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Due documenti prima del pilota: registro dei trattamenti e DPA con il fornitore</a:t>
            </a:r>
          </a:p>
        </p:txBody>
      </p:sp>
      <p:pic>
        <p:nvPicPr>
          <p:cNvPr id="4" name="Picture 3" descr="gag_timbr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Non avete un responsabile della protezione dei dati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È il primo passo del pilota, prima della tecnologia: chi risponde di queste decisioni?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Tre strade: nominarlo, prendere un consulente per il pilota, o chiedere al legale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la casella resta vuota, i documenti non li firma nessuno e il pilota si ferma lì</a:t>
            </a:r>
          </a:p>
        </p:txBody>
      </p:sp>
      <p:pic>
        <p:nvPicPr>
          <p:cNvPr id="4" name="Picture 3" descr="pi_scritt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AI Act, art. 4: si applica dal 2 febbraio 2025 e la data non è cambiata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L'AI Omnibus lo ha riscritto: da garantire un livello a adottare misure proporzionate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Questa lezione è una di quelle misure. Verbalizzatela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1/4: alfabetizzazione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AI Act, art. 50: in vigore dal 2 agosto 2026, non rinviato dall'Omnibus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un sistema di AI interagisce con le persone, va detto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Finché la bozza la invia un operatore, l'interazione resta umana e non scatta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2/4: trasparenza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Allegato III: obblighi slittati dal 2 agosto 2026 al 2 dicembre 2027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punto 3 riguarda l'accesso agli studi, la valutazione dell'apprendimento, gli esami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Smistare una richiesta amministrativa non è nessuno di quei casi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3/4: alto rischio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Legge 132/2025, art. 14: l'AI è di supporto, la responsabilità resta alla persona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Vincola le PA, non la Fondazione. È il metro con cui i vostri enti clienti vi guarderanno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Linee guida AgID: analisi, rischi, progettazione, monitoraggio. Il pilota le ricalca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4/4: Italia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Quanto costa davvero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chiamate al modello, su questi volumi, sono la voce più piccola del conto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costo vero è la persona che ogni trimestre guarda gli errori e aggiorna il file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Chiedete al fornitore il costo per mille richieste, e il costo di una modifica</a:t>
            </a:r>
          </a:p>
        </p:txBody>
      </p:sp>
      <p:pic>
        <p:nvPicPr>
          <p:cNvPr id="4" name="Picture 3" descr="li_cos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Manutenzione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tassonomia invecchia: nuovi corsi, nuovi ruoli. Qualcuno la possiede e l'aggiorna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modello cambia: ogni cambio di versione si rimisura sul campione etichettato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coda umana è il termometro: se supera il 30%, si rivede la tassonomia, non il modello</a:t>
            </a:r>
          </a:p>
        </p:txBody>
      </p:sp>
      <p:pic>
        <p:nvPicPr>
          <p:cNvPr id="4" name="Picture 3" descr="gag_piant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5_pilota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15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5. Dal caso d'uso al pilota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Passo 1: audit del flusso attuale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956" y="1120000"/>
            <a:ext cx="5562088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Contare le richieste per canale per quattro settimane, telefonate comprese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Cronometrare il tempo dalla ricezione alla prima risposta, per tipologia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Costo: un foglio e la costanza di compilarlo. Nessuna tecnologia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Passo 2: tassonomia e dati etichettati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956" y="1120000"/>
            <a:ext cx="5562088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Scrivere il file con i corsi veri e i ruoli veri, non quelli di esempio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Etichettare a mano 100-200 richieste storiche, due persone in parallelo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Dove le due persone non concordano, si riscrive la voce. È il lavoro vero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Passo 3: prototipo a basso codice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956" y="1120000"/>
            <a:ext cx="5562088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Contenitore unico, connettori dalle caselle, classificatore, coda da verificare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GPT personalizzato basta per cominciare: il codice serve quando volete misurare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L'invio resta umano per tutto il pilota, senza eccezioni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Passo 4: misurare un mese, poi decidere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956" y="1120000"/>
            <a:ext cx="5562088" cy="18508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3120805"/>
            <a:ext cx="8784000" cy="1479195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stesse metriche del passo 1, sugli stessi canali, dopo un mese di uso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Tre esiti possibili: estendere, correggere, fermare. Tutti e tre legittimi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La decisione la prende la direzione, con i numeri davanti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Chi fa cosa</a:t>
            </a:r>
          </a:p>
        </p:txBody>
      </p:sp>
      <p:pic>
        <p:nvPicPr>
          <p:cNvPr id="3" name="Picture 2" descr="ruo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150000"/>
            <a:ext cx="8784000" cy="2765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Nessuna riga dice 'consulente esterno'. Se ne serve uno, sta accanto, non al posto.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calendario</a:t>
            </a:r>
          </a:p>
        </p:txBody>
      </p:sp>
      <p:pic>
        <p:nvPicPr>
          <p:cNvPr id="3" name="Picture 2" descr="calend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150000"/>
            <a:ext cx="8784000" cy="24138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Tre mesi dall'inizio alla decisione. I primi due passi si sovrappongono poco.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Metriche decise prima di partire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Accuratezza per campo sul campione etichettato, non a sensazione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Tempo alla prima risposta e ore di segreteria a settimana: prima e dopo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Quota di richieste in coda umana, e quante di quelle vengono davvero riviste</a:t>
            </a:r>
          </a:p>
        </p:txBody>
      </p:sp>
      <p:pic>
        <p:nvPicPr>
          <p:cNvPr id="4" name="Picture 3" descr="pi_metr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Sotto l'80% su tipologia e operatore il sistema fa perdere tempo invece di darne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Sopra il 30% di coda umana la tassonomia è ambigua, non il modello è scarso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il tempo alla prima risposta non scende, il collo di bottiglia era altrove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Le tre soglie, spiegate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ChatGPT Business: GPT personalizzato o Progetto con la tassonomia come file. Zero codice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Connettori: Make, Zapier, n8n, oppure le automazioni di Microsoft 365 o Google Workspace già in uso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codice del repository serve quando volete misurare e integrare per davvero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Strumenti a basso codice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Il report che nessuno legge</a:t>
            </a:r>
          </a:p>
        </p:txBody>
      </p:sp>
      <p:pic>
        <p:nvPicPr>
          <p:cNvPr id="3" name="Picture 2" descr="gag_stampante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Una metrica che non cambia una decisione è carta.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Cosa mettere per iscritto prima di partire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Chi possiede la tassonomia e ogni quanto la rivede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Chi guarda la coda umana, quando, e cosa fa se cresce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Registro dei trattamenti e DPA con il fornitore, firmati da qualcuno</a:t>
            </a:r>
          </a:p>
        </p:txBody>
      </p:sp>
      <p:pic>
        <p:nvPicPr>
          <p:cNvPr id="4" name="Picture 3" descr="gag_pulsan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Quello che il piano non prevede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Una persona chiave in ferie proprio nelle due settimane di etichettatura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fornitore che cambia versione del modello mentre state misurando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Mettete due settimane di margine e decidete in anticipo chi sostituisce chi</a:t>
            </a:r>
          </a:p>
        </p:txBody>
      </p:sp>
      <p:pic>
        <p:nvPicPr>
          <p:cNvPr id="4" name="Picture 3" descr="gag_ombrello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Fermarsi è un esito legittimo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pilota serve a scoprire a basso costo se conviene, non a dimostrare che conviene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 dopo un mese i numeri non si muovono, si ferma e si è imparato qualcosa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Il costo di fermarsi dopo tre mesi è mille volte più basso di quello di una piattaforma</a:t>
            </a:r>
          </a:p>
        </p:txBody>
      </p:sp>
      <p:pic>
        <p:nvPicPr>
          <p:cNvPr id="4" name="Picture 3" descr="pi_fermars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6_esercitazione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20 minuti più 10 di restituzione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6. Esercitazione in gruppi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Consegna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Scegliete un processo della Fondazione: rendicontazione, rassegna stampa, iscrizioni, o uno vostro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Scomponetelo con la griglia: un passo per riga, input, decisione, output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Per ogni passo: integrazione, AI o umano?</a:t>
            </a:r>
          </a:p>
        </p:txBody>
      </p:sp>
      <p:pic>
        <p:nvPicPr>
          <p:cNvPr id="4" name="Picture 3" descr="c36_consegn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griglia da compilare</a:t>
            </a:r>
          </a:p>
        </p:txBody>
      </p:sp>
      <p:pic>
        <p:nvPicPr>
          <p:cNvPr id="3" name="Picture 2" descr="griglia_vuo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1150000"/>
            <a:ext cx="8784000" cy="29229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Sei righe bastano. Se ne servono di più, il processo era due processi.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griglia, compilata sull'helpdesk</a:t>
            </a:r>
          </a:p>
        </p:txBody>
      </p:sp>
      <p:pic>
        <p:nvPicPr>
          <p:cNvPr id="3" name="Picture 2" descr="grig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42" y="1150000"/>
            <a:ext cx="7108515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Tre passi su sette con AI. Due restano umani. Il resto è integrazione o regola.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Tre processi candidati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Rendicontazione di un progetto: documenti eterogenei, la firma resta umana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Rassegna stampa e bandi: filtrare con criteri scritti da voi, decidere resta a voi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Iscrizioni ai corsi: estrarre dati da testi liberi e segnalare le incongruenze</a:t>
            </a:r>
          </a:p>
        </p:txBody>
      </p:sp>
      <p:pic>
        <p:nvPicPr>
          <p:cNvPr id="4" name="Picture 3" descr="es_process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Mentre lavorate</a:t>
            </a:r>
          </a:p>
        </p:txBody>
      </p:sp>
      <p:pic>
        <p:nvPicPr>
          <p:cNvPr id="3" name="Picture 2" descr="gag_cane.jpg"/>
          <p:cNvPicPr>
            <a:picLocks noChangeAspect="1"/>
          </p:cNvPicPr>
          <p:nvPr/>
        </p:nvPicPr>
        <p:blipFill>
          <a:blip r:embed="rId2"/>
          <a:srcRect t="24214" b="24214"/>
          <a:stretch>
            <a:fillRect/>
          </a:stretch>
        </p:blipFill>
        <p:spPr>
          <a:xfrm>
            <a:off x="180000" y="1140000"/>
            <a:ext cx="8784000" cy="30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2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Venti minuti. Nessuno vi guarda le spalle.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Restituzione: tre domande per gruppo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Qual è il passo che, automatizzato, fa risparmiare più tempo?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Qual è il passo dove un errore del sistema costa di più?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Quale numero misurereste dopo un mese per decidere se continuare?</a:t>
            </a:r>
          </a:p>
        </p:txBody>
      </p:sp>
      <p:pic>
        <p:nvPicPr>
          <p:cNvPr id="4" name="Picture 3" descr="c38_restituzion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Tre errori da evitare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200000"/>
            <a:ext cx="5180400" cy="31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900">
                <a:solidFill>
                  <a:srgbClr val="212121"/>
                </a:solidFill>
                <a:latin typeface="Arial"/>
              </a:rPr>
              <a:t>Automatizzare prima di misurare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900">
                <a:solidFill>
                  <a:srgbClr val="212121"/>
                </a:solidFill>
                <a:latin typeface="Arial"/>
              </a:rPr>
              <a:t>Togliere l'umano troppo presto</a:t>
            </a:r>
          </a:p>
          <a:p>
            <a:pPr marL="285750" indent="-228600" lvl="0">
              <a:spcAft>
                <a:spcPts val="1200"/>
              </a:spcAft>
              <a:buClr>
                <a:srgbClr val="822433"/>
              </a:buClr>
              <a:buFont typeface="Arial"/>
              <a:buChar char="•"/>
            </a:pPr>
            <a:r>
              <a:rPr sz="1900">
                <a:solidFill>
                  <a:srgbClr val="212121"/>
                </a:solidFill>
                <a:latin typeface="Arial"/>
              </a:rPr>
              <a:t>Comprare la piattaforma prima di aver definito il processo</a:t>
            </a:r>
          </a:p>
        </p:txBody>
      </p:sp>
      <p:pic>
        <p:nvPicPr>
          <p:cNvPr id="4" name="Picture 3" descr="c39_error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540400" y="1250000"/>
            <a:ext cx="3423600" cy="22824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 repository con dati, codice, griglia e queste slide, che gira anche senza chiave API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Tre domande da fare a un fornitore, e una diagnosi per capire chi ha sbagliato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Una tassonomia da riscrivere sui vostri corsi veri: è il compito per lunedì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Che cosa vi portate a casa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Codice, dati, griglia e slide: github.com/&lt;da completare&gt;/promopa-agenti-ai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Tutto gira anche senza chiave API (modalità 'mock') per provare la forma dell'output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fabrizio.silvestri@uniroma1.it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Materiali e contatti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sez7_grazie.jpg"/>
          <p:cNvPicPr>
            <a:picLocks noChangeAspect="1"/>
          </p:cNvPicPr>
          <p:nvPr/>
        </p:nvPicPr>
        <p:blipFill>
          <a:blip r:embed="rId2"/>
          <a:srcRect t="13091" b="13091"/>
          <a:stretch>
            <a:fillRect/>
          </a:stretch>
        </p:blipFill>
        <p:spPr>
          <a:xfrm>
            <a:off x="0" y="0"/>
            <a:ext cx="9144000" cy="4500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0" y="0"/>
            <a:ext cx="9144000" cy="4500000"/>
          </a:xfrm>
          <a:prstGeom prst="rect">
            <a:avLst/>
          </a:prstGeom>
          <a:solidFill>
            <a:srgbClr val="1A0A0D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ECECEC"/>
                </a:solidFill>
                <a:latin typeface="Arial"/>
              </a:rPr>
              <a:t>Domande?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FFFFFF"/>
                </a:solidFill>
                <a:latin typeface="Arial"/>
              </a:rPr>
              <a:t>Grazie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STLes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272822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