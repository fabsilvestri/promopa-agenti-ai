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9"/>
    <p:sldId id="257" r:id="rId8"/>
    <p:sldId id="258" r:id="rId7"/>
    <p:sldId id="259" r:id="rId6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</p:sldIdLst>
  <p:sldSz cy="5143500" cx="9144000"/>
  <p:notesSz cx="6858000" cy="9144000"/>
  <p:embeddedFontLst>
    <p:embeddedFont>
      <p:font typeface="Lato"/>
      <p:regular r:id="rId10"/>
      <p:bold r:id="rId11"/>
      <p:italic r:id="rId12"/>
      <p:boldItalic r:id="rId13"/>
    </p:embeddedFont>
    <p:embeddedFont>
      <p:font typeface="Nuni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font" Target="fonts/Lato-regular.fntdata"/><Relationship Id="rId11" Type="http://schemas.openxmlformats.org/officeDocument/2006/relationships/font" Target="fonts/Lato-bold.fntdata"/><Relationship Id="rId12" Type="http://schemas.openxmlformats.org/officeDocument/2006/relationships/font" Target="fonts/Lato-italic.fntdata"/><Relationship Id="rId13" Type="http://schemas.openxmlformats.org/officeDocument/2006/relationships/font" Target="fonts/Lato-boldItalic.fntdata"/><Relationship Id="rId14" Type="http://schemas.openxmlformats.org/officeDocument/2006/relationships/font" Target="fonts/NunitoMedium-regular.fntdata"/><Relationship Id="rId15" Type="http://schemas.openxmlformats.org/officeDocument/2006/relationships/font" Target="fonts/NunitoMedium-bold.fntdata"/><Relationship Id="rId16" Type="http://schemas.openxmlformats.org/officeDocument/2006/relationships/font" Target="fonts/NunitoMedium-italic.fntdata"/><Relationship Id="rId17" Type="http://schemas.openxmlformats.org/officeDocument/2006/relationships/font" Target="fonts/NunitoMedium-boldItalic.fntdata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Seconda lezione dopo quella del 22 giugno su ChatGPT. Oggi si passa dallo strumento personale al processo. Materiale e codice: github (vedi ultima slide).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Chiedere: chi ha usato Progetti o GPT personalizzati da giugno? Due minuti di giro di tavolo.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Richiamare che ChatGPT Business è già in uso in Fondazione: tutto ciò che vedremo si può provare lì.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Tesi provocatoria ma vera: la maggior parte dei 'processi ripetitivi' vuole un workflow con AI dentro, non un agente autonomo. L'autonomia si compra con la prevedibilità.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Queste tre righe tornano alla fine come 'tre errori da evitare'.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Vocabolario minimo per parlare con fornitori e consulenti senza farsi vendere un agente quando serve una regola.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modello è la parte più famosa e la meno importante dal punto di vista del processo: cambia ogni sei mesi. Tassonomia e strumenti restano.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punto di controllo è progettato, non aggiunto dopo. Se il fornitore non sa dirvi dove sta, la risposta è 'da nessuna parte'.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Anthropic e OpenAI usano nomi diversi per gli stessi pattern; l'idea è la stessa: dare al modello un compito piccolo e un formato di uscita rigido.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entrare nei dettagli di orchestrazione: basta che riconoscano i nomi quando li leggono in un'offerta.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Esempio: 'assegna all'amministrazione tutto ciò che è fatturazione' è una regola. 'Capisci se questa e-mail parla di fatturazione' è AI.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Dati forniti da Matteo Baesso l'8 settembre: 300 richieste/mese, 5 caselle, nessuno strumento di tracciamento.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300 al mese sono 15 al giorno lavorativo. Non è volume da sistema complesso: è volume da 'una tabella e una regola di smistamento'.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L'ordine è controintuitivo: la 2 (Zoom e Moodle) è la più affascinante e la meno urgente. Senza il contenitore unico, le richieste estratte non hanno dove andare.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Menzionare strumenti a basso codice: Make, Zapier, n8n, o le automazioni di Microsoft 365 / Google Workspace che già pagano.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Righe evidenziate a voce: 10:11, 10:48, 11:41, 12:20 sono richieste. 10:25 no: l'utente dice 'risolto'. 12:29 è un ringraziamento, non un feedback azionabile.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file è nel repository. In demo cambieremo una voce e rifaremo la classificazione senza toccare il prompt.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R007. Il reclamo prevale sull'oggetto (attestato): regola scritta nel prompt di sistema, non dedotta dal modello.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bozza con segnaposto è una scelta di progetto: preferiamo un buco visibile a una data inventata.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Contare i passi con AI: tre su sette. Il resto è idraulica. È il messaggio centrale della lezione.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Sequenza in demo/README.md. Piano B senza rete: demo/output_esempio. Tempo: 10 min GPT, 10 min codice, 10 min discussione.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Fermarsi su Q06: 'l'audio era pessimo, esiste la registrazione?' È reclamo o feedback? Il modello non è sicuro (0,66) e lo dice. Decide un umano. Comportamento voluto.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segnaposto: la data e il contatto. Il modello non li conosce e non li inventa. L'operatore li riempie in dieci secondi.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Senza giri di parole. Questa parte serve a evitare che qualcuno compri qualcosa a ottobre.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src/helpdesk_agent/valuta.py. Il backend 'mock' (regole) serve proprio a mostrare quanto sia facile sentirsi soddisfatti senza numeri.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Verificare con il DPO: base giuridica, sede di trattamento dei dati OpenAI, necessità di DPIA se si aggiungono risposte automatiche.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Fonti: Reg. UE 2024/1689; Reg. UE 2026/1744 (AI Omnibus, in vigore dal 27 luglio 2026). Dettagli e punti da verificare in docs/normativa.md. Finché l'invio resta umano, art. 50 non scatta per la risposta.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fare l'avvocato. Il messaggio è: il caso è nel perimetro semplice, a condizione che invio e decisioni restino umani e che i due documenti esistano.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costo vero non è la licenza: è la persona che ogni trimestre guarda gli errori e aggiorna il file.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docs/pilota_4_passi.md ha le stesse informazioni con qualche dettaglio in più.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Tempi indicativi: 1-2 settimane il primo, 2 il secondo. Il lavoro è della segreteria, non di un consulente.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Fermarsi è un esito legittimo. Il pilota serve a scoprirlo a basso costo.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soglie sono punti di partenza. Vanno fissate dalla Fondazione prima, non dopo aver visto i risultati.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fare pubblicità a un fornitore. Il criterio: prendete lo strumento che qualcuno in Fondazione sa già usare.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Gruppi da 3-4. Griglia stampata in esercitazione/griglia_scomposizione.md.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Insistere: un passo per riga anche se sembra banale. La banalità è dove si nascondono le integrazioni.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da usare come modello. Chiedere ai gruppi di arrivare a una tabella così.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minuti a gruppo. Scrivere le risposte alla lavagna: di solito il passo che vale di più e quello che rischia di più sono vicini.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Chiusura. Sono le tre righe della tesi iniziale, al contrario.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Sostituire la prima riga con l'URL GitHub una volta pubblicato.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0" y="564050"/>
            <a:ext cx="9144000" cy="3066000"/>
          </a:xfrm>
          <a:prstGeom prst="rect">
            <a:avLst/>
          </a:prstGeom>
          <a:solidFill>
            <a:srgbClr val="E7EDF3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" name="Google Shape;16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3651475"/>
            <a:ext cx="2568950" cy="10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2"/>
          <p:cNvCxnSpPr/>
          <p:nvPr/>
        </p:nvCxnSpPr>
        <p:spPr>
          <a:xfrm>
            <a:off x="0" y="155475"/>
            <a:ext cx="7218000" cy="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" name="Google Shape;18;p2"/>
          <p:cNvSpPr txBox="1"/>
          <p:nvPr>
            <p:ph type="title"/>
          </p:nvPr>
        </p:nvSpPr>
        <p:spPr>
          <a:xfrm>
            <a:off x="0" y="564050"/>
            <a:ext cx="9144000" cy="1806000"/>
          </a:xfrm>
          <a:prstGeom prst="rect">
            <a:avLst/>
          </a:prstGeom>
        </p:spPr>
        <p:txBody>
          <a:bodyPr anchorCtr="0" anchor="b" bIns="180000" lIns="180000" spcFirstLastPara="1" rIns="180000" wrap="square" tIns="91425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0" y="2370050"/>
            <a:ext cx="9144000" cy="12600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82243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1000"/>
              </a:spcBef>
              <a:spcAft>
                <a:spcPts val="10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" name="Google Shape;20;p2"/>
          <p:cNvSpPr/>
          <p:nvPr>
            <p:ph idx="2" type="pic"/>
          </p:nvPr>
        </p:nvSpPr>
        <p:spPr>
          <a:xfrm>
            <a:off x="280937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1" name="Google Shape;21;p2"/>
          <p:cNvSpPr/>
          <p:nvPr>
            <p:ph idx="3" type="pic"/>
          </p:nvPr>
        </p:nvSpPr>
        <p:spPr>
          <a:xfrm>
            <a:off x="604662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2" name="Google Shape;22;p2"/>
          <p:cNvSpPr txBox="1"/>
          <p:nvPr>
            <p:ph idx="4" type="body"/>
          </p:nvPr>
        </p:nvSpPr>
        <p:spPr>
          <a:xfrm>
            <a:off x="3546550" y="39032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5" type="body"/>
          </p:nvPr>
        </p:nvSpPr>
        <p:spPr>
          <a:xfrm>
            <a:off x="6591425" y="38913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0" y="698075"/>
            <a:ext cx="9144000" cy="1759200"/>
          </a:xfrm>
          <a:prstGeom prst="rect">
            <a:avLst/>
          </a:prstGeom>
          <a:solidFill>
            <a:srgbClr val="E7EDF3">
              <a:alpha val="79870"/>
            </a:srgb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 txBox="1"/>
          <p:nvPr>
            <p:ph idx="1" type="body"/>
          </p:nvPr>
        </p:nvSpPr>
        <p:spPr>
          <a:xfrm>
            <a:off x="0" y="2469775"/>
            <a:ext cx="9144000" cy="2210100"/>
          </a:xfrm>
          <a:prstGeom prst="rect">
            <a:avLst/>
          </a:prstGeom>
        </p:spPr>
        <p:txBody>
          <a:bodyPr anchorCtr="0" anchor="t" bIns="90000" lIns="180000" spcFirstLastPara="1" rIns="180000" wrap="square" tIns="1800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type="title"/>
          </p:nvPr>
        </p:nvSpPr>
        <p:spPr>
          <a:xfrm>
            <a:off x="0" y="698075"/>
            <a:ext cx="9144000" cy="1759200"/>
          </a:xfrm>
          <a:prstGeom prst="rect">
            <a:avLst/>
          </a:prstGeom>
        </p:spPr>
        <p:txBody>
          <a:bodyPr anchorCtr="0" anchor="ctr" bIns="180000" lIns="180000" spcFirstLastPara="1" rIns="180000" wrap="square" tIns="9142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1" name="Google Shape;31;p4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" name="Google Shape;32;p4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" name="Google Shape;33;p4"/>
          <p:cNvSpPr txBox="1"/>
          <p:nvPr>
            <p:ph idx="1" type="body"/>
          </p:nvPr>
        </p:nvSpPr>
        <p:spPr>
          <a:xfrm>
            <a:off x="180000" y="1134300"/>
            <a:ext cx="8784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34" name="Google Shape;34;p4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due colonne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7" name="Google Shape;37;p5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" name="Google Shape;38;p5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180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40" name="Google Shape;40;p5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572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>
  <p:cSld name="TITLE_AND_BODY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44" name="Google Shape;44;p6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5" name="Google Shape;45;p6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" name="Google Shape;46;p6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810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2pPr>
            <a:lvl3pPr indent="-381000" lvl="2" marL="1371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3pPr>
            <a:lvl4pPr indent="-381000" lvl="3" marL="18288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4pPr>
            <a:lvl5pPr indent="-381000" lvl="4" marL="22860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5pPr>
            <a:lvl6pPr indent="-381000" lvl="5" marL="27432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6pPr>
            <a:lvl7pPr indent="-381000" lvl="6" marL="3200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7pPr>
            <a:lvl8pPr indent="-381000" lvl="7" marL="3657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8pPr>
            <a:lvl9pPr indent="-381000" lvl="8" marL="41148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4513500"/>
            <a:ext cx="630000" cy="630000"/>
          </a:xfrm>
          <a:prstGeom prst="rtTriangle">
            <a:avLst/>
          </a:prstGeom>
          <a:solidFill>
            <a:srgbClr val="E7EDF3"/>
          </a:solidFill>
          <a:ln cap="flat" cmpd="sng" w="9525">
            <a:solidFill>
              <a:srgbClr val="E7ED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5139" l="5887" r="69915" t="18230"/>
          <a:stretch/>
        </p:blipFill>
        <p:spPr>
          <a:xfrm>
            <a:off x="-12" y="4783500"/>
            <a:ext cx="316288" cy="360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2664000" y="4680000"/>
            <a:ext cx="59352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Promo PA Fondazione  |  Agenti AI per i processi interni  |  15.09.2026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2" name="Google Shape;12;p1"/>
          <p:cNvCxnSpPr/>
          <p:nvPr/>
        </p:nvCxnSpPr>
        <p:spPr>
          <a:xfrm flipH="1" rot="10800000">
            <a:off x="2664000" y="4680000"/>
            <a:ext cx="6480000" cy="450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822433"/>
                </a:solidFill>
                <a:latin typeface="Arial"/>
              </a:rPr>
              <a:t>Agenti AI per i processi interni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solidFill>
                  <a:srgbClr val="595959"/>
                </a:solidFill>
                <a:latin typeface="Arial"/>
              </a:rPr>
              <a:t>Dal caso helpdesk formazione a un pilota misurabile</a:t>
            </a:r>
          </a:p>
          <a:p>
            <a:r>
              <a:rPr sz="1600">
                <a:solidFill>
                  <a:srgbClr val="595959"/>
                </a:solidFill>
                <a:latin typeface="Arial"/>
              </a:rPr>
              <a:t>Promo PA Fondazione, 15 settembre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00000" y="3760000"/>
            <a:ext cx="6200000" cy="42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Fabrizio Silvestri  |  Sapienza Università di Roma, DIAG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1. Riaggancio e tesi della giornata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 giugno: ChatGPT come collega. Prompt, Progetti, documenti, RAG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Oggi: dal collega al processo. Cosa succede quando l'AI entra in un flusso di lavoro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vostra e-mail del 2 settembre è il caso di studio: helpdesk formazione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 giugno a oggi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Chatbot, workflow, agente</a:t>
            </a:r>
          </a:p>
        </p:txBody>
      </p:sp>
      <p:pic>
        <p:nvPicPr>
          <p:cNvPr id="3" name="Picture 2" descr="chatbot_workflow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810" y="1120000"/>
            <a:ext cx="3558379" cy="16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920000"/>
            <a:ext cx="8784000" cy="16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chatbot risponde. Non agisce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workflow segue passi decisi da noi; l'AI sta dentro alcuni passi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agente decide da solo i passi. Serve raramente, costa controllo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Prima si scompone il processo, poi si decide cosa automatizzare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Dove serve giudizio o responsabilità, resta un punto di controllo umano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Si misura prima di automatizzare, e si rimisura dopo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tesi in tre righe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20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2. Anatomia di un sistema agentico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Modello: legge testo, produce testo o dati strutturati. Non sa nulla di voi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Strumenti: e-mail, Zoom, Moodle, sito. Il modello li usa, non li possiede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Memoria: tassonomia, storico, regole scritte da voi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Ciclo di azione: leggi, decidi, agisci, verifica. Poi ricomincia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Punto di controllo umano: soglia di confidenza, coda da verificare, invio manuale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sistema senza punto di controllo non è coraggioso, è incompleto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5992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Routing: una richiesta entra, un destinatario esce. Sotto soglia, coda umana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Estrazione strutturata: da testo libero a campi fissi (chi, cosa, quando)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Sono i due pattern che coprono il vostro caso quasi per intero</a:t>
            </a:r>
          </a:p>
        </p:txBody>
      </p:sp>
      <p:pic>
        <p:nvPicPr>
          <p:cNvPr id="4" name="Picture 3" descr="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280" y="1180000"/>
            <a:ext cx="5004720" cy="23206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Orchestratore e worker: un modello spezza il compito, altri lo eseguono. Utile per rendicontazioni lunghe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Valutatore: un secondo passaggio controlla il primo. Utile prima dell'invio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Regola d'oro: compito piccolo, formato di uscita rigido, un umano dove costa sbagliare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2/2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la regola si scrive in un 'se... allora', è una regola. Non serve un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l'errore costa più del tempo risparmiato, serve un umano, non un agente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non avete dati per misurarlo, non sapete se funziona. Prima i dati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Quando NON usare un agente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30 minuti, con demo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3. Il caso helpdesk formazione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vostri numeri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~300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richieste al mese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8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68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caselle e-mail diverse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6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strumenti di tracciamento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2700000"/>
            <a:ext cx="8784000" cy="19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Canali: e-mail dirette, pagine di iscrizione sul sito, Moodle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Persi quasi del tutto: risposte aperte dei questionari Moodle e chat Zoom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Chi risponde: chi ha la responsabilità sul tema. Funziona finché tutti ricordano tutto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Le quattro esigenze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2479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Solo due delle quattro hanno bisogno di un modello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altre due sono integrazione e workflow: si risolvono senza AI, e vanno risolte prima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Ordine consigliato: 1, 3, 4, poi 2</a:t>
            </a:r>
          </a:p>
        </p:txBody>
      </p:sp>
      <p:pic>
        <p:nvPicPr>
          <p:cNvPr id="4" name="Picture 3" descr="mappa_esige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920" y="1180000"/>
            <a:ext cx="5356080" cy="25893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Non è AI. È un contenitore più dei connettori dalle 5 caselle e dai moduli del sito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Va bene anche un foglio condiviso o un ticketing gratuito, purché sia uno solo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Da qui in poi ogni richiesta ha un id, uno stato, un responsabile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1: repository unico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2: Zoom e Moodle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1263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Testo non strutturato: 17 righe di chat, 4 richieste vere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Il modello separa segnale e rumore e riporta le parole dell'utente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Non riassume, non corregge, non inventa: solo estrae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6320" y="1150000"/>
            <a:ext cx="4477680" cy="338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[10:03] Comune di Pisa: buongiorno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[10:11] Comune di Pisa: le slide verranno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inviate dopo?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[10:25] Unione Valdera: non sento bene...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[10:26] Unione Valdera: ok risolto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[10:48] Comune di Livorno: domanda per il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docente: la soglia per l'affidamento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diretto vale anche per i servizi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 ingegneria?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[11:41] Comune di Lucca: l'attestato viene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rilasciato automaticamente?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[12:20] Provincia: sarebbe utile un corso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sulla parte esecuzione del contratto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[12:29] Comune di Pisa: grazie, ottimo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tassonomia la scrivete voi, in un file. Il modello la applica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Gli operatori sono ruoli, non persone: così non invecchia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Cambiare un corso non richiede di toccare il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2000" y="1150000"/>
            <a:ext cx="4302000" cy="338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# data/tassonomia.yaml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tipologie: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attestato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"Rilascio, correzione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o reinvio dell'attestato"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fatturazione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"Fatture, CIG, split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payment, pagamenti"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operatori: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segreteria-didattica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[iscrizione, attestato,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         informazioni]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amministrazione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[fatturazione]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soglia_confidenza: 0.7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4776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Output strutturato: il modello restituisce questo oggetto o un errore. Mai testo libero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confidenza è dichiarata e decide se assegnare o fermarsi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Sotto 0,7 la richiesta va in coda umana. È il punto di controllo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37680" y="1150000"/>
            <a:ext cx="4126320" cy="338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{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"corso": "bilancio-enti-locali",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"tipologia": "reclamo",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"urgenza": "alta",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"operatore": "direzione",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"confidenza": 0.89,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"campo_meno_sicuro": "urgenza",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"riassunto": "Pontedera: terzo sollecito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per l'attestato, minaccia escalation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entro venerdi"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Stati e scadenze sono deterministici: nuova, presa in carico, in attesa, chiusa. Nessuna AI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L'AI scrive la bozza di risposta; l'operatore la rivede e la invia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Segnaposto obbligatori dove il sistema non sa: [data], [importo], [link]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4: tracciamento e follow-up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L'architettura, tutta insieme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65" y="1150000"/>
            <a:ext cx="7770269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Arancio: passi con un modello. Verde: integrazione o umano. Un workflow, non un agente autonomo.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 GPT personalizzato in ChatGPT Business con la tassonomia come file di conoscenza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stessa logica in 200 righe di Python con output strutturato e valutazione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chat Zoom grezza che diventa 4 righe in tabella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 dal vivo: cosa vedrete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il risultato</a:t>
            </a:r>
          </a:p>
        </p:txBody>
      </p:sp>
      <p:pic>
        <p:nvPicPr>
          <p:cNvPr id="3" name="Picture 2" descr="tabell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31" y="1150000"/>
            <a:ext cx="7592538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Righe rosa: confidenza sotto soglia, nessuna assegnazione automatica. Righe gialle: urgenza alta.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una bozza di risposta (R007)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50000"/>
            <a:ext cx="8784000" cy="34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Gentile Ufficio Tributi,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ha ragione: tre solleciti senza risposta non sono accettabili e ce ne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scusiamo. Abbiamo verificato la sua partecipazione al corso Bilancio 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contabilità degli enti locali e l'attestato le sarà inviato a questo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indirizzo entro [data, prima di venerdì].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 non dovesse riceverlo, può scrivere direttamente a [contatto responsabile].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Cordiali saluti,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Segreteria Promo PA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4. Limiti e rischi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Serve un campione etichettato a mano: 100-200 richieste, due persone, poi confronto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Dove le due persone non concordano, il problema è la tassonomia, non il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Esempio dal repository: regole a parole chiave arrivano al 50% tutto corretto. Il modello si misura in aula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L'accuratezza si misura, non si stima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 richieste contengono nomi, enti e a volte situazioni personali (malattia, contenziosi)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 modello serve il testo della richiesta, non lo storico del mittente: minimizzazione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Due documenti prima del pilota: registro dei trattamenti e DPA con il fornitore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Dati personali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4: alfabetizzazione del personale, obbligatoria dal febbraio 2025. Questa lezione ne fa parte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50: trasparenza, in vigore dal 2 agosto 2026, non rinviata. Se un'AI parla con le persone, va detto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Alto rischio (Allegato III): rinviato al dicembre 2027 dall'Omnibus. Lo smistamento amministrativo non rientra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1/2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Legge 132/2025: supervisione umana, tracciabilità, responsabilità che resta alla persona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Linee guida AgID per l'IA nella PA: analisi, rischi, progettazione, monitoraggio. Il pilota le ricalca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GDPR: base giuridica e responsabile del trattamento vanno scritti prima, non dopo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2/2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tassonomia invecchia: nuovi corsi, nuovi ruoli. Qualcuno la possiede e la aggiorna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modello cambia: ogni cambio di versione si rimisura sul campione etichettato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coda umana è il termometro: se supera il 30%, si rivede la tassonomia, non il modello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Manutenzione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5. Dal caso d'uso al pilota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Quattro passi 1/2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72" y="1120000"/>
            <a:ext cx="4057056" cy="13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620000"/>
            <a:ext cx="8784000" cy="19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Audit: contare le richieste per canale, cronometrare la prima risposta, compilare la griglia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Tassonomia e dati: scrivere il file, etichettare 100-200 richieste storiche a mano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Senza questi due passi il terzo è un giocattolo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Quattro passi 2/2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72" y="1120000"/>
            <a:ext cx="4057056" cy="13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620000"/>
            <a:ext cx="8784000" cy="19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Prototipo a basso codice: contenitore unico, connettori, classificatore, coda da verificare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mese di metriche, poi decidere: estendere, correggere o fermare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L'invio resta umano per tutto il pilota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Accuratezza per campo sul campione: sotto l'80% su tipologia e operatore il sistema fa perdere tempo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Tempo alla prima risposta e ore di segreteria a settimana: prima e dopo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Quota di richieste in coda umana: è la misura di quanto vi fidate, e di quanto potete fidarvi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Metriche decise prima di partire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ChatGPT Business: GPT personalizzato o Progetto con la tassonomia come file. Zero codice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Connettori: Make, Zapier, n8n, oppure le automazioni di Microsoft 365 o Google Workspace già in uso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codice del repository serve quando volete misurare e integrare per davvero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Strumenti a basso codice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20 minuti più 10 di restituzione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6. Esercitazione in gruppi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Scegliete un processo della Fondazione: rendicontazione, rassegna stampa e bandi, iscrizioni, o uno vostro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Scomponetelo con la griglia: un passo per riga, input, decisione, output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Per ogni passo: integrazione, AI o umano?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Consegna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griglia, compilata sull'helpdesk</a:t>
            </a:r>
          </a:p>
        </p:txBody>
      </p:sp>
      <p:pic>
        <p:nvPicPr>
          <p:cNvPr id="3" name="Picture 2" descr="grig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42" y="1150000"/>
            <a:ext cx="7108515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Tre passi su sette con AI. Due restano umani. Il resto è integrazione o regola.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 è il passo che, automatizzato, fa risparmiare più tempo?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 è il passo dove un errore del sistema costa di più?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Quale numero misurereste dopo un mese per decidere se continuare?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Restituzione: tre domande per gruppo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Automatizzare prima di misurare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Togliere l'umano troppo presto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Comprare la piattaforma prima di aver definito il processo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Tre errori da evitare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Repository con codice, dati di esempio, griglia e queste slide: link nel messaggio di oggi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Tutto gira anche senza chiave API (modalità 'mock') per provare la forma dell'output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fabrizio.silvestri@uniroma1.it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Materiali e contatti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Domande?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Grazie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STLes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272822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